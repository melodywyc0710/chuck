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ADE80"/>
                </a:solidFill>
              </a:rPr>
              <a:t>VCAA-VCD-PRIN1 · UNIT 1 AOS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The 8 Design Principles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Visual Communication Design · Year 11 VCE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Use ← → arrow keys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ADE80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What are Design Principles?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Design principles are the  </a:t>
            </a:r>
            <a:r>
              <a:rPr sz="1500" b="1">
                <a:solidFill>
                  <a:srgbClr val="4ADE80"/>
                </a:solidFill>
              </a:rPr>
              <a:t>rules and guidelines </a:t>
            </a:r>
            <a:r>
              <a:rPr sz="1500" b="0">
                <a:solidFill>
                  <a:srgbClr val="FFFFFF"/>
                </a:solidFill>
              </a:rPr>
              <a:t> that govern how design elements are arranged and combined.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If elements are the "what", principles are the "how" — how elements are organised to communicate effectively.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1">
                <a:solidFill>
                  <a:srgbClr val="4ADE80"/>
                </a:solidFill>
              </a:rPr>
              <a:t>Elements + Principles together </a:t>
            </a:r>
            <a:r>
              <a:rPr sz="1500" b="0">
                <a:solidFill>
                  <a:srgbClr val="FFFFFF"/>
                </a:solidFill>
              </a:rPr>
              <a:t> = a complete visual analysis vocabulary for the VCE exam.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8 VCAA 2024 Principles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1. Balance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2. Contrast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3. Cropping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4. Scale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5. Proportion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6. Hierarchy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7. Pattern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8. Figure-Ground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⚠️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NOT in VCAA 2024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These principles are often taught but are  </a:t>
            </a:r>
            <a:r>
              <a:rPr sz="1500" b="1">
                <a:solidFill>
                  <a:srgbClr val="4ADE80"/>
                </a:solidFill>
              </a:rPr>
              <a:t>NOT part of the VCAA 2024 study design: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Emphasis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Unity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Harmony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Rhythm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Dominance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Using these in the exam will cost you marks. Stick to the 8 official VCAA 2024 principles.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ADE80"/>
                </a:solidFill>
              </a:rPr>
              <a:t>PRINCIPLE 1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Balance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distribution of visual weight across a design. Balance creates stability or intentional tension and affects how the viewer perceives the composition.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Three Types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Symmetrical </a:t>
            </a:r>
            <a:r>
              <a:rPr sz="1300" b="0">
                <a:solidFill>
                  <a:srgbClr val="FFFFFF"/>
                </a:solidFill>
              </a:rPr>
              <a:t> — mirrored halves. Formal, stable, trustworthy.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Asymmetrical </a:t>
            </a:r>
            <a:r>
              <a:rPr sz="1300" b="0">
                <a:solidFill>
                  <a:srgbClr val="FFFFFF"/>
                </a:solidFill>
              </a:rPr>
              <a:t> — different elements, equal visual weight. Dynamic, modern, interesting.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Radial </a:t>
            </a:r>
            <a:r>
              <a:rPr sz="1300" b="0">
                <a:solidFill>
                  <a:srgbClr val="FFFFFF"/>
                </a:solidFill>
              </a:rPr>
              <a:t> — elements radiate from a central point. Energy, movement, focus.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1">
                <a:solidFill>
                  <a:srgbClr val="4ADE80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symmetrical, asymmetrical, radial, visual weight, equilibrium, formal, informal, off-centre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ADE80"/>
                </a:solidFill>
              </a:rPr>
              <a:t>PRINCIPLE 2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Contrast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juxtaposition of opposing visual qualities to create visual interest, emphasis and separation between elements. Contrast draws the viewer's eye.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Types of Contrast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Tonal contrast </a:t>
            </a:r>
            <a:r>
              <a:rPr sz="1300" b="0">
                <a:solidFill>
                  <a:srgbClr val="FFFFFF"/>
                </a:solidFill>
              </a:rPr>
              <a:t> — light vs dark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Colour contrast </a:t>
            </a:r>
            <a:r>
              <a:rPr sz="1300" b="0">
                <a:solidFill>
                  <a:srgbClr val="FFFFFF"/>
                </a:solidFill>
              </a:rPr>
              <a:t> — complementary colours, warm vs cool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Scale contrast </a:t>
            </a:r>
            <a:r>
              <a:rPr sz="1300" b="0">
                <a:solidFill>
                  <a:srgbClr val="FFFFFF"/>
                </a:solidFill>
              </a:rPr>
              <a:t> — large vs small elements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Texture contrast </a:t>
            </a:r>
            <a:r>
              <a:rPr sz="1300" b="0">
                <a:solidFill>
                  <a:srgbClr val="FFFFFF"/>
                </a:solidFill>
              </a:rPr>
              <a:t> — rough vs smooth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Typographic contrast </a:t>
            </a:r>
            <a:r>
              <a:rPr sz="1300" b="0">
                <a:solidFill>
                  <a:srgbClr val="FFFFFF"/>
                </a:solidFill>
              </a:rPr>
              <a:t> — bold vs light, serif vs sans-serif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1">
                <a:solidFill>
                  <a:srgbClr val="4ADE80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high contrast, low contrast, juxtaposition, opposition, visual tension, emphasis, differentiation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ADE80"/>
                </a:solidFill>
              </a:rPr>
              <a:t>PRINCIPLE 3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Cropping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How much of a subject or image is shown within the frame. Cropping controls what the viewer sees, directs focus and creates compositional interest.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Effect of Cropping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Tight crop </a:t>
            </a:r>
            <a:r>
              <a:rPr sz="1300" b="0">
                <a:solidFill>
                  <a:srgbClr val="FFFFFF"/>
                </a:solidFill>
              </a:rPr>
              <a:t> — creates intimacy, drama, focus on detail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Wide crop </a:t>
            </a:r>
            <a:r>
              <a:rPr sz="1300" b="0">
                <a:solidFill>
                  <a:srgbClr val="FFFFFF"/>
                </a:solidFill>
              </a:rPr>
              <a:t> — shows context and environment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Partial crop </a:t>
            </a:r>
            <a:r>
              <a:rPr sz="1300" b="0">
                <a:solidFill>
                  <a:srgbClr val="FFFFFF"/>
                </a:solidFill>
              </a:rPr>
              <a:t> — implies the subject extends beyond the frame, creates energy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Rule of thirds </a:t>
            </a:r>
            <a:r>
              <a:rPr sz="1300" b="0">
                <a:solidFill>
                  <a:srgbClr val="FFFFFF"/>
                </a:solidFill>
              </a:rPr>
              <a:t> — off-centre cropping creates visual interest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1">
                <a:solidFill>
                  <a:srgbClr val="4ADE80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tight crop, wide shot, close-up, rule of thirds, frame, bleed, partial, compositional, foreground, background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ADE80"/>
                </a:solidFill>
              </a:rPr>
              <a:t>PRINCIPLE 4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Scale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size of an element relative to other elements in the design. Scale creates visual hierarchy, depth, drama and communicates relative importance.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Scale vs Proportion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Scale </a:t>
            </a:r>
            <a:r>
              <a:rPr sz="1300" b="0">
                <a:solidFill>
                  <a:srgbClr val="FFFFFF"/>
                </a:solidFill>
              </a:rPr>
              <a:t> = size of one element compared to another element  </a:t>
            </a:r>
            <a:r>
              <a:rPr sz="1300" b="1">
                <a:solidFill>
                  <a:srgbClr val="4ADE80"/>
                </a:solidFill>
              </a:rPr>
              <a:t>Proportion </a:t>
            </a:r>
            <a:r>
              <a:rPr sz="1300" b="0">
                <a:solidFill>
                  <a:srgbClr val="FFFFFF"/>
                </a:solidFill>
              </a:rPr>
              <a:t> = relationship between parts within the same element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Large scale </a:t>
            </a:r>
            <a:r>
              <a:rPr sz="1300" b="0">
                <a:solidFill>
                  <a:srgbClr val="FFFFFF"/>
                </a:solidFill>
              </a:rPr>
              <a:t> — importance, dominance, closeness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Small scale </a:t>
            </a:r>
            <a:r>
              <a:rPr sz="1300" b="0">
                <a:solidFill>
                  <a:srgbClr val="FFFFFF"/>
                </a:solidFill>
              </a:rPr>
              <a:t> — distance, subordination, delicacy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Exaggerated scale </a:t>
            </a:r>
            <a:r>
              <a:rPr sz="1300" b="0">
                <a:solidFill>
                  <a:srgbClr val="FFFFFF"/>
                </a:solidFill>
              </a:rPr>
              <a:t> — drama, surrealism, visual impact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1">
                <a:solidFill>
                  <a:srgbClr val="4ADE80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large-scale, small-scale, relative size, dominance, exaggerated, monumental, intimate, depth, hierarchy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ADE80"/>
                </a:solidFill>
              </a:rPr>
              <a:t>PRINCIPLE 5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Proportion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relationship between the parts of a design or between a part and the whole. Good proportion creates harmony; distorted proportion creates unease or emphasis.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Key Ideas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Golden ratio (φ = 1:1.618) </a:t>
            </a:r>
            <a:r>
              <a:rPr sz="1300" b="0">
                <a:solidFill>
                  <a:srgbClr val="FFFFFF"/>
                </a:solidFill>
              </a:rPr>
              <a:t> — mathematically harmonious proportion found in nature and classical design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Rule of thirds </a:t>
            </a:r>
            <a:r>
              <a:rPr sz="1300" b="0">
                <a:solidFill>
                  <a:srgbClr val="FFFFFF"/>
                </a:solidFill>
              </a:rPr>
              <a:t> — dividing composition into thirds creates natural proportion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Distorted proportion </a:t>
            </a:r>
            <a:r>
              <a:rPr sz="1300" b="0">
                <a:solidFill>
                  <a:srgbClr val="FFFFFF"/>
                </a:solidFill>
              </a:rPr>
              <a:t> — used deliberately for emphasis, satire or surrealism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Page proportion </a:t>
            </a:r>
            <a:r>
              <a:rPr sz="1300" b="0">
                <a:solidFill>
                  <a:srgbClr val="FFFFFF"/>
                </a:solidFill>
              </a:rPr>
              <a:t> — margins, columns and gutters in layout design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1">
                <a:solidFill>
                  <a:srgbClr val="4ADE80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golden ratio, harmonious, distorted, exaggerated, relative, balanced, classical, natural proportion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ADE80"/>
                </a:solidFill>
              </a:rPr>
              <a:t>PRINCIPLE 6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Hierarchy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visual organisation of elements by order of importance. Hierarchy guides the viewer's eye through the design in a deliberate sequence.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How to Create Hierarchy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Size </a:t>
            </a:r>
            <a:r>
              <a:rPr sz="1300" b="0">
                <a:solidFill>
                  <a:srgbClr val="FFFFFF"/>
                </a:solidFill>
              </a:rPr>
              <a:t> — larger = more important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Weight </a:t>
            </a:r>
            <a:r>
              <a:rPr sz="1300" b="0">
                <a:solidFill>
                  <a:srgbClr val="FFFFFF"/>
                </a:solidFill>
              </a:rPr>
              <a:t> — bold attracts before light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Colour </a:t>
            </a:r>
            <a:r>
              <a:rPr sz="1300" b="0">
                <a:solidFill>
                  <a:srgbClr val="FFFFFF"/>
                </a:solidFill>
              </a:rPr>
              <a:t> — saturated/bright draws eye first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Position </a:t>
            </a:r>
            <a:r>
              <a:rPr sz="1300" b="0">
                <a:solidFill>
                  <a:srgbClr val="FFFFFF"/>
                </a:solidFill>
              </a:rPr>
              <a:t> — top-left is read first in Western convention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White space </a:t>
            </a:r>
            <a:r>
              <a:rPr sz="1300" b="0">
                <a:solidFill>
                  <a:srgbClr val="FFFFFF"/>
                </a:solidFill>
              </a:rPr>
              <a:t> — isolation gives importance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Contrast </a:t>
            </a:r>
            <a:r>
              <a:rPr sz="1300" b="0">
                <a:solidFill>
                  <a:srgbClr val="FFFFFF"/>
                </a:solidFill>
              </a:rPr>
              <a:t> — most contrasting element is seen first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1">
                <a:solidFill>
                  <a:srgbClr val="4ADE80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visual hierarchy, primary, secondary, tertiary, reading order, dominant, subordinate, entry point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Typographic Hierarchy Example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HEADING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Subheading level two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Body text at third level — readable but subordinate to the headings above. Guides the reader through information.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Call to action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ADE80"/>
                </a:solidFill>
              </a:rPr>
              <a:t>PRINCIPLE 7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Pattern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repetition of a visual element (shape, line, colour, texture) to create visual cohesion, rhythm, texture and decoration.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Key Ideas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Regular pattern </a:t>
            </a:r>
            <a:r>
              <a:rPr sz="1300" b="0">
                <a:solidFill>
                  <a:srgbClr val="FFFFFF"/>
                </a:solidFill>
              </a:rPr>
              <a:t> — predictable repetition, creates order and calm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Random pattern </a:t>
            </a:r>
            <a:r>
              <a:rPr sz="1300" b="0">
                <a:solidFill>
                  <a:srgbClr val="FFFFFF"/>
                </a:solidFill>
              </a:rPr>
              <a:t> — irregular repetition, feels organic and natural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Pattern break </a:t>
            </a:r>
            <a:r>
              <a:rPr sz="1300" b="0">
                <a:solidFill>
                  <a:srgbClr val="FFFFFF"/>
                </a:solidFill>
              </a:rPr>
              <a:t> — interrupting a pattern draws immediate attention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Cultural patterns </a:t>
            </a:r>
            <a:r>
              <a:rPr sz="1300" b="0">
                <a:solidFill>
                  <a:srgbClr val="FFFFFF"/>
                </a:solidFill>
              </a:rPr>
              <a:t> — indigenous, geometric, motif-based carry meaning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1">
                <a:solidFill>
                  <a:srgbClr val="4ADE80"/>
                </a:solidFill>
              </a:rPr>
              <a:t>💡 Exam tip: </a:t>
            </a:r>
            <a:r>
              <a:rPr sz="1500" b="0">
                <a:solidFill>
                  <a:srgbClr val="FFFFFF"/>
                </a:solidFill>
              </a:rPr>
              <a:t> Pattern can be created by any element — repeated lines, dots, shapes or colours.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ADE80"/>
                </a:solidFill>
              </a:rPr>
              <a:t>PRINCIPLE 8 OF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Figure-Ground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perceptual relationship between a subject (figure) and its background (ground). The viewer's brain naturally separates figure from ground to find meaning.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Key Concepts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Figure </a:t>
            </a:r>
            <a:r>
              <a:rPr sz="1300" b="0">
                <a:solidFill>
                  <a:srgbClr val="FFFFFF"/>
                </a:solidFill>
              </a:rPr>
              <a:t> — the subject, appears to come forward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Ground </a:t>
            </a:r>
            <a:r>
              <a:rPr sz="1300" b="0">
                <a:solidFill>
                  <a:srgbClr val="FFFFFF"/>
                </a:solidFill>
              </a:rPr>
              <a:t> — the background, appears to recede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Stable </a:t>
            </a:r>
            <a:r>
              <a:rPr sz="1300" b="0">
                <a:solidFill>
                  <a:srgbClr val="FFFFFF"/>
                </a:solidFill>
              </a:rPr>
              <a:t> — clear separation (figure reads easily)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1">
                <a:solidFill>
                  <a:srgbClr val="4ADE80"/>
                </a:solidFill>
              </a:rPr>
              <a:t>Ambiguous/Reversible </a:t>
            </a:r>
            <a:r>
              <a:rPr sz="1300" b="0">
                <a:solidFill>
                  <a:srgbClr val="FFFFFF"/>
                </a:solidFill>
              </a:rPr>
              <a:t> — both figure and ground compete (e.g. Rubin's Vase) — used deliberately for engagement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1">
                <a:solidFill>
                  <a:srgbClr val="4ADE80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figure, ground, positive space, negative space, stable, ambiguous, reversible, foreground, background, depth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ADE80"/>
                </a:solidFill>
              </a:rPr>
              <a:t>EXAM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Analysing Principles in the Exam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Principle → Use → Effect on Audience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1. Name the principle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2. Describe how it's applied in the design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4ADE80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3. Explain the effect on the target audience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❌ Do NOT write: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design has good balance and looks nice."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✓ Write this instead: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"Asymmetrical balance is achieved through a large product image on the left counterweighted by dense typographic content on the right, creating a dynamic yet stable composition that prevents the design from feeling static."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Sentence Starters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"Hierarchical contrast is established through..."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use of asymmetrical balance creates..."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"Scale contrast between [X] and [Y] conveys..."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"The figure-ground relationship is [stable/ambiguous], which..."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"Through tight cropping of the [subject], the designer..."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4ADE80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"Repetition of [X] creates a pattern that..."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ADE80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All 8 Principles — Quick Reference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Balance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Distribution of visual weight. Symmetrical, asymmetrical or radial.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Contrast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Opposition of visual qualities. Draws the eye, creates emphasis.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Cropping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How much is shown in the frame. Controls focus and energy.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Scale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Relative size between elements. Creates hierarchy and depth.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Proportion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Relationship between parts of an element. Harmony or distortion.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Hierarchy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Ordering by importance. Guides reading order through the design.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Pattern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Repetition of elements. Creates texture, rhythm and cohesion.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Figure-Ground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4ADE80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Subject vs background relationship. Stable or ambiguous.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ADE80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 ⚠️ Reminder:  </a:t>
            </a:r>
            <a:r>
              <a:rPr sz="1600" b="1">
                <a:solidFill>
                  <a:srgbClr val="4ADE80"/>
                </a:solidFill>
              </a:rPr>
              <a:t>Emphasis, Unity, Harmony, Rhythm and Dominance are NOT in VCAA 2024. </a:t>
            </a:r>
            <a:r>
              <a:rPr sz="1600" b="0">
                <a:solidFill>
                  <a:srgbClr val="FFFFFF"/>
                </a:solidFill>
              </a:rPr>
              <a:t> Do not use them in exam responses.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