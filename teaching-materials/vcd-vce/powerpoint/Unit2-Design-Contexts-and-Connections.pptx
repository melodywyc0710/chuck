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D98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E7D9DD"/>
                </a:solidFill>
                <a:latin typeface="Cambria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7A2E43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2: Design Contexts and Connections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1EAEC"/>
                </a:solidFill>
                <a:latin typeface="Calibri"/>
              </a:rPr>
              <a:t>VCE Visual Communication Design — Year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A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B813B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5893E"/>
                </a:solidFill>
                <a:latin typeface="Cambria"/>
              </a:rPr>
              <a:t>Trends in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Trends in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What is a Design Trend?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 design trend is a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general direction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in which design styles, materials or ideas are developing at a particular time.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Trends emerge across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all four design fields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communication, environmental, industrial and interaction design — often at the same time, driven by shared cultural forces.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1" i="0">
                <a:solidFill>
                  <a:srgbClr val="672738"/>
                </a:solidFill>
                <a:latin typeface="Calibri"/>
              </a:rPr>
              <a:t>Trend vs Fad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a trend develops over a longer period and reflects deeper shifts; a fad is short-lived and often stylistic only.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Study Trends?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Understand the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 design was created in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Predict future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audience expectations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Position your own folio work within current practice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Analyse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why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 design looks the way it does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Factors that Drive Trends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0" i="0">
                <a:solidFill>
                  <a:srgbClr val="2A1A1F"/>
                </a:solidFill>
                <a:latin typeface="Calibri"/>
              </a:rPr>
              <a:t>Trends don't appear from nowhere — they are shaped by broader forces acting on society. When analysing a trend, always link it back to one or more of these factors.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changing lifestyles, values, demographics (e.g. remote work reshaping office design)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Cultural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shifting attitudes, identity, heritage, globalisation of style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Economic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cost of materials, market demand, recession vs growth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Technological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new tools, materials and manufacturing methods (3D printing, AI, AR/VR)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sustainability pressures, climate concern, resource scarcity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Sustainability &amp; Eco-Design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 shift toward materials, processes and forms that minimise environmental impact — driven largely by </a:t>
            </a: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and </a:t>
            </a:r>
            <a:r>
              <a:rPr sz="135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factors.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recycled paper stock, reduced ink use, digital-first campaigns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passive solar buildings, green roofs, reclaimed materials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biodegradable packaging, modular/repairable products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350" b="0" i="0">
                <a:solidFill>
                  <a:srgbClr val="2A1A1F"/>
                </a:solidFill>
                <a:latin typeface="Calibri"/>
              </a:rPr>
              <a:t> — dark-mode UI to reduce energy use, low-carbon web design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Digital &amp; AI-Driven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The rise of AI tools, generative design and immersive technology — driven by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technological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factors and shifting audience expectations.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AI-generated imagery, motion graphics, personalised content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parametric/generative architectural forms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generative product design optimised by software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AR/VR interfaces, voice UI, adaptive apps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Analysis Tip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When discussing this trend in the exam, name the </a:t>
            </a:r>
            <a:r>
              <a:rPr sz="1400" b="1" i="0">
                <a:solidFill>
                  <a:srgbClr val="B87786"/>
                </a:solidFill>
                <a:latin typeface="Calibri"/>
              </a:rPr>
              <a:t>specific technology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(e.g. generative AI, parametric modelling) rather than saying "modern design" — vague language earns fewer marks.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Nostalgia &amp; Retro Revival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 return to visual styles from past decades — driven by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cultural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social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factors such as comfort-seeking during uncertain times.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Across the 4 Fields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Communication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90s/Y2K typography and colour palettes returning in branding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Environmental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mid-century modern interiors revived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Industrial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retro-styled appliances and vehicles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Interaction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skeuomorphic UI elements referencing physical objects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 Cycles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Trends are often </a:t>
            </a:r>
            <a:r>
              <a:rPr sz="1400" b="1" i="0">
                <a:solidFill>
                  <a:srgbClr val="B87786"/>
                </a:solidFill>
                <a:latin typeface="Calibri"/>
              </a:rPr>
              <a:t>cyclical</a:t>
            </a:r>
            <a:r>
              <a:rPr sz="1400" b="0" i="0">
                <a:solidFill>
                  <a:srgbClr val="2A1A1F"/>
                </a:solidFill>
                <a:latin typeface="Calibri"/>
              </a:rPr>
              <a:t> — styles from 20–30 years ago frequently resurface, reinterpreted with current technology and values.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Analysing a Trend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Trend → Factor(s) → Field Examples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1. Name the trend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2. Identify the driving factor(s)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3. Give evidence from at least two design fields</a:t>
            </a:r>
          </a:p>
          <a:p>
            <a:pPr>
              <a:spcAft>
                <a:spcPts val="900"/>
              </a:spcAft>
              <a:buNone/>
            </a:pPr>
            <a:r>
              <a:rPr sz="1250" b="1" i="1">
                <a:solidFill>
                  <a:srgbClr val="672738"/>
                </a:solidFill>
                <a:latin typeface="Calibri"/>
              </a:rPr>
              <a:t>Exam vocab:</a:t>
            </a:r>
            <a:r>
              <a:rPr sz="1250" b="0" i="1">
                <a:solidFill>
                  <a:srgbClr val="2A1A1F"/>
                </a:solidFill>
                <a:latin typeface="Calibri"/>
              </a:rPr>
              <a:t> emerging, established, resurgence, driven by, reflects, in response to, across fields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A1A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trend is driven primarily by [factor] because..."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"In communication design, this trend manifests as..."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"Compared to [past trend], this reflects a shift toward..."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trend is likely to continue/fade because..."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TRENDS IN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Trends in Design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Social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Lifestyle &amp; demographic shifts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Cultural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Values, identity, heritage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Economic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Cost, demand, market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Technological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New tools, materials, methods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30167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Environmental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Sustainability, resource pressure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431535"/>
            <a:ext cx="10607040" cy="1106425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Reminder: always link a trend to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at least two design fields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and name the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driving factor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in exam responses.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E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612435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672738"/>
                </a:solidFill>
                <a:latin typeface="Cambria"/>
              </a:rPr>
              <a:t>Design &amp; Industry Connections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Design and Industry Connections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 Fields Overlap &amp; 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Real design projects rarely sit inside a single field. A single product often requires </a:t>
            </a:r>
            <a:r>
              <a:rPr sz="1400" b="1" i="0">
                <a:solidFill>
                  <a:srgbClr val="672738"/>
                </a:solidFill>
                <a:latin typeface="Calibri"/>
              </a:rPr>
              <a:t>multiple design fields working together.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Example: launching a café involves communication design (branding), environmental design (fit-out), industrial design (furniture) and interaction design (ordering app) — often coordinated by different specialists.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This Matters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Designers must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collaborate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across disciplines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Understand how their design fits a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bigger production system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Work within industry </a:t>
            </a:r>
            <a:r>
              <a:rPr sz="1250" b="1" i="0">
                <a:solidFill>
                  <a:srgbClr val="B87786"/>
                </a:solidFill>
                <a:latin typeface="Calibri"/>
              </a:rPr>
              <a:t>standards, ethics and IP law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Collaboration in Industry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Designers rarely work in isolation. They collaborate with other professionals and tradespeople to bring a design from concept to reality.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Who Designers Collaborate With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Clients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provide the brief, approve directions, fund the project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Manufacturers / builders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turn designs into physical reality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Other designers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e.g. a graphic designer working with a UX designer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Marketing / printers / developers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deliver the design to its final audience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Collaboration Matters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No single designer has expertise in every stage — from materials science to code to construction. Good collaboration keeps the design's original intent intact as it moves through production.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Factors Shaping Industry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Sustainability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Materials, energy use, waste and end-of-life disposal are now standard client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Technology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New software, materials and manufacturing (3D printing, AI tools) change what's possible and expected.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Ethics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Fair labour, honest advertising, accessibility and inclusive design are professional expectations.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© Intellectual Property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Copyright, trademarks and licensing protect original design work from unauthorised copying.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These factors don't just affect big companies — they shape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every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design decision, from the materials in your VCD folio model to the fonts you're licensed to use.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Intellectual Property (IP)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Intellectual property law protects original creative and design work from being copied or used without permission.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Types Relevant to Designers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Copyright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automatically protects original creative works (images, layouts, text)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Trademark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brand names, logos and slogans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Design registration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the visual appearance of a manufactured product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72738"/>
                </a:solidFill>
                <a:latin typeface="Calibri"/>
              </a:rPr>
              <a:t>Patent</a:t>
            </a:r>
            <a:r>
              <a:rPr sz="1250" b="0" i="0">
                <a:solidFill>
                  <a:srgbClr val="2A1A1F"/>
                </a:solidFill>
                <a:latin typeface="Calibri"/>
              </a:rPr>
              <a:t> — protects a new invention or functional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Why It Matters to You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A1A1F"/>
                </a:solidFill>
                <a:latin typeface="Calibri"/>
              </a:rPr>
              <a:t>In your own folio, always use your own photography/imagery or correctly licensed stock and fonts — using copyrighted material without permission is a real industry issue, not just a school rule.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Answering Industry Connection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Connection → Roles → Factor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1. Identify which design fields/roles are connected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2. Explain how they collaborate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3. Link to a factor (sustainability, technology, ethics, IP)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F4D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A1A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project connects [field A] and [field B] because..."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"The designer collaborated with [role] to..."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"This decision reflects growing industry concern for [factor]..."</a:t>
            </a:r>
          </a:p>
          <a:p>
            <a:pPr indent="-203200" marL="203200">
              <a:spcAft>
                <a:spcPts val="900"/>
              </a:spcAft>
              <a:buClr>
                <a:srgbClr val="D98C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A1A1F"/>
                </a:solidFill>
                <a:latin typeface="Calibri"/>
              </a:rPr>
              <a:t>"Without protection of [IP type], this design could be..."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DESIGN &amp; INDUSTRY CONNECTIONS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 &amp; Industry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Overlap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Design fields rarely work alone on real projects.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B813B"/>
                </a:solidFill>
                <a:latin typeface="Calibri"/>
              </a:rPr>
              <a:t>Collaboration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Clients, manufacturers, other designers, developers.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707E"/>
                </a:solidFill>
                <a:latin typeface="Calibri"/>
              </a:rPr>
              <a:t>Industry Factors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Sustainability, technology, ethics, 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D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12435"/>
                </a:solidFill>
                <a:latin typeface="Calibri"/>
              </a:rPr>
              <a:t>IP Types</a:t>
            </a:r>
          </a:p>
          <a:p>
            <a:r>
              <a:rPr sz="1050">
                <a:solidFill>
                  <a:srgbClr val="2A1A1F"/>
                </a:solidFill>
                <a:latin typeface="Calibri"/>
              </a:rPr>
              <a:t>Copyright, trademark, design registration, patent.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8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6A24A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A1A1F"/>
                </a:solidFill>
                <a:latin typeface="Calibri"/>
              </a:rPr>
              <a:t> Reminder: always name the </a:t>
            </a:r>
            <a:r>
              <a:rPr sz="1200" b="1" i="0">
                <a:solidFill>
                  <a:srgbClr val="B5893E"/>
                </a:solidFill>
                <a:latin typeface="Calibri"/>
              </a:rPr>
              <a:t>specific roles or IP type</a:t>
            </a:r>
            <a:r>
              <a:rPr sz="1200" b="0" i="0">
                <a:solidFill>
                  <a:srgbClr val="2A1A1F"/>
                </a:solidFill>
                <a:latin typeface="Calibri"/>
              </a:rPr>
              <a:t> involved — general statements about "teamwork" earn few marks. 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A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C8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B813B"/>
                </a:solidFill>
                <a:latin typeface="Calibri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5893E"/>
                </a:solidFill>
                <a:latin typeface="Cambria"/>
              </a:rPr>
              <a:t>Extended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Beyond the study design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More Design Movements and Trends in History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Movements not covered in Unit 1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Arts and Crafts (late 1800s) — reaction against industrialisation, craftsmanship, William Morris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Art Nouveau (1890s-1910s) — organic, flowing lines inspired by nature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Constructivism (1920s Russia) — geometric abstraction in service of social/political ideas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De Stijl (1917 onward) — primary colours, grids, Piet Mondrian and Theo van Doesburg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Memphis Group (1980s) — bold colour, clashing patterns, postmodern furniture and product design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Minimalism — reduction to essential form, 'less is more'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Brutalism — raw, unornamented forms in both architecture and web/graphic design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Contemporary considerations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Y2K aesthetic revival, AI-generated imagery and the ethical questions it raises around authorship and originality, and the growing influence of motion/interactive design as screens become the primary medium for communication design.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Sustainable and Circular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Key concepts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Cradle-to-cradle design — products designed so materials can be fully recycled or biodegraded at end of life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Biomimicry — solving design problems by learning from natural systems and forms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Design for disassembly — products engineered to be easily taken apart for repair or recycling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Branding and Identity Theory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Core concepts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Brand architecture — how a company organises and relates multiple sub-brands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Tone of voice — the consistent personality expressed through language and visuals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Brand guidelines — documented rules for logo use, colour, type and imagery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Worth researching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Case studies of how major brands have evolved their logos over decades (simplification for digital screens is a common contemporary driver) make strong exam and folio examples.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UX/UI and Service Design Basics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>
              <a:spcAft>
                <a:spcPts val="900"/>
              </a:spcAft>
              <a:buNone/>
            </a:pPr>
            <a:r>
              <a:rPr sz="1350" b="1" i="1">
                <a:solidFill>
                  <a:srgbClr val="672738"/>
                </a:solidFill>
                <a:latin typeface="Calibri"/>
              </a:rPr>
              <a:t>Key terms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User persona — a fictional profile representing a target user segment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User journey map — a visualisation of the steps a user takes to complete a task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Wireframe — a low-fidelity structural sketch of an interface, before visual design is applied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Service design — designing the end-to-end experience of a service, not just a single artefact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 Ethics and Responsibility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Issues to be aware of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Dark patterns — interface designs that deliberately trick users into unintended actions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Greenwashing — packaging/branding that overstates environmental credentials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Cultural appropriation vs appreciation — using cultural motifs respectfully and with context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Inclusive design — designing for the widest possible range of users, including disability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Designer Case Studies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Figures worth knowing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Paula Scher — bold typographic identity work (Citibank, The Public Theater)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Massimo Vignelli — Swiss-influenced systems design (New York City subway map)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Dieter Rams — 10 principles of good design, Braun product design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Saul Bass — pioneering film title sequences and corporate logos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E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612435"/>
                </a:solidFill>
                <a:latin typeface="Calibri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672738"/>
                </a:solidFill>
                <a:latin typeface="Cambria"/>
              </a:rPr>
              <a:t>SAC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Draft — confirm against your school’s SAC schedule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Outcome 1 (AOS 1) — Trends in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Select a current design trend. Analyse how it manifests across at least two design fields, identifying the factor(s) driving it. Respond as a structured written report or exam-style short-answer responses.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Completed in class over 1-2 periods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Notes permitted; no internet access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Individual, supervised work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Assessment Criteria (/30)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Identification of trend and driving factor(s) — 5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Analysis across 2+ design fields with specific evidence — 15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Use of accurate vocabulary — 5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Written expression — 5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5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A2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A1A1F"/>
                </a:solidFill>
                <a:latin typeface="Cambria"/>
              </a:rPr>
              <a:t>Outcome 2 (AOS 2) — Design and Industry Connections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F1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Respond to a brief requiring industry awareness: produce a visual communication in one design field, while documenting at least one industry connection (a collaboration role, an intellectual property consideration, or an industry factor) relevant to the project.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Completed over approximately 3-4 weeks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Folio submission combining process work and final piece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Individual work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672738"/>
                </a:solidFill>
                <a:latin typeface="Calibri"/>
              </a:rPr>
              <a:t>Assessment Criteria (/50)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Response to the brief — 15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Evidence of the design process — 15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Discussion of industry connection(s) — 10 marks</a:t>
            </a:r>
          </a:p>
          <a:p>
            <a:pPr indent="-203200" marL="203200">
              <a:spcAft>
                <a:spcPts val="900"/>
              </a:spcAft>
              <a:buClr>
                <a:srgbClr val="7A2E4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A1A1F"/>
                </a:solidFill>
                <a:latin typeface="Calibri"/>
              </a:rPr>
              <a:t>Quality of final presentation — 10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DC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E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6B28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D6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7A2E43"/>
                </a:solidFill>
                <a:latin typeface="Cambria"/>
              </a:rPr>
              <a:t>End of Unit 2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