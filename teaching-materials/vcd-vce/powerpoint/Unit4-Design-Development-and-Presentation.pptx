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21420000">
            <a:off x="-1188720" y="-1005840"/>
            <a:ext cx="7863840" cy="6766560"/>
          </a:xfrm>
          <a:prstGeom prst="roundRect">
            <a:avLst>
              <a:gd name="adj" fmla="val 32000"/>
            </a:avLst>
          </a:prstGeom>
          <a:solidFill>
            <a:srgbClr val="2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32720" y="-640080"/>
            <a:ext cx="2194560" cy="2194560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65760" y="5623560"/>
            <a:ext cx="1371600" cy="1371600"/>
          </a:xfrm>
          <a:prstGeom prst="ellipse">
            <a:avLst/>
          </a:prstGeom>
          <a:solidFill>
            <a:srgbClr val="C97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3566160"/>
            <a:ext cx="3291840" cy="3108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2000" b="1" i="0">
                <a:solidFill>
                  <a:srgbClr val="D8D8DE"/>
                </a:solidFill>
                <a:latin typeface="Cambria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640080"/>
            <a:ext cx="41148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50" b="1">
                <a:solidFill>
                  <a:srgbClr val="2B2A4A"/>
                </a:solidFill>
                <a:latin typeface="Calibri"/>
              </a:rPr>
              <a:t>VCE VISUAL COMMUNICATION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17320"/>
            <a:ext cx="56692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Unit 4: Design, Development and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94760"/>
            <a:ext cx="5486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E9E9EC"/>
                </a:solidFill>
                <a:latin typeface="Calibri"/>
              </a:rPr>
              <a:t>VCE Visual Communication Design — Year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A4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92640" y="-914400"/>
            <a:ext cx="2926080" cy="2926080"/>
          </a:xfrm>
          <a:prstGeom prst="ellipse">
            <a:avLst/>
          </a:prstGeom>
          <a:solidFill>
            <a:srgbClr val="BE9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914400" y="4937760"/>
            <a:ext cx="2377440" cy="2377440"/>
          </a:xfrm>
          <a:prstGeom prst="ellipse">
            <a:avLst/>
          </a:prstGeom>
          <a:solidFill>
            <a:srgbClr val="BE9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051560"/>
            <a:ext cx="11887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400" b="1">
                <a:solidFill>
                  <a:srgbClr val="AD8334"/>
                </a:solidFill>
                <a:latin typeface="Calibri"/>
              </a:rPr>
              <a:t>01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10515600" cy="2834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697480"/>
            <a:ext cx="9601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B88B37"/>
                </a:solidFill>
                <a:latin typeface="Cambria"/>
              </a:rPr>
              <a:t>Development &amp; Resolution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65760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6B6B6B"/>
                </a:solidFill>
                <a:latin typeface="Calibri"/>
              </a:rPr>
              <a:t>AOS 1 - Development and Resolution of Designs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DEVELOPMENT &amp; RESOLUTION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1F33"/>
                </a:solidFill>
                <a:latin typeface="Cambria"/>
              </a:rPr>
              <a:t>Developing Your Two Concepts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5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1F33"/>
                </a:solidFill>
                <a:latin typeface="Calibri"/>
              </a:rPr>
              <a:t>In Unit 4, you take the </a:t>
            </a:r>
            <a:r>
              <a:rPr sz="1400" b="1" i="0">
                <a:solidFill>
                  <a:srgbClr val="24233E"/>
                </a:solidFill>
                <a:latin typeface="Calibri"/>
              </a:rPr>
              <a:t>two distinct concepts</a:t>
            </a:r>
            <a:r>
              <a:rPr sz="1400" b="0" i="0">
                <a:solidFill>
                  <a:srgbClr val="201F33"/>
                </a:solidFill>
                <a:latin typeface="Calibri"/>
              </a:rPr>
              <a:t> generated in Unit 3 and develop each one further through testing, refinement and feedback.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1F33"/>
                </a:solidFill>
                <a:latin typeface="Calibri"/>
              </a:rPr>
              <a:t>One concept is ultimately selected and resolved into a final presentation — but both must show visible development.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F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1F33"/>
                </a:solidFill>
                <a:latin typeface="Calibri"/>
              </a:rPr>
              <a:t>Development Shows</a:t>
            </a:r>
          </a:p>
          <a:p>
            <a:pPr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Testing of options (type, colour, material)</a:t>
            </a:r>
          </a:p>
          <a:p>
            <a:pPr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Annotated decision-making</a:t>
            </a:r>
          </a:p>
          <a:p>
            <a:pPr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Response to feedback</a:t>
            </a:r>
          </a:p>
          <a:p>
            <a:pPr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Progress toward a resolved final design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DEVELOPMENT &amp; RESOLUTION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1F33"/>
                </a:solidFill>
                <a:latin typeface="Cambria"/>
              </a:rPr>
              <a:t>Methods of Development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DFD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22213B"/>
                </a:solidFill>
                <a:latin typeface="Calibri"/>
              </a:rPr>
              <a:t>Type Trials</a:t>
            </a:r>
          </a:p>
          <a:p>
            <a:r>
              <a:rPr sz="1050">
                <a:solidFill>
                  <a:srgbClr val="201F33"/>
                </a:solidFill>
                <a:latin typeface="Calibri"/>
              </a:rPr>
              <a:t>Testing typefaces, weights and sizes for the strongest hierarchy and tone.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7852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F9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AD8334"/>
                </a:solidFill>
                <a:latin typeface="Calibri"/>
              </a:rPr>
              <a:t>Colour Trials</a:t>
            </a:r>
          </a:p>
          <a:p>
            <a:r>
              <a:rPr sz="1050">
                <a:solidFill>
                  <a:srgbClr val="201F33"/>
                </a:solidFill>
                <a:latin typeface="Calibri"/>
              </a:rPr>
              <a:t>Testing palettes for mood, contrast and audience appropriateness.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89904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F6E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A0627E"/>
                </a:solidFill>
                <a:latin typeface="Calibri"/>
              </a:rPr>
              <a:t>Material/Scale Trials</a:t>
            </a:r>
          </a:p>
          <a:p>
            <a:r>
              <a:rPr sz="1050">
                <a:solidFill>
                  <a:srgbClr val="201F33"/>
                </a:solidFill>
                <a:latin typeface="Calibri"/>
              </a:rPr>
              <a:t>Testing physical materials, surface finishes or scale relationships.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91956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DFD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22213B"/>
                </a:solidFill>
                <a:latin typeface="Calibri"/>
              </a:rPr>
              <a:t>Layout Trials</a:t>
            </a:r>
          </a:p>
          <a:p>
            <a:r>
              <a:rPr sz="1050">
                <a:solidFill>
                  <a:srgbClr val="201F33"/>
                </a:solidFill>
                <a:latin typeface="Calibri"/>
              </a:rPr>
              <a:t>Testing composition, grid structure and hierarchy arrangements.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675887"/>
            <a:ext cx="10607040" cy="2862073"/>
          </a:xfrm>
          <a:prstGeom prst="roundRect">
            <a:avLst>
              <a:gd name="adj" fmla="val 10000"/>
            </a:avLst>
          </a:prstGeom>
          <a:solidFill>
            <a:srgbClr val="F9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3200" rIns="203200" tIns="101600" bIns="101600" wrap="square"/>
          <a:lstStyle/>
          <a:p>
            <a:pPr algn="ctr" indent="-203200" marL="203200">
              <a:spcAft>
                <a:spcPts val="900"/>
              </a:spcAft>
              <a:buClr>
                <a:srgbClr val="D9A441"/>
              </a:buClr>
              <a:buSzPct val="90000"/>
              <a:buFont typeface="Arial"/>
              <a:buChar char="●"/>
            </a:pPr>
            <a:r>
              <a:rPr sz="1200" b="0" i="0">
                <a:solidFill>
                  <a:srgbClr val="201F33"/>
                </a:solidFill>
                <a:latin typeface="Calibri"/>
              </a:rPr>
              <a:t> Every trial should be </a:t>
            </a:r>
            <a:r>
              <a:rPr sz="1200" b="1" i="0">
                <a:solidFill>
                  <a:srgbClr val="B88B37"/>
                </a:solidFill>
                <a:latin typeface="Calibri"/>
              </a:rPr>
              <a:t>annotated</a:t>
            </a:r>
            <a:r>
              <a:rPr sz="1200" b="0" i="0">
                <a:solidFill>
                  <a:srgbClr val="201F33"/>
                </a:solidFill>
                <a:latin typeface="Calibri"/>
              </a:rPr>
              <a:t> — explain why an option was chosen or rejected, referencing the brief.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DEVELOPMENT &amp; RESOLUTION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1F33"/>
                </a:solidFill>
                <a:latin typeface="Cambria"/>
              </a:rPr>
              <a:t>Feedback &amp; Testing Against the Brief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5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1F33"/>
                </a:solidFill>
                <a:latin typeface="Calibri"/>
              </a:rPr>
              <a:t>Development is not just personal preference — it is an iterative process of testing ideas against the brief and gathering feedback.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24233E"/>
                </a:solidFill>
                <a:latin typeface="Calibri"/>
              </a:rPr>
              <a:t>Peer feedback</a:t>
            </a:r>
            <a:r>
              <a:rPr sz="1250" b="0" i="0">
                <a:solidFill>
                  <a:srgbClr val="201F33"/>
                </a:solidFill>
                <a:latin typeface="Calibri"/>
              </a:rPr>
              <a:t> — classmates critique clarity and effectiveness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24233E"/>
                </a:solidFill>
                <a:latin typeface="Calibri"/>
              </a:rPr>
              <a:t>Teacher feedback</a:t>
            </a:r>
            <a:r>
              <a:rPr sz="1250" b="0" i="0">
                <a:solidFill>
                  <a:srgbClr val="201F33"/>
                </a:solidFill>
                <a:latin typeface="Calibri"/>
              </a:rPr>
              <a:t> — checks against assessment criteria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24233E"/>
                </a:solidFill>
                <a:latin typeface="Calibri"/>
              </a:rPr>
              <a:t>Self-testing</a:t>
            </a:r>
            <a:r>
              <a:rPr sz="1250" b="0" i="0">
                <a:solidFill>
                  <a:srgbClr val="201F33"/>
                </a:solidFill>
                <a:latin typeface="Calibri"/>
              </a:rPr>
              <a:t> — does it meet the audience, purpose and constraints?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F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1F33"/>
                </a:solidFill>
                <a:latin typeface="Calibri"/>
              </a:rPr>
              <a:t>Exam Tip</a:t>
            </a:r>
          </a:p>
          <a:p>
            <a:pPr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1F33"/>
                </a:solidFill>
                <a:latin typeface="Calibri"/>
              </a:rPr>
              <a:t>When describing development, always show the </a:t>
            </a:r>
            <a:r>
              <a:rPr sz="1400" b="1" i="0">
                <a:solidFill>
                  <a:srgbClr val="AA6886"/>
                </a:solidFill>
                <a:latin typeface="Calibri"/>
              </a:rPr>
              <a:t>before → feedback/testing → after</a:t>
            </a:r>
            <a:r>
              <a:rPr sz="1400" b="0" i="0">
                <a:solidFill>
                  <a:srgbClr val="201F33"/>
                </a:solidFill>
                <a:latin typeface="Calibri"/>
              </a:rPr>
              <a:t> sequence, not just the final result.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DEVELOPMENT &amp; RESOLUTION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1F33"/>
                </a:solidFill>
                <a:latin typeface="Cambria"/>
              </a:rPr>
              <a:t>Selecting a Direction to Resolve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5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1F33"/>
                </a:solidFill>
                <a:latin typeface="Calibri"/>
              </a:rPr>
              <a:t>After development, one concept is chosen to be resolved into the final design. This decision must be justified against the brief.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Which concept best meets the </a:t>
            </a:r>
            <a:r>
              <a:rPr sz="1250" b="1" i="0">
                <a:solidFill>
                  <a:srgbClr val="24233E"/>
                </a:solidFill>
                <a:latin typeface="Calibri"/>
              </a:rPr>
              <a:t>audience &amp; purpose</a:t>
            </a:r>
            <a:r>
              <a:rPr sz="1250" b="0" i="0">
                <a:solidFill>
                  <a:srgbClr val="201F33"/>
                </a:solidFill>
                <a:latin typeface="Calibri"/>
              </a:rPr>
              <a:t>?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Which received the strongest </a:t>
            </a:r>
            <a:r>
              <a:rPr sz="1250" b="1" i="0">
                <a:solidFill>
                  <a:srgbClr val="24233E"/>
                </a:solidFill>
                <a:latin typeface="Calibri"/>
              </a:rPr>
              <a:t>feedback</a:t>
            </a:r>
            <a:r>
              <a:rPr sz="1250" b="0" i="0">
                <a:solidFill>
                  <a:srgbClr val="201F33"/>
                </a:solidFill>
                <a:latin typeface="Calibri"/>
              </a:rPr>
              <a:t>?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Which is most </a:t>
            </a:r>
            <a:r>
              <a:rPr sz="1250" b="1" i="0">
                <a:solidFill>
                  <a:srgbClr val="24233E"/>
                </a:solidFill>
                <a:latin typeface="Calibri"/>
              </a:rPr>
              <a:t>achievable</a:t>
            </a:r>
            <a:r>
              <a:rPr sz="1250" b="0" i="0">
                <a:solidFill>
                  <a:srgbClr val="201F33"/>
                </a:solidFill>
                <a:latin typeface="Calibri"/>
              </a:rPr>
              <a:t> within constraints (time, materials)?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F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1F33"/>
                </a:solidFill>
                <a:latin typeface="Calibri"/>
              </a:rPr>
              <a:t>The rejected concept is not wasted — it still demonstrates </a:t>
            </a:r>
            <a:r>
              <a:rPr sz="1400" b="1" i="0">
                <a:solidFill>
                  <a:srgbClr val="AA6886"/>
                </a:solidFill>
                <a:latin typeface="Calibri"/>
              </a:rPr>
              <a:t>breadth of development</a:t>
            </a:r>
            <a:r>
              <a:rPr sz="1400" b="0" i="0">
                <a:solidFill>
                  <a:srgbClr val="201F33"/>
                </a:solidFill>
                <a:latin typeface="Calibri"/>
              </a:rPr>
              <a:t> and is assessed as part of your folio.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DEVELOPMENT &amp; RESOLUTION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1F33"/>
                </a:solidFill>
                <a:latin typeface="Cambria"/>
              </a:rPr>
              <a:t>Answering Development Questions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5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Method → Change → Justification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1. Name the development method used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2. Describe what changed between versions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3. Justify the change against the brief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F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>
              <a:spcAft>
                <a:spcPts val="900"/>
              </a:spcAft>
              <a:buNone/>
            </a:pPr>
            <a:r>
              <a:rPr sz="1250" b="0" i="1">
                <a:solidFill>
                  <a:srgbClr val="201F33"/>
                </a:solidFill>
                <a:latin typeface="Calibri"/>
              </a:rPr>
              <a:t>Sentence Starters</a:t>
            </a:r>
          </a:p>
          <a:p>
            <a:pPr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"A colour trial was conducted to test..."</a:t>
            </a:r>
          </a:p>
          <a:p>
            <a:pPr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"Following feedback, the [feature] was changed to..."</a:t>
            </a:r>
          </a:p>
          <a:p>
            <a:pPr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"This concept was selected for resolution because..."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DEVELOPMENT &amp; RESOLUTION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1F33"/>
                </a:solidFill>
                <a:latin typeface="Cambria"/>
              </a:rPr>
              <a:t>Development &amp; Resolution — Quick Reference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DFD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22213B"/>
                </a:solidFill>
                <a:latin typeface="Calibri"/>
              </a:rPr>
              <a:t>Type Trials</a:t>
            </a:r>
          </a:p>
          <a:p>
            <a:r>
              <a:rPr sz="1050">
                <a:solidFill>
                  <a:srgbClr val="201F33"/>
                </a:solidFill>
                <a:latin typeface="Calibri"/>
              </a:rPr>
              <a:t>Test typeface, weight, hierarchy.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7852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F9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AD8334"/>
                </a:solidFill>
                <a:latin typeface="Calibri"/>
              </a:rPr>
              <a:t>Colour Trials</a:t>
            </a:r>
          </a:p>
          <a:p>
            <a:r>
              <a:rPr sz="1050">
                <a:solidFill>
                  <a:srgbClr val="201F33"/>
                </a:solidFill>
                <a:latin typeface="Calibri"/>
              </a:rPr>
              <a:t>Test palette for mood &amp; audience.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89904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F6E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A0627E"/>
                </a:solidFill>
                <a:latin typeface="Calibri"/>
              </a:rPr>
              <a:t>Feedback</a:t>
            </a:r>
          </a:p>
          <a:p>
            <a:r>
              <a:rPr sz="1050">
                <a:solidFill>
                  <a:srgbClr val="201F33"/>
                </a:solidFill>
                <a:latin typeface="Calibri"/>
              </a:rPr>
              <a:t>Peer, teacher, self-testing against brief.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91956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DFD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22213B"/>
                </a:solidFill>
                <a:latin typeface="Calibri"/>
              </a:rPr>
              <a:t>Selection</a:t>
            </a:r>
          </a:p>
          <a:p>
            <a:r>
              <a:rPr sz="1050">
                <a:solidFill>
                  <a:srgbClr val="201F33"/>
                </a:solidFill>
                <a:latin typeface="Calibri"/>
              </a:rPr>
              <a:t>Justify the chosen concept against the brief.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675887"/>
            <a:ext cx="10607040" cy="2862073"/>
          </a:xfrm>
          <a:prstGeom prst="roundRect">
            <a:avLst>
              <a:gd name="adj" fmla="val 10000"/>
            </a:avLst>
          </a:prstGeom>
          <a:solidFill>
            <a:srgbClr val="F9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3200" rIns="203200" tIns="101600" bIns="101600" wrap="square"/>
          <a:lstStyle/>
          <a:p>
            <a:pPr algn="ctr" indent="-203200" marL="203200">
              <a:spcAft>
                <a:spcPts val="900"/>
              </a:spcAft>
              <a:buClr>
                <a:srgbClr val="D9A441"/>
              </a:buClr>
              <a:buSzPct val="90000"/>
              <a:buFont typeface="Arial"/>
              <a:buChar char="●"/>
            </a:pPr>
            <a:r>
              <a:rPr sz="1200" b="0" i="0">
                <a:solidFill>
                  <a:srgbClr val="201F33"/>
                </a:solidFill>
                <a:latin typeface="Calibri"/>
              </a:rPr>
              <a:t> Reminder: the resolved concept moves into </a:t>
            </a:r>
            <a:r>
              <a:rPr sz="1200" b="1" i="0">
                <a:solidFill>
                  <a:srgbClr val="B88B37"/>
                </a:solidFill>
                <a:latin typeface="Calibri"/>
              </a:rPr>
              <a:t>Unit 4 AOS 2</a:t>
            </a:r>
            <a:r>
              <a:rPr sz="1200" b="0" i="0">
                <a:solidFill>
                  <a:srgbClr val="201F33"/>
                </a:solidFill>
                <a:latin typeface="Calibri"/>
              </a:rPr>
              <a:t> for final presentation and evaluation. 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92640" y="-914400"/>
            <a:ext cx="2926080" cy="2926080"/>
          </a:xfrm>
          <a:prstGeom prst="ellipse">
            <a:avLst/>
          </a:prstGeom>
          <a:solidFill>
            <a:srgbClr val="252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914400" y="4937760"/>
            <a:ext cx="2377440" cy="2377440"/>
          </a:xfrm>
          <a:prstGeom prst="ellipse">
            <a:avLst/>
          </a:prstGeom>
          <a:solidFill>
            <a:srgbClr val="252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051560"/>
            <a:ext cx="11887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400" b="1">
                <a:solidFill>
                  <a:srgbClr val="22213B"/>
                </a:solidFill>
                <a:latin typeface="Calibri"/>
              </a:rPr>
              <a:t>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10515600" cy="2834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697480"/>
            <a:ext cx="9601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24233E"/>
                </a:solidFill>
                <a:latin typeface="Cambria"/>
              </a:rPr>
              <a:t>Evaluation &amp; Presentation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65760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6B6B6B"/>
                </a:solidFill>
                <a:latin typeface="Calibri"/>
              </a:rPr>
              <a:t>AOS 2 - Evaluation, Refinement and Presentation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EVALUATION &amp;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1F33"/>
                </a:solidFill>
                <a:latin typeface="Cambria"/>
              </a:rPr>
              <a:t>From Resolution to Final Presentation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5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1F33"/>
                </a:solidFill>
                <a:latin typeface="Calibri"/>
              </a:rPr>
              <a:t>Once a concept is resolved, it undergoes </a:t>
            </a:r>
            <a:r>
              <a:rPr sz="1400" b="1" i="0">
                <a:solidFill>
                  <a:srgbClr val="24233E"/>
                </a:solidFill>
                <a:latin typeface="Calibri"/>
              </a:rPr>
              <a:t>final refinement</a:t>
            </a:r>
            <a:r>
              <a:rPr sz="1400" b="0" i="0">
                <a:solidFill>
                  <a:srgbClr val="201F33"/>
                </a:solidFill>
                <a:latin typeface="Calibri"/>
              </a:rPr>
              <a:t> — small, precise adjustments — before being presented to a professional standard.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1F33"/>
                </a:solidFill>
                <a:latin typeface="Calibri"/>
              </a:rPr>
              <a:t>The finished design is then </a:t>
            </a:r>
            <a:r>
              <a:rPr sz="1400" b="1" i="0">
                <a:solidFill>
                  <a:srgbClr val="24233E"/>
                </a:solidFill>
                <a:latin typeface="Calibri"/>
              </a:rPr>
              <a:t>evaluated</a:t>
            </a:r>
            <a:r>
              <a:rPr sz="1400" b="0" i="0">
                <a:solidFill>
                  <a:srgbClr val="201F33"/>
                </a:solidFill>
                <a:latin typeface="Calibri"/>
              </a:rPr>
              <a:t> against the original brief to determine its success.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F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1F33"/>
                </a:solidFill>
                <a:latin typeface="Calibri"/>
              </a:rPr>
              <a:t>This AOS Covers</a:t>
            </a:r>
          </a:p>
          <a:p>
            <a:pPr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Final refinement techniques</a:t>
            </a:r>
          </a:p>
          <a:p>
            <a:pPr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Presentation drawing standards</a:t>
            </a:r>
          </a:p>
          <a:p>
            <a:pPr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Folio layout and clarity</a:t>
            </a:r>
          </a:p>
          <a:p>
            <a:pPr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Evaluating against the brief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EVALUATION &amp;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1F33"/>
                </a:solidFill>
                <a:latin typeface="Cambria"/>
              </a:rPr>
              <a:t>Presentation Standards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5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1F33"/>
                </a:solidFill>
                <a:latin typeface="Calibri"/>
              </a:rPr>
              <a:t>The final design must be presented using an appropriate method to a professional standard, clearly communicating the resolved concept.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24233E"/>
                </a:solidFill>
                <a:latin typeface="Calibri"/>
              </a:rPr>
              <a:t>Accuracy</a:t>
            </a:r>
            <a:r>
              <a:rPr sz="1250" b="0" i="0">
                <a:solidFill>
                  <a:srgbClr val="201F33"/>
                </a:solidFill>
                <a:latin typeface="Calibri"/>
              </a:rPr>
              <a:t> — correct use of orthogonal, isometric or perspective methods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24233E"/>
                </a:solidFill>
                <a:latin typeface="Calibri"/>
              </a:rPr>
              <a:t>Rendering</a:t>
            </a:r>
            <a:r>
              <a:rPr sz="1250" b="0" i="0">
                <a:solidFill>
                  <a:srgbClr val="201F33"/>
                </a:solidFill>
                <a:latin typeface="Calibri"/>
              </a:rPr>
              <a:t> — colour, tone and material communicated clearly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24233E"/>
                </a:solidFill>
                <a:latin typeface="Calibri"/>
              </a:rPr>
              <a:t>Context</a:t>
            </a:r>
            <a:r>
              <a:rPr sz="1250" b="0" i="0">
                <a:solidFill>
                  <a:srgbClr val="201F33"/>
                </a:solidFill>
                <a:latin typeface="Calibri"/>
              </a:rPr>
              <a:t> — mockups or environment shown where relevant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24233E"/>
                </a:solidFill>
                <a:latin typeface="Calibri"/>
              </a:rPr>
              <a:t>Craftsmanship</a:t>
            </a:r>
            <a:r>
              <a:rPr sz="1250" b="0" i="0">
                <a:solidFill>
                  <a:srgbClr val="201F33"/>
                </a:solidFill>
                <a:latin typeface="Calibri"/>
              </a:rPr>
              <a:t> — clean linework, consistent scale, legible annotation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F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1F33"/>
                </a:solidFill>
                <a:latin typeface="Calibri"/>
              </a:rPr>
              <a:t>See the </a:t>
            </a:r>
            <a:r>
              <a:rPr sz="1400" b="1" i="0">
                <a:solidFill>
                  <a:srgbClr val="AA6886"/>
                </a:solidFill>
                <a:latin typeface="Calibri"/>
              </a:rPr>
              <a:t>Technical Drawing</a:t>
            </a:r>
            <a:r>
              <a:rPr sz="1400" b="0" i="0">
                <a:solidFill>
                  <a:srgbClr val="201F33"/>
                </a:solidFill>
                <a:latin typeface="Calibri"/>
              </a:rPr>
              <a:t> and </a:t>
            </a:r>
            <a:r>
              <a:rPr sz="1400" b="1" i="0">
                <a:solidFill>
                  <a:srgbClr val="AA6886"/>
                </a:solidFill>
                <a:latin typeface="Calibri"/>
              </a:rPr>
              <a:t>Visualisation Drawing</a:t>
            </a:r>
            <a:r>
              <a:rPr sz="1400" b="0" i="0">
                <a:solidFill>
                  <a:srgbClr val="201F33"/>
                </a:solidFill>
                <a:latin typeface="Calibri"/>
              </a:rPr>
              <a:t> handouts (Unit 1 AOS 2) for a full recap of drawing methods.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EVALUATION &amp;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1F33"/>
                </a:solidFill>
                <a:latin typeface="Cambria"/>
              </a:rPr>
              <a:t>Evaluating Against the Brief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DFD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22213B"/>
                </a:solidFill>
                <a:latin typeface="Calibri"/>
              </a:rPr>
              <a:t>Purpose</a:t>
            </a:r>
          </a:p>
          <a:p>
            <a:r>
              <a:rPr sz="1050">
                <a:solidFill>
                  <a:srgbClr val="201F33"/>
                </a:solidFill>
                <a:latin typeface="Calibri"/>
              </a:rPr>
              <a:t>Does the design achieve its communication objective?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7852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F9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AD8334"/>
                </a:solidFill>
                <a:latin typeface="Calibri"/>
              </a:rPr>
              <a:t>Audience</a:t>
            </a:r>
          </a:p>
          <a:p>
            <a:r>
              <a:rPr sz="1050">
                <a:solidFill>
                  <a:srgbClr val="201F33"/>
                </a:solidFill>
                <a:latin typeface="Calibri"/>
              </a:rPr>
              <a:t>Is it appropriate and effective for the target audience?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89904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F6E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A0627E"/>
                </a:solidFill>
                <a:latin typeface="Calibri"/>
              </a:rPr>
              <a:t>Constraints</a:t>
            </a:r>
          </a:p>
          <a:p>
            <a:r>
              <a:rPr sz="1050">
                <a:solidFill>
                  <a:srgbClr val="201F33"/>
                </a:solidFill>
                <a:latin typeface="Calibri"/>
              </a:rPr>
              <a:t>Were the stated constraints respected (materials, time, format)?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91956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DFD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22213B"/>
                </a:solidFill>
                <a:latin typeface="Calibri"/>
              </a:rPr>
              <a:t>Obligatory Fields</a:t>
            </a:r>
          </a:p>
          <a:p>
            <a:r>
              <a:rPr sz="1050">
                <a:solidFill>
                  <a:srgbClr val="201F33"/>
                </a:solidFill>
                <a:latin typeface="Calibri"/>
              </a:rPr>
              <a:t>Were all required design outcomes delivered?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675887"/>
            <a:ext cx="10607040" cy="2862073"/>
          </a:xfrm>
          <a:prstGeom prst="roundRect">
            <a:avLst>
              <a:gd name="adj" fmla="val 10000"/>
            </a:avLst>
          </a:prstGeom>
          <a:solidFill>
            <a:srgbClr val="F9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3200" rIns="203200" tIns="101600" bIns="101600" wrap="square"/>
          <a:lstStyle/>
          <a:p>
            <a:pPr algn="ctr" indent="-203200" marL="203200">
              <a:spcAft>
                <a:spcPts val="900"/>
              </a:spcAft>
              <a:buClr>
                <a:srgbClr val="D9A441"/>
              </a:buClr>
              <a:buSzPct val="90000"/>
              <a:buFont typeface="Arial"/>
              <a:buChar char="●"/>
            </a:pPr>
            <a:r>
              <a:rPr sz="1200" b="0" i="0">
                <a:solidFill>
                  <a:srgbClr val="201F33"/>
                </a:solidFill>
                <a:latin typeface="Calibri"/>
              </a:rPr>
              <a:t> A strong evaluation is </a:t>
            </a:r>
            <a:r>
              <a:rPr sz="1200" b="1" i="0">
                <a:solidFill>
                  <a:srgbClr val="B88B37"/>
                </a:solidFill>
                <a:latin typeface="Calibri"/>
              </a:rPr>
              <a:t>specific and balanced</a:t>
            </a:r>
            <a:r>
              <a:rPr sz="1200" b="0" i="0">
                <a:solidFill>
                  <a:srgbClr val="201F33"/>
                </a:solidFill>
                <a:latin typeface="Calibri"/>
              </a:rPr>
              <a:t> — identify genuine strengths and any limitations, not just praise. 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EVALUATION &amp;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1F33"/>
                </a:solidFill>
                <a:latin typeface="Cambria"/>
              </a:rPr>
              <a:t>Folio Layout &amp; Clarity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5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1F33"/>
                </a:solidFill>
                <a:latin typeface="Calibri"/>
              </a:rPr>
              <a:t>How your folio is organised affects how clearly your design thinking can be assessed.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24233E"/>
                </a:solidFill>
                <a:latin typeface="Calibri"/>
              </a:rPr>
              <a:t>Sequence</a:t>
            </a:r>
            <a:r>
              <a:rPr sz="1250" b="0" i="0">
                <a:solidFill>
                  <a:srgbClr val="201F33"/>
                </a:solidFill>
                <a:latin typeface="Calibri"/>
              </a:rPr>
              <a:t> — brief → research → generation → development → resolution → evaluation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24233E"/>
                </a:solidFill>
                <a:latin typeface="Calibri"/>
              </a:rPr>
              <a:t>Labelling</a:t>
            </a:r>
            <a:r>
              <a:rPr sz="1250" b="0" i="0">
                <a:solidFill>
                  <a:srgbClr val="201F33"/>
                </a:solidFill>
                <a:latin typeface="Calibri"/>
              </a:rPr>
              <a:t> — clearly label the brief, each concept, and final design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24233E"/>
                </a:solidFill>
                <a:latin typeface="Calibri"/>
              </a:rPr>
              <a:t>Consistency</a:t>
            </a:r>
            <a:r>
              <a:rPr sz="1250" b="0" i="0">
                <a:solidFill>
                  <a:srgbClr val="201F33"/>
                </a:solidFill>
                <a:latin typeface="Calibri"/>
              </a:rPr>
              <a:t> — consistent visual presentation across pages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F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1F33"/>
                </a:solidFill>
                <a:latin typeface="Calibri"/>
              </a:rPr>
              <a:t>Exam Tip</a:t>
            </a:r>
          </a:p>
          <a:p>
            <a:pPr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1F33"/>
                </a:solidFill>
                <a:latin typeface="Calibri"/>
              </a:rPr>
              <a:t>Exam questions may show a folio excerpt and ask you to identify which stage of the process it represents — know the full sequence well.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EVALUATION &amp;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1F33"/>
                </a:solidFill>
                <a:latin typeface="Cambria"/>
              </a:rPr>
              <a:t>Writing an Evaluation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5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Criterion → Evidence → Judgement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1. State the brief criterion being evaluated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2. Give evidence from the final design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3. Judge whether it succeeds, with reasoning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F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>
              <a:spcAft>
                <a:spcPts val="900"/>
              </a:spcAft>
              <a:buNone/>
            </a:pPr>
            <a:r>
              <a:rPr sz="1250" b="0" i="1">
                <a:solidFill>
                  <a:srgbClr val="201F33"/>
                </a:solidFill>
                <a:latin typeface="Calibri"/>
              </a:rPr>
              <a:t>Sentence Starters</a:t>
            </a:r>
          </a:p>
          <a:p>
            <a:pPr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"The brief required [X]; the final design achieves this by..."</a:t>
            </a:r>
          </a:p>
          <a:p>
            <a:pPr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"This effectively meets the needs of [audience] because..."</a:t>
            </a:r>
          </a:p>
          <a:p>
            <a:pPr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"One limitation of the final design is..."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EVALUATION &amp;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1F33"/>
                </a:solidFill>
                <a:latin typeface="Cambria"/>
              </a:rPr>
              <a:t>Evaluation &amp; Presentation — Quick Reference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DFD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22213B"/>
                </a:solidFill>
                <a:latin typeface="Calibri"/>
              </a:rPr>
              <a:t>Refinement</a:t>
            </a:r>
          </a:p>
          <a:p>
            <a:r>
              <a:rPr sz="1050">
                <a:solidFill>
                  <a:srgbClr val="201F33"/>
                </a:solidFill>
                <a:latin typeface="Calibri"/>
              </a:rPr>
              <a:t>Small, precise final adjustments.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7852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F9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AD8334"/>
                </a:solidFill>
                <a:latin typeface="Calibri"/>
              </a:rPr>
              <a:t>Presentation</a:t>
            </a:r>
          </a:p>
          <a:p>
            <a:r>
              <a:rPr sz="1050">
                <a:solidFill>
                  <a:srgbClr val="201F33"/>
                </a:solidFill>
                <a:latin typeface="Calibri"/>
              </a:rPr>
              <a:t>Accurate, rendered, professional standard.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89904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F6E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A0627E"/>
                </a:solidFill>
                <a:latin typeface="Calibri"/>
              </a:rPr>
              <a:t>Evaluation</a:t>
            </a:r>
          </a:p>
          <a:p>
            <a:r>
              <a:rPr sz="1050">
                <a:solidFill>
                  <a:srgbClr val="201F33"/>
                </a:solidFill>
                <a:latin typeface="Calibri"/>
              </a:rPr>
              <a:t>Purpose, audience, constraints, obligatory fields.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91956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DFD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22213B"/>
                </a:solidFill>
                <a:latin typeface="Calibri"/>
              </a:rPr>
              <a:t>Folio Layout</a:t>
            </a:r>
          </a:p>
          <a:p>
            <a:r>
              <a:rPr sz="1050">
                <a:solidFill>
                  <a:srgbClr val="201F33"/>
                </a:solidFill>
                <a:latin typeface="Calibri"/>
              </a:rPr>
              <a:t>Clear sequence and consistent presentation.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675887"/>
            <a:ext cx="10607040" cy="2862073"/>
          </a:xfrm>
          <a:prstGeom prst="roundRect">
            <a:avLst>
              <a:gd name="adj" fmla="val 10000"/>
            </a:avLst>
          </a:prstGeom>
          <a:solidFill>
            <a:srgbClr val="F9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3200" rIns="203200" tIns="101600" bIns="101600" wrap="square"/>
          <a:lstStyle/>
          <a:p>
            <a:pPr algn="ctr" indent="-203200" marL="203200">
              <a:spcAft>
                <a:spcPts val="900"/>
              </a:spcAft>
              <a:buClr>
                <a:srgbClr val="D9A441"/>
              </a:buClr>
              <a:buSzPct val="90000"/>
              <a:buFont typeface="Arial"/>
              <a:buChar char="●"/>
            </a:pPr>
            <a:r>
              <a:rPr sz="1200" b="0" i="0">
                <a:solidFill>
                  <a:srgbClr val="201F33"/>
                </a:solidFill>
                <a:latin typeface="Calibri"/>
              </a:rPr>
              <a:t> Reminder: a strong evaluation is </a:t>
            </a:r>
            <a:r>
              <a:rPr sz="1200" b="1" i="0">
                <a:solidFill>
                  <a:srgbClr val="B88B37"/>
                </a:solidFill>
                <a:latin typeface="Calibri"/>
              </a:rPr>
              <a:t>specific and balanced</a:t>
            </a:r>
            <a:r>
              <a:rPr sz="1200" b="0" i="0">
                <a:solidFill>
                  <a:srgbClr val="201F33"/>
                </a:solidFill>
                <a:latin typeface="Calibri"/>
              </a:rPr>
              <a:t> — not just "the design looks good." 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97280" y="4114800"/>
            <a:ext cx="3108960" cy="3108960"/>
          </a:xfrm>
          <a:prstGeom prst="ellipse">
            <a:avLst/>
          </a:prstGeom>
          <a:solidFill>
            <a:srgbClr val="252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-1188720"/>
            <a:ext cx="2743200" cy="2743200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920240" y="2286000"/>
            <a:ext cx="8321040" cy="23774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3000">
                <a:solidFill>
                  <a:srgbClr val="2B2A4A"/>
                </a:solidFill>
                <a:latin typeface="Cambria"/>
              </a:rPr>
              <a:t>End of Unit 4</a:t>
            </a:r>
          </a:p>
          <a:p>
            <a:pPr algn="ctr"/>
            <a:r>
              <a:rPr sz="1400">
                <a:solidFill>
                  <a:srgbClr val="595959"/>
                </a:solidFill>
              </a:rPr>
              <a:t>Review the matching workbook to consolidate what you have learnt.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