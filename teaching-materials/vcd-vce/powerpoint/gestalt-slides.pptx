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60D1A"/>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none">
            <a:spAutoFit/>
          </a:bodyPr>
          <a:lstStyle/>
          <a:p>
            <a:r>
              <a:rPr sz="1300" b="1">
                <a:solidFill>
                  <a:srgbClr val="60A5FA"/>
                </a:solidFill>
              </a:rPr>
              <a:t>🎓 VCAA-VCD-GEST1 · UNIT 1 AOS 1</a:t>
            </a:r>
          </a:p>
        </p:txBody>
      </p:sp>
      <p:sp>
        <p:nvSpPr>
          <p:cNvPr id="3" name="TextBox 2"/>
          <p:cNvSpPr txBox="1"/>
          <p:nvPr/>
        </p:nvSpPr>
        <p:spPr>
          <a:xfrm>
            <a:off x="548640" y="914400"/>
            <a:ext cx="11064240" cy="5669280"/>
          </a:xfrm>
          <a:prstGeom prst="rect">
            <a:avLst/>
          </a:prstGeom>
          <a:noFill/>
        </p:spPr>
        <p:txBody>
          <a:bodyPr wrap="square">
            <a:spAutoFit/>
          </a:bodyPr>
          <a:lstStyle/>
          <a:p>
            <a:pPr>
              <a:spcAft>
                <a:spcPts val="800"/>
              </a:spcAft>
            </a:pPr>
            <a:r>
              <a:rPr sz="1600">
                <a:solidFill>
                  <a:srgbClr val="60A5FA"/>
                </a:solidFill>
              </a:rPr>
              <a:t>● </a:t>
            </a:r>
            <a:r>
              <a:rPr sz="1600" b="0">
                <a:solidFill>
                  <a:srgbClr val="FFFFFF"/>
                </a:solidFill>
              </a:rPr>
              <a:t>Gestalt Principles</a:t>
            </a:r>
          </a:p>
          <a:p>
            <a:pPr>
              <a:spcAft>
                <a:spcPts val="800"/>
              </a:spcAft>
            </a:pPr>
            <a:r>
              <a:rPr sz="1600">
                <a:solidFill>
                  <a:srgbClr val="60A5FA"/>
                </a:solidFill>
              </a:rPr>
              <a:t>● </a:t>
            </a:r>
            <a:r>
              <a:rPr sz="1600" b="0">
                <a:solidFill>
                  <a:srgbClr val="FFFFFF"/>
                </a:solidFill>
              </a:rPr>
              <a:t>How the human brain groups and organises visual information</a:t>
            </a:r>
          </a:p>
          <a:p>
            <a:pPr>
              <a:spcAft>
                <a:spcPts val="800"/>
              </a:spcAft>
            </a:pPr>
            <a:r>
              <a:rPr sz="1600">
                <a:solidFill>
                  <a:srgbClr val="60A5FA"/>
                </a:solidFill>
              </a:rPr>
              <a:t>● </a:t>
            </a:r>
            <a:r>
              <a:rPr sz="1600" b="0">
                <a:solidFill>
                  <a:srgbClr val="FFFFFF"/>
                </a:solidFill>
              </a:rPr>
              <a:t>Unit 1 · AOS 1Year 11 VCE VCD6 VCAA Gestalt Principles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60D1A"/>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none">
            <a:spAutoFit/>
          </a:bodyPr>
          <a:lstStyle/>
          <a:p>
            <a:r>
              <a:rPr sz="1300" b="1">
                <a:solidFill>
                  <a:srgbClr val="60A5FA"/>
                </a:solidFill>
              </a:rPr>
              <a:t>🎓 VCAA-VCD-GEST1</a:t>
            </a:r>
          </a:p>
        </p:txBody>
      </p:sp>
      <p:sp>
        <p:nvSpPr>
          <p:cNvPr id="3" name="TextBox 2"/>
          <p:cNvSpPr txBox="1"/>
          <p:nvPr/>
        </p:nvSpPr>
        <p:spPr>
          <a:xfrm>
            <a:off x="548640" y="914400"/>
            <a:ext cx="11064240" cy="5669280"/>
          </a:xfrm>
          <a:prstGeom prst="rect">
            <a:avLst/>
          </a:prstGeom>
          <a:noFill/>
        </p:spPr>
        <p:txBody>
          <a:bodyPr wrap="square">
            <a:spAutoFit/>
          </a:bodyPr>
          <a:lstStyle/>
          <a:p>
            <a:pPr>
              <a:spcAft>
                <a:spcPts val="800"/>
              </a:spcAft>
            </a:pPr>
            <a:r>
              <a:rPr sz="1600">
                <a:solidFill>
                  <a:srgbClr val="60A5FA"/>
                </a:solidFill>
              </a:rPr>
              <a:t>● </a:t>
            </a:r>
            <a:r>
              <a:rPr sz="1600" b="0">
                <a:solidFill>
                  <a:srgbClr val="FFFFFF"/>
                </a:solidFill>
              </a:rPr>
              <a:t>What is Gestalt?</a:t>
            </a:r>
          </a:p>
          <a:p>
            <a:pPr lvl="2">
              <a:spcAft>
                <a:spcPts val="800"/>
              </a:spcAft>
            </a:pPr>
            <a:r>
              <a:rPr sz="1400">
                <a:solidFill>
                  <a:srgbClr val="60A5FA"/>
                </a:solidFill>
              </a:rPr>
              <a:t>– </a:t>
            </a:r>
            <a:r>
              <a:rPr sz="1400" b="0">
                <a:solidFill>
                  <a:srgbClr val="FFFFFF"/>
                </a:solidFill>
              </a:rPr>
              <a:t>Gestalt is a German word meaning  </a:t>
            </a:r>
            <a:r>
              <a:rPr sz="1400" b="1">
                <a:solidFill>
                  <a:srgbClr val="60A5FA"/>
                </a:solidFill>
              </a:rPr>
              <a:t>"unified whole" </a:t>
            </a:r>
            <a:r>
              <a:rPr sz="1400" b="0">
                <a:solidFill>
                  <a:srgbClr val="FFFFFF"/>
                </a:solidFill>
              </a:rPr>
              <a:t>. Gestalt psychology studies how we perceive visual elements as organised patterns rather than individual parts.</a:t>
            </a:r>
          </a:p>
          <a:p>
            <a:pPr lvl="2">
              <a:spcAft>
                <a:spcPts val="800"/>
              </a:spcAft>
            </a:pPr>
            <a:r>
              <a:rPr sz="1400">
                <a:solidFill>
                  <a:srgbClr val="60A5FA"/>
                </a:solidFill>
              </a:rPr>
              <a:t>– </a:t>
            </a:r>
            <a:r>
              <a:rPr sz="1400" b="0">
                <a:solidFill>
                  <a:srgbClr val="FFFFFF"/>
                </a:solidFill>
              </a:rPr>
              <a:t>The core idea: "The whole is greater than the sum of its parts."</a:t>
            </a:r>
          </a:p>
          <a:p>
            <a:pPr lvl="2">
              <a:spcAft>
                <a:spcPts val="800"/>
              </a:spcAft>
            </a:pPr>
            <a:r>
              <a:rPr sz="1400">
                <a:solidFill>
                  <a:srgbClr val="60A5FA"/>
                </a:solidFill>
              </a:rPr>
              <a:t>– </a:t>
            </a:r>
            <a:r>
              <a:rPr sz="1400" b="0">
                <a:solidFill>
                  <a:srgbClr val="FFFFFF"/>
                </a:solidFill>
              </a:rPr>
              <a:t>Why it matters in VCDExplains how viewers "read" designsHelps designers guide the eyeCreates visual relationships between elementsUnderpins effective layout decisions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60D1A"/>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none">
            <a:spAutoFit/>
          </a:bodyPr>
          <a:lstStyle/>
          <a:p>
            <a:r>
              <a:rPr sz="1300" b="1">
                <a:solidFill>
                  <a:srgbClr val="60A5FA"/>
                </a:solidFill>
              </a:rPr>
              <a:t>⚠️ VCAA EXAM NOTE</a:t>
            </a:r>
          </a:p>
        </p:txBody>
      </p:sp>
      <p:sp>
        <p:nvSpPr>
          <p:cNvPr id="3" name="TextBox 2"/>
          <p:cNvSpPr txBox="1"/>
          <p:nvPr/>
        </p:nvSpPr>
        <p:spPr>
          <a:xfrm>
            <a:off x="548640" y="914400"/>
            <a:ext cx="11064240" cy="5669280"/>
          </a:xfrm>
          <a:prstGeom prst="rect">
            <a:avLst/>
          </a:prstGeom>
          <a:noFill/>
        </p:spPr>
        <p:txBody>
          <a:bodyPr wrap="square">
            <a:spAutoFit/>
          </a:bodyPr>
          <a:lstStyle/>
          <a:p>
            <a:pPr>
              <a:spcAft>
                <a:spcPts val="800"/>
              </a:spcAft>
            </a:pPr>
            <a:r>
              <a:rPr sz="1600">
                <a:solidFill>
                  <a:srgbClr val="60A5FA"/>
                </a:solidFill>
              </a:rPr>
              <a:t>● </a:t>
            </a:r>
            <a:r>
              <a:rPr sz="1600" b="0">
                <a:solidFill>
                  <a:srgbClr val="FFFFFF"/>
                </a:solidFill>
              </a:rPr>
              <a:t>Critical: What's in VCAA 2024?</a:t>
            </a:r>
          </a:p>
          <a:p>
            <a:pPr lvl="2">
              <a:spcAft>
                <a:spcPts val="800"/>
              </a:spcAft>
            </a:pPr>
            <a:r>
              <a:rPr sz="1400">
                <a:solidFill>
                  <a:srgbClr val="60A5FA"/>
                </a:solidFill>
              </a:rPr>
              <a:t>– </a:t>
            </a:r>
            <a:r>
              <a:rPr sz="1400" b="0">
                <a:solidFill>
                  <a:srgbClr val="FFFFFF"/>
                </a:solidFill>
              </a:rPr>
              <a:t>✅ VCAA 2024 Gestalt Principles (USE THESE) </a:t>
            </a:r>
            <a:r>
              <a:rPr sz="1400" b="1">
                <a:solidFill>
                  <a:srgbClr val="60A5FA"/>
                </a:solidFill>
              </a:rPr>
              <a:t>SimilarityProximityClosureFigure-GroundContinuation </a:t>
            </a:r>
            <a:r>
              <a:rPr sz="1400" b="0">
                <a:solidFill>
                  <a:srgbClr val="FFFFFF"/>
                </a:solidFill>
              </a:rPr>
              <a:t> ← correct spelling </a:t>
            </a:r>
            <a:r>
              <a:rPr sz="1400" b="1">
                <a:solidFill>
                  <a:srgbClr val="60A5FA"/>
                </a:solidFill>
              </a:rPr>
              <a:t>Area / Prägnanz</a:t>
            </a:r>
          </a:p>
          <a:p>
            <a:pPr lvl="3">
              <a:spcAft>
                <a:spcPts val="800"/>
              </a:spcAft>
            </a:pPr>
            <a:r>
              <a:rPr sz="1300">
                <a:solidFill>
                  <a:srgbClr val="60A5FA"/>
                </a:solidFill>
              </a:rPr>
              <a:t>- </a:t>
            </a:r>
            <a:r>
              <a:rPr sz="1300" b="0">
                <a:solidFill>
                  <a:srgbClr val="FFFFFF"/>
                </a:solidFill>
              </a:rPr>
              <a:t>❌ Common Mistakes — Do NOT use</a:t>
            </a:r>
          </a:p>
          <a:p>
            <a:pPr lvl="3">
              <a:spcAft>
                <a:spcPts val="800"/>
              </a:spcAft>
            </a:pPr>
            <a:r>
              <a:rPr sz="1300">
                <a:solidFill>
                  <a:srgbClr val="60A5FA"/>
                </a:solidFill>
              </a:rPr>
              <a:t>- </a:t>
            </a:r>
            <a:r>
              <a:rPr sz="1300" b="0">
                <a:solidFill>
                  <a:srgbClr val="FFFFFF"/>
                </a:solidFill>
              </a:rPr>
              <a:t>Continuity → write  </a:t>
            </a:r>
            <a:r>
              <a:rPr sz="1300" b="1">
                <a:solidFill>
                  <a:srgbClr val="60A5FA"/>
                </a:solidFill>
              </a:rPr>
              <a:t>Continuation </a:t>
            </a:r>
            <a:r>
              <a:rPr sz="1300" b="0">
                <a:solidFill>
                  <a:srgbClr val="FFFFFF"/>
                </a:solidFill>
              </a:rPr>
              <a:t>Common Region — not a VCAA principleSymmetry — not separately listedConnectedness — not in VCAA 2024</a:t>
            </a:r>
          </a:p>
          <a:p>
            <a:pPr lvl="3">
              <a:spcAft>
                <a:spcPts val="800"/>
              </a:spcAft>
            </a:pPr>
            <a:r>
              <a:rPr sz="1300">
                <a:solidFill>
                  <a:srgbClr val="60A5FA"/>
                </a:solidFill>
              </a:rPr>
              <a:t>- </a:t>
            </a:r>
            <a:r>
              <a:rPr sz="1300" b="0">
                <a:solidFill>
                  <a:srgbClr val="FFFFFF"/>
                </a:solidFill>
              </a:rPr>
              <a:t>Always check: Similarity, Proximity, Closure, Figure-Ground, Continuation, Area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60D1A"/>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none">
            <a:spAutoFit/>
          </a:bodyPr>
          <a:lstStyle/>
          <a:p>
            <a:r>
              <a:rPr sz="1300" b="1">
                <a:solidFill>
                  <a:srgbClr val="60A5FA"/>
                </a:solidFill>
              </a:rPr>
              <a:t>🎓 GESTALT 1 OF 6</a:t>
            </a:r>
          </a:p>
        </p:txBody>
      </p:sp>
      <p:sp>
        <p:nvSpPr>
          <p:cNvPr id="3" name="TextBox 2"/>
          <p:cNvSpPr txBox="1"/>
          <p:nvPr/>
        </p:nvSpPr>
        <p:spPr>
          <a:xfrm>
            <a:off x="548640" y="914400"/>
            <a:ext cx="11064240" cy="5669280"/>
          </a:xfrm>
          <a:prstGeom prst="rect">
            <a:avLst/>
          </a:prstGeom>
          <a:noFill/>
        </p:spPr>
        <p:txBody>
          <a:bodyPr wrap="square">
            <a:spAutoFit/>
          </a:bodyPr>
          <a:lstStyle/>
          <a:p>
            <a:pPr>
              <a:spcAft>
                <a:spcPts val="800"/>
              </a:spcAft>
            </a:pPr>
            <a:r>
              <a:rPr sz="1600">
                <a:solidFill>
                  <a:srgbClr val="60A5FA"/>
                </a:solidFill>
              </a:rPr>
              <a:t>● </a:t>
            </a:r>
            <a:r>
              <a:rPr sz="1600" b="0">
                <a:solidFill>
                  <a:srgbClr val="FFFFFF"/>
                </a:solidFill>
              </a:rPr>
              <a:t>Similarity</a:t>
            </a:r>
          </a:p>
          <a:p>
            <a:pPr lvl="2">
              <a:spcAft>
                <a:spcPts val="800"/>
              </a:spcAft>
            </a:pPr>
            <a:r>
              <a:rPr sz="1400">
                <a:solidFill>
                  <a:srgbClr val="60A5FA"/>
                </a:solidFill>
              </a:rPr>
              <a:t>– </a:t>
            </a:r>
            <a:r>
              <a:rPr sz="1400" b="0">
                <a:solidFill>
                  <a:srgbClr val="FFFFFF"/>
                </a:solidFill>
              </a:rPr>
              <a:t>Elements that share  </a:t>
            </a:r>
            <a:r>
              <a:rPr sz="1400" b="1">
                <a:solidFill>
                  <a:srgbClr val="60A5FA"/>
                </a:solidFill>
              </a:rPr>
              <a:t>visual characteristics </a:t>
            </a:r>
            <a:r>
              <a:rPr sz="1400" b="0">
                <a:solidFill>
                  <a:srgbClr val="FFFFFF"/>
                </a:solidFill>
              </a:rPr>
              <a:t> (colour, shape, size, texture, orientation) are perceived as belonging together.</a:t>
            </a:r>
          </a:p>
          <a:p>
            <a:pPr lvl="2">
              <a:spcAft>
                <a:spcPts val="800"/>
              </a:spcAft>
            </a:pPr>
            <a:r>
              <a:rPr sz="1400">
                <a:solidFill>
                  <a:srgbClr val="60A5FA"/>
                </a:solidFill>
              </a:rPr>
              <a:t>– </a:t>
            </a:r>
            <a:r>
              <a:rPr sz="1400" b="0">
                <a:solidFill>
                  <a:srgbClr val="FFFFFF"/>
                </a:solidFill>
              </a:rPr>
              <a:t>Types of Similarity </a:t>
            </a:r>
            <a:r>
              <a:rPr sz="1400" b="1">
                <a:solidFill>
                  <a:srgbClr val="60A5FA"/>
                </a:solidFill>
              </a:rPr>
              <a:t>Colour similarity </a:t>
            </a:r>
            <a:r>
              <a:rPr sz="1400" b="0">
                <a:solidFill>
                  <a:srgbClr val="FFFFFF"/>
                </a:solidFill>
              </a:rPr>
              <a:t> — same hue groups elements </a:t>
            </a:r>
            <a:r>
              <a:rPr sz="1400" b="1">
                <a:solidFill>
                  <a:srgbClr val="60A5FA"/>
                </a:solidFill>
              </a:rPr>
              <a:t>Shape similarity </a:t>
            </a:r>
            <a:r>
              <a:rPr sz="1400" b="0">
                <a:solidFill>
                  <a:srgbClr val="FFFFFF"/>
                </a:solidFill>
              </a:rPr>
              <a:t> — repeated forms create unity </a:t>
            </a:r>
            <a:r>
              <a:rPr sz="1400" b="1">
                <a:solidFill>
                  <a:srgbClr val="60A5FA"/>
                </a:solidFill>
              </a:rPr>
              <a:t>Size similarity </a:t>
            </a:r>
            <a:r>
              <a:rPr sz="1400" b="0">
                <a:solidFill>
                  <a:srgbClr val="FFFFFF"/>
                </a:solidFill>
              </a:rPr>
              <a:t> — equal-sized items group </a:t>
            </a:r>
            <a:r>
              <a:rPr sz="1400" b="1">
                <a:solidFill>
                  <a:srgbClr val="60A5FA"/>
                </a:solidFill>
              </a:rPr>
              <a:t>Texture similarity </a:t>
            </a:r>
            <a:r>
              <a:rPr sz="1400" b="0">
                <a:solidFill>
                  <a:srgbClr val="FFFFFF"/>
                </a:solidFill>
              </a:rPr>
              <a:t> — matching surface quality</a:t>
            </a:r>
          </a:p>
          <a:p>
            <a:pPr lvl="2">
              <a:spcAft>
                <a:spcPts val="800"/>
              </a:spcAft>
            </a:pPr>
            <a:r>
              <a:rPr sz="1400">
                <a:solidFill>
                  <a:srgbClr val="60A5FA"/>
                </a:solidFill>
              </a:rPr>
              <a:t>– </a:t>
            </a:r>
            <a:r>
              <a:rPr sz="1400" b="0">
                <a:solidFill>
                  <a:srgbClr val="FFFFFF"/>
                </a:solidFill>
              </a:rPr>
              <a:t>e.g. Navigation menu items in the same font weight and colour are read as a group even with space between them.</a:t>
            </a:r>
          </a:p>
          <a:p>
            <a:pPr lvl="3">
              <a:spcAft>
                <a:spcPts val="800"/>
              </a:spcAft>
            </a:pPr>
            <a:r>
              <a:rPr sz="1300">
                <a:solidFill>
                  <a:srgbClr val="60A5FA"/>
                </a:solidFill>
              </a:rPr>
              <a:t>- </a:t>
            </a:r>
            <a:r>
              <a:rPr sz="1300" b="0">
                <a:solidFill>
                  <a:srgbClr val="FFFFFF"/>
                </a:solidFill>
              </a:rPr>
              <a:t>Exam Sentence Starter</a:t>
            </a:r>
          </a:p>
          <a:p>
            <a:pPr lvl="3">
              <a:spcAft>
                <a:spcPts val="800"/>
              </a:spcAft>
            </a:pPr>
            <a:r>
              <a:rPr sz="1300">
                <a:solidFill>
                  <a:srgbClr val="60A5FA"/>
                </a:solidFill>
              </a:rPr>
              <a:t>- </a:t>
            </a:r>
            <a:r>
              <a:rPr sz="1300" b="0">
                <a:solidFill>
                  <a:srgbClr val="FFFFFF"/>
                </a:solidFill>
              </a:rPr>
              <a:t>"The principle of  </a:t>
            </a:r>
            <a:r>
              <a:rPr sz="1300" b="1">
                <a:solidFill>
                  <a:srgbClr val="60A5FA"/>
                </a:solidFill>
              </a:rPr>
              <a:t>similarity </a:t>
            </a:r>
            <a:r>
              <a:rPr sz="1300" b="0">
                <a:solidFill>
                  <a:srgbClr val="FFFFFF"/>
                </a:solidFill>
              </a:rPr>
              <a:t> is used in this design through the repetition of [element], which groups [objects] together and creates visual cohesion."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60D1A"/>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none">
            <a:spAutoFit/>
          </a:bodyPr>
          <a:lstStyle/>
          <a:p>
            <a:r>
              <a:rPr sz="1300" b="1">
                <a:solidFill>
                  <a:srgbClr val="60A5FA"/>
                </a:solidFill>
              </a:rPr>
              <a:t>🎓 GESTALT 2 OF 6</a:t>
            </a:r>
          </a:p>
        </p:txBody>
      </p:sp>
      <p:sp>
        <p:nvSpPr>
          <p:cNvPr id="3" name="TextBox 2"/>
          <p:cNvSpPr txBox="1"/>
          <p:nvPr/>
        </p:nvSpPr>
        <p:spPr>
          <a:xfrm>
            <a:off x="548640" y="914400"/>
            <a:ext cx="11064240" cy="5669280"/>
          </a:xfrm>
          <a:prstGeom prst="rect">
            <a:avLst/>
          </a:prstGeom>
          <a:noFill/>
        </p:spPr>
        <p:txBody>
          <a:bodyPr wrap="square">
            <a:spAutoFit/>
          </a:bodyPr>
          <a:lstStyle/>
          <a:p>
            <a:pPr>
              <a:spcAft>
                <a:spcPts val="800"/>
              </a:spcAft>
            </a:pPr>
            <a:r>
              <a:rPr sz="1600">
                <a:solidFill>
                  <a:srgbClr val="60A5FA"/>
                </a:solidFill>
              </a:rPr>
              <a:t>● </a:t>
            </a:r>
            <a:r>
              <a:rPr sz="1600" b="0">
                <a:solidFill>
                  <a:srgbClr val="FFFFFF"/>
                </a:solidFill>
              </a:rPr>
              <a:t>Proximity</a:t>
            </a:r>
          </a:p>
          <a:p>
            <a:pPr lvl="2">
              <a:spcAft>
                <a:spcPts val="800"/>
              </a:spcAft>
            </a:pPr>
            <a:r>
              <a:rPr sz="1400">
                <a:solidFill>
                  <a:srgbClr val="60A5FA"/>
                </a:solidFill>
              </a:rPr>
              <a:t>– </a:t>
            </a:r>
            <a:r>
              <a:rPr sz="1400" b="0">
                <a:solidFill>
                  <a:srgbClr val="FFFFFF"/>
                </a:solidFill>
              </a:rPr>
              <a:t>Elements that are  </a:t>
            </a:r>
            <a:r>
              <a:rPr sz="1400" b="1">
                <a:solidFill>
                  <a:srgbClr val="60A5FA"/>
                </a:solidFill>
              </a:rPr>
              <a:t>close together </a:t>
            </a:r>
            <a:r>
              <a:rPr sz="1400" b="0">
                <a:solidFill>
                  <a:srgbClr val="FFFFFF"/>
                </a:solidFill>
              </a:rPr>
              <a:t> are perceived as a group, regardless of their visual differences.</a:t>
            </a:r>
          </a:p>
          <a:p>
            <a:pPr lvl="2">
              <a:spcAft>
                <a:spcPts val="800"/>
              </a:spcAft>
            </a:pPr>
            <a:r>
              <a:rPr sz="1400">
                <a:solidFill>
                  <a:srgbClr val="60A5FA"/>
                </a:solidFill>
              </a:rPr>
              <a:t>– </a:t>
            </a:r>
            <a:r>
              <a:rPr sz="1400" b="0">
                <a:solidFill>
                  <a:srgbClr val="FFFFFF"/>
                </a:solidFill>
              </a:rPr>
              <a:t>Key IdeaSpatial closeness overrides differences in shape or colour. The designer can create or break groups purely through positioning.</a:t>
            </a:r>
          </a:p>
          <a:p>
            <a:pPr lvl="2">
              <a:spcAft>
                <a:spcPts val="800"/>
              </a:spcAft>
            </a:pPr>
            <a:r>
              <a:rPr sz="1400">
                <a:solidFill>
                  <a:srgbClr val="60A5FA"/>
                </a:solidFill>
              </a:rPr>
              <a:t>– </a:t>
            </a:r>
            <a:r>
              <a:rPr sz="1400" b="0">
                <a:solidFill>
                  <a:srgbClr val="FFFFFF"/>
                </a:solidFill>
              </a:rPr>
              <a:t>e.g. A label placed directly beneath an image is understood to caption it, even without a line connecting them.</a:t>
            </a:r>
          </a:p>
          <a:p>
            <a:pPr lvl="3">
              <a:spcAft>
                <a:spcPts val="800"/>
              </a:spcAft>
            </a:pPr>
            <a:r>
              <a:rPr sz="1300">
                <a:solidFill>
                  <a:srgbClr val="60A5FA"/>
                </a:solidFill>
              </a:rPr>
              <a:t>- </a:t>
            </a:r>
            <a:r>
              <a:rPr sz="1300" b="0">
                <a:solidFill>
                  <a:srgbClr val="FFFFFF"/>
                </a:solidFill>
              </a:rPr>
              <a:t>Exam Sentence Starter</a:t>
            </a:r>
          </a:p>
          <a:p>
            <a:pPr lvl="3">
              <a:spcAft>
                <a:spcPts val="800"/>
              </a:spcAft>
            </a:pPr>
            <a:r>
              <a:rPr sz="1300">
                <a:solidFill>
                  <a:srgbClr val="60A5FA"/>
                </a:solidFill>
              </a:rPr>
              <a:t>- </a:t>
            </a:r>
            <a:r>
              <a:rPr sz="1300" b="0">
                <a:solidFill>
                  <a:srgbClr val="FFFFFF"/>
                </a:solidFill>
              </a:rPr>
              <a:t>"The principle of  </a:t>
            </a:r>
            <a:r>
              <a:rPr sz="1300" b="1">
                <a:solidFill>
                  <a:srgbClr val="60A5FA"/>
                </a:solidFill>
              </a:rPr>
              <a:t>proximity </a:t>
            </a:r>
            <a:r>
              <a:rPr sz="1300" b="0">
                <a:solidFill>
                  <a:srgbClr val="FFFFFF"/>
                </a:solidFill>
              </a:rPr>
              <a:t> is evident in the grouping of [elements] in the [location], which communicates that they are related and guides the viewer's understanding of the design."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60D1A"/>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none">
            <a:spAutoFit/>
          </a:bodyPr>
          <a:lstStyle/>
          <a:p>
            <a:r>
              <a:rPr sz="1300" b="1">
                <a:solidFill>
                  <a:srgbClr val="60A5FA"/>
                </a:solidFill>
              </a:rPr>
              <a:t>🎓 GESTALT 3 OF 6</a:t>
            </a:r>
          </a:p>
        </p:txBody>
      </p:sp>
      <p:sp>
        <p:nvSpPr>
          <p:cNvPr id="3" name="TextBox 2"/>
          <p:cNvSpPr txBox="1"/>
          <p:nvPr/>
        </p:nvSpPr>
        <p:spPr>
          <a:xfrm>
            <a:off x="548640" y="914400"/>
            <a:ext cx="11064240" cy="5669280"/>
          </a:xfrm>
          <a:prstGeom prst="rect">
            <a:avLst/>
          </a:prstGeom>
          <a:noFill/>
        </p:spPr>
        <p:txBody>
          <a:bodyPr wrap="square">
            <a:spAutoFit/>
          </a:bodyPr>
          <a:lstStyle/>
          <a:p>
            <a:pPr>
              <a:spcAft>
                <a:spcPts val="800"/>
              </a:spcAft>
            </a:pPr>
            <a:r>
              <a:rPr sz="1600">
                <a:solidFill>
                  <a:srgbClr val="60A5FA"/>
                </a:solidFill>
              </a:rPr>
              <a:t>● </a:t>
            </a:r>
            <a:r>
              <a:rPr sz="1600" b="0">
                <a:solidFill>
                  <a:srgbClr val="FFFFFF"/>
                </a:solidFill>
              </a:rPr>
              <a:t>Closure</a:t>
            </a:r>
          </a:p>
          <a:p>
            <a:pPr lvl="2">
              <a:spcAft>
                <a:spcPts val="800"/>
              </a:spcAft>
            </a:pPr>
            <a:r>
              <a:rPr sz="1400">
                <a:solidFill>
                  <a:srgbClr val="60A5FA"/>
                </a:solidFill>
              </a:rPr>
              <a:t>– </a:t>
            </a:r>
            <a:r>
              <a:rPr sz="1400" b="0">
                <a:solidFill>
                  <a:srgbClr val="FFFFFF"/>
                </a:solidFill>
              </a:rPr>
              <a:t>The mind fills in  </a:t>
            </a:r>
            <a:r>
              <a:rPr sz="1400" b="1">
                <a:solidFill>
                  <a:srgbClr val="60A5FA"/>
                </a:solidFill>
              </a:rPr>
              <a:t>missing information </a:t>
            </a:r>
            <a:r>
              <a:rPr sz="1400" b="0">
                <a:solidFill>
                  <a:srgbClr val="FFFFFF"/>
                </a:solidFill>
              </a:rPr>
              <a:t> to perceive a complete, familiar shape or form.</a:t>
            </a:r>
          </a:p>
          <a:p>
            <a:pPr lvl="2">
              <a:spcAft>
                <a:spcPts val="800"/>
              </a:spcAft>
            </a:pPr>
            <a:r>
              <a:rPr sz="1400">
                <a:solidFill>
                  <a:srgbClr val="60A5FA"/>
                </a:solidFill>
              </a:rPr>
              <a:t>– </a:t>
            </a:r>
            <a:r>
              <a:rPr sz="1400" b="0">
                <a:solidFill>
                  <a:srgbClr val="FFFFFF"/>
                </a:solidFill>
              </a:rPr>
              <a:t>Key IdeaViewers don't need to see every line or edge — the brain "closes" incomplete shapes automatically. Designers use this to create intrigue and save visual space.</a:t>
            </a:r>
          </a:p>
          <a:p>
            <a:pPr lvl="2">
              <a:spcAft>
                <a:spcPts val="800"/>
              </a:spcAft>
            </a:pPr>
            <a:r>
              <a:rPr sz="1400">
                <a:solidFill>
                  <a:srgbClr val="60A5FA"/>
                </a:solidFill>
              </a:rPr>
              <a:t>– </a:t>
            </a:r>
            <a:r>
              <a:rPr sz="1400" b="0">
                <a:solidFill>
                  <a:srgbClr val="FFFFFF"/>
                </a:solidFill>
              </a:rPr>
              <a:t>e.g. The WWF panda logo is made of black shapes on white; the brain completes the outline of the panda. The NBC peacock logo uses coloured shapes to imply feathers.</a:t>
            </a:r>
          </a:p>
          <a:p>
            <a:pPr lvl="3">
              <a:spcAft>
                <a:spcPts val="800"/>
              </a:spcAft>
            </a:pPr>
            <a:r>
              <a:rPr sz="1300">
                <a:solidFill>
                  <a:srgbClr val="60A5FA"/>
                </a:solidFill>
              </a:rPr>
              <a:t>- </a:t>
            </a:r>
            <a:r>
              <a:rPr sz="1300" b="0">
                <a:solidFill>
                  <a:srgbClr val="FFFFFF"/>
                </a:solidFill>
              </a:rPr>
              <a:t>Exam Sentence Starter</a:t>
            </a:r>
          </a:p>
          <a:p>
            <a:pPr lvl="3">
              <a:spcAft>
                <a:spcPts val="800"/>
              </a:spcAft>
            </a:pPr>
            <a:r>
              <a:rPr sz="1300">
                <a:solidFill>
                  <a:srgbClr val="60A5FA"/>
                </a:solidFill>
              </a:rPr>
              <a:t>- </a:t>
            </a:r>
            <a:r>
              <a:rPr sz="1300" b="0">
                <a:solidFill>
                  <a:srgbClr val="FFFFFF"/>
                </a:solidFill>
              </a:rPr>
              <a:t>"The principle of  </a:t>
            </a:r>
            <a:r>
              <a:rPr sz="1300" b="1">
                <a:solidFill>
                  <a:srgbClr val="60A5FA"/>
                </a:solidFill>
              </a:rPr>
              <a:t>closure </a:t>
            </a:r>
            <a:r>
              <a:rPr sz="1300" b="0">
                <a:solidFill>
                  <a:srgbClr val="FFFFFF"/>
                </a:solidFill>
              </a:rPr>
              <a:t> is used in this design as the viewer's eye completes the [shape/form], creating a sense of [unity/recognition/intrigue]."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60D1A"/>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none">
            <a:spAutoFit/>
          </a:bodyPr>
          <a:lstStyle/>
          <a:p>
            <a:r>
              <a:rPr sz="1300" b="1">
                <a:solidFill>
                  <a:srgbClr val="60A5FA"/>
                </a:solidFill>
              </a:rPr>
              <a:t>🎓 GESTALT 4 OF 6</a:t>
            </a:r>
          </a:p>
        </p:txBody>
      </p:sp>
      <p:sp>
        <p:nvSpPr>
          <p:cNvPr id="3" name="TextBox 2"/>
          <p:cNvSpPr txBox="1"/>
          <p:nvPr/>
        </p:nvSpPr>
        <p:spPr>
          <a:xfrm>
            <a:off x="548640" y="914400"/>
            <a:ext cx="11064240" cy="5669280"/>
          </a:xfrm>
          <a:prstGeom prst="rect">
            <a:avLst/>
          </a:prstGeom>
          <a:noFill/>
        </p:spPr>
        <p:txBody>
          <a:bodyPr wrap="square">
            <a:spAutoFit/>
          </a:bodyPr>
          <a:lstStyle/>
          <a:p>
            <a:pPr>
              <a:spcAft>
                <a:spcPts val="800"/>
              </a:spcAft>
            </a:pPr>
            <a:r>
              <a:rPr sz="1600">
                <a:solidFill>
                  <a:srgbClr val="60A5FA"/>
                </a:solidFill>
              </a:rPr>
              <a:t>● </a:t>
            </a:r>
            <a:r>
              <a:rPr sz="1600" b="0">
                <a:solidFill>
                  <a:srgbClr val="FFFFFF"/>
                </a:solidFill>
              </a:rPr>
              <a:t>Figure-Ground</a:t>
            </a:r>
          </a:p>
          <a:p>
            <a:pPr lvl="2">
              <a:spcAft>
                <a:spcPts val="800"/>
              </a:spcAft>
            </a:pPr>
            <a:r>
              <a:rPr sz="1400">
                <a:solidFill>
                  <a:srgbClr val="60A5FA"/>
                </a:solidFill>
              </a:rPr>
              <a:t>– </a:t>
            </a:r>
            <a:r>
              <a:rPr sz="1400" b="0">
                <a:solidFill>
                  <a:srgbClr val="FFFFFF"/>
                </a:solidFill>
              </a:rPr>
              <a:t>The eye separates an image into a  </a:t>
            </a:r>
            <a:r>
              <a:rPr sz="1400" b="1">
                <a:solidFill>
                  <a:srgbClr val="60A5FA"/>
                </a:solidFill>
              </a:rPr>
              <a:t>figure </a:t>
            </a:r>
            <a:r>
              <a:rPr sz="1400" b="0">
                <a:solidFill>
                  <a:srgbClr val="FFFFFF"/>
                </a:solidFill>
              </a:rPr>
              <a:t> (foreground subject) and a  </a:t>
            </a:r>
            <a:r>
              <a:rPr sz="1400" b="1">
                <a:solidFill>
                  <a:srgbClr val="60A5FA"/>
                </a:solidFill>
              </a:rPr>
              <a:t>ground </a:t>
            </a:r>
            <a:r>
              <a:rPr sz="1400" b="0">
                <a:solidFill>
                  <a:srgbClr val="FFFFFF"/>
                </a:solidFill>
              </a:rPr>
              <a:t> (background). Sometimes the two can be reversed (ambiguous figure-ground).</a:t>
            </a:r>
          </a:p>
          <a:p>
            <a:pPr lvl="2">
              <a:spcAft>
                <a:spcPts val="800"/>
              </a:spcAft>
            </a:pPr>
            <a:r>
              <a:rPr sz="1400">
                <a:solidFill>
                  <a:srgbClr val="60A5FA"/>
                </a:solidFill>
              </a:rPr>
              <a:t>– </a:t>
            </a:r>
            <a:r>
              <a:rPr sz="1400" b="0">
                <a:solidFill>
                  <a:srgbClr val="FFFFFF"/>
                </a:solidFill>
              </a:rPr>
              <a:t>Types </a:t>
            </a:r>
            <a:r>
              <a:rPr sz="1400" b="1">
                <a:solidFill>
                  <a:srgbClr val="60A5FA"/>
                </a:solidFill>
              </a:rPr>
              <a:t>Stable </a:t>
            </a:r>
            <a:r>
              <a:rPr sz="1400" b="0">
                <a:solidFill>
                  <a:srgbClr val="FFFFFF"/>
                </a:solidFill>
              </a:rPr>
              <a:t> — clear separation of figure and ground </a:t>
            </a:r>
            <a:r>
              <a:rPr sz="1400" b="1">
                <a:solidFill>
                  <a:srgbClr val="60A5FA"/>
                </a:solidFill>
              </a:rPr>
              <a:t>Ambiguous </a:t>
            </a:r>
            <a:r>
              <a:rPr sz="1400" b="0">
                <a:solidFill>
                  <a:srgbClr val="FFFFFF"/>
                </a:solidFill>
              </a:rPr>
              <a:t> — figure and ground can be switched (e.g. Rubin's Vase) </a:t>
            </a:r>
            <a:r>
              <a:rPr sz="1400" b="1">
                <a:solidFill>
                  <a:srgbClr val="60A5FA"/>
                </a:solidFill>
              </a:rPr>
              <a:t>Reversible </a:t>
            </a:r>
            <a:r>
              <a:rPr sz="1400" b="0">
                <a:solidFill>
                  <a:srgbClr val="FFFFFF"/>
                </a:solidFill>
              </a:rPr>
              <a:t> — design intentionally uses both readings</a:t>
            </a:r>
          </a:p>
          <a:p>
            <a:pPr lvl="2">
              <a:spcAft>
                <a:spcPts val="800"/>
              </a:spcAft>
            </a:pPr>
            <a:r>
              <a:rPr sz="1400">
                <a:solidFill>
                  <a:srgbClr val="60A5FA"/>
                </a:solidFill>
              </a:rPr>
              <a:t>– </a:t>
            </a:r>
            <a:r>
              <a:rPr sz="1400" b="0">
                <a:solidFill>
                  <a:srgbClr val="FFFFFF"/>
                </a:solidFill>
              </a:rPr>
              <a:t>e.g. The FedEx logo uses negative space between E and x to form an arrow (ground used as meaningful figure).</a:t>
            </a:r>
          </a:p>
          <a:p>
            <a:pPr lvl="3">
              <a:spcAft>
                <a:spcPts val="800"/>
              </a:spcAft>
            </a:pPr>
            <a:r>
              <a:rPr sz="1300">
                <a:solidFill>
                  <a:srgbClr val="60A5FA"/>
                </a:solidFill>
              </a:rPr>
              <a:t>- </a:t>
            </a:r>
            <a:r>
              <a:rPr sz="1300" b="0">
                <a:solidFill>
                  <a:srgbClr val="FFFFFF"/>
                </a:solidFill>
              </a:rPr>
              <a:t>Exam Sentence Starter</a:t>
            </a:r>
          </a:p>
          <a:p>
            <a:pPr lvl="3">
              <a:spcAft>
                <a:spcPts val="800"/>
              </a:spcAft>
            </a:pPr>
            <a:r>
              <a:rPr sz="1300">
                <a:solidFill>
                  <a:srgbClr val="60A5FA"/>
                </a:solidFill>
              </a:rPr>
              <a:t>- </a:t>
            </a:r>
            <a:r>
              <a:rPr sz="1300" b="0">
                <a:solidFill>
                  <a:srgbClr val="FFFFFF"/>
                </a:solidFill>
              </a:rPr>
              <a:t>"The principle of  </a:t>
            </a:r>
            <a:r>
              <a:rPr sz="1300" b="1">
                <a:solidFill>
                  <a:srgbClr val="60A5FA"/>
                </a:solidFill>
              </a:rPr>
              <a:t>figure-ground </a:t>
            </a:r>
            <a:r>
              <a:rPr sz="1300" b="0">
                <a:solidFill>
                  <a:srgbClr val="FFFFFF"/>
                </a:solidFill>
              </a:rPr>
              <a:t> is used in this design through the [contrast/negative space/colour], which clearly separates the [subject] from the [background], directing the viewer's attention to [focal point]."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60D1A"/>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none">
            <a:spAutoFit/>
          </a:bodyPr>
          <a:lstStyle/>
          <a:p>
            <a:r>
              <a:rPr sz="1300" b="1">
                <a:solidFill>
                  <a:srgbClr val="60A5FA"/>
                </a:solidFill>
              </a:rPr>
              <a:t>🎓 GESTALT 5 OF 6</a:t>
            </a:r>
          </a:p>
        </p:txBody>
      </p:sp>
      <p:sp>
        <p:nvSpPr>
          <p:cNvPr id="3" name="TextBox 2"/>
          <p:cNvSpPr txBox="1"/>
          <p:nvPr/>
        </p:nvSpPr>
        <p:spPr>
          <a:xfrm>
            <a:off x="548640" y="914400"/>
            <a:ext cx="11064240" cy="5669280"/>
          </a:xfrm>
          <a:prstGeom prst="rect">
            <a:avLst/>
          </a:prstGeom>
          <a:noFill/>
        </p:spPr>
        <p:txBody>
          <a:bodyPr wrap="square">
            <a:spAutoFit/>
          </a:bodyPr>
          <a:lstStyle/>
          <a:p>
            <a:pPr>
              <a:spcAft>
                <a:spcPts val="800"/>
              </a:spcAft>
            </a:pPr>
            <a:r>
              <a:rPr sz="1600">
                <a:solidFill>
                  <a:srgbClr val="60A5FA"/>
                </a:solidFill>
              </a:rPr>
              <a:t>● </a:t>
            </a:r>
            <a:r>
              <a:rPr sz="1600" b="0">
                <a:solidFill>
                  <a:srgbClr val="FFFFFF"/>
                </a:solidFill>
              </a:rPr>
              <a:t>Continuation</a:t>
            </a:r>
          </a:p>
          <a:p>
            <a:pPr lvl="2">
              <a:spcAft>
                <a:spcPts val="800"/>
              </a:spcAft>
            </a:pPr>
            <a:r>
              <a:rPr sz="1400">
                <a:solidFill>
                  <a:srgbClr val="60A5FA"/>
                </a:solidFill>
              </a:rPr>
              <a:t>– </a:t>
            </a:r>
            <a:r>
              <a:rPr sz="1400" b="0">
                <a:solidFill>
                  <a:srgbClr val="FFFFFF"/>
                </a:solidFill>
              </a:rPr>
              <a:t>The eye follows the smoothest  </a:t>
            </a:r>
            <a:r>
              <a:rPr sz="1400" b="1">
                <a:solidFill>
                  <a:srgbClr val="60A5FA"/>
                </a:solidFill>
              </a:rPr>
              <a:t>path or direction </a:t>
            </a:r>
            <a:r>
              <a:rPr sz="1400" b="0">
                <a:solidFill>
                  <a:srgbClr val="FFFFFF"/>
                </a:solidFill>
              </a:rPr>
              <a:t> through elements, even when a line is interrupted or changes form.</a:t>
            </a:r>
          </a:p>
          <a:p>
            <a:pPr lvl="2">
              <a:spcAft>
                <a:spcPts val="800"/>
              </a:spcAft>
            </a:pPr>
            <a:r>
              <a:rPr sz="1400">
                <a:solidFill>
                  <a:srgbClr val="60A5FA"/>
                </a:solidFill>
              </a:rPr>
              <a:t>– </a:t>
            </a:r>
            <a:r>
              <a:rPr sz="1400" b="0">
                <a:solidFill>
                  <a:srgbClr val="FFFFFF"/>
                </a:solidFill>
              </a:rPr>
              <a:t>Key IdeaOnce the eye begins moving in a direction, it continues in that trajectory. Lines, edges, and curves create "rivers" through a design that guide viewing order.</a:t>
            </a:r>
          </a:p>
          <a:p>
            <a:pPr lvl="2">
              <a:spcAft>
                <a:spcPts val="800"/>
              </a:spcAft>
            </a:pPr>
            <a:r>
              <a:rPr sz="1400">
                <a:solidFill>
                  <a:srgbClr val="60A5FA"/>
                </a:solidFill>
              </a:rPr>
              <a:t>– </a:t>
            </a:r>
            <a:r>
              <a:rPr sz="1400" b="0">
                <a:solidFill>
                  <a:srgbClr val="FFFFFF"/>
                </a:solidFill>
              </a:rPr>
              <a:t>⚠️ Spelling note: "Continuation" NOT "Continuity"</a:t>
            </a:r>
          </a:p>
          <a:p>
            <a:pPr lvl="2">
              <a:spcAft>
                <a:spcPts val="800"/>
              </a:spcAft>
            </a:pPr>
            <a:r>
              <a:rPr sz="1400">
                <a:solidFill>
                  <a:srgbClr val="60A5FA"/>
                </a:solidFill>
              </a:rPr>
              <a:t>– </a:t>
            </a:r>
            <a:r>
              <a:rPr sz="1400" b="0">
                <a:solidFill>
                  <a:srgbClr val="FFFFFF"/>
                </a:solidFill>
              </a:rPr>
              <a:t>e.g. An arrow or a row of images creates a flow that leads the viewer's eye across the page in a specific direction.</a:t>
            </a:r>
          </a:p>
          <a:p>
            <a:pPr lvl="3">
              <a:spcAft>
                <a:spcPts val="800"/>
              </a:spcAft>
            </a:pPr>
            <a:r>
              <a:rPr sz="1300">
                <a:solidFill>
                  <a:srgbClr val="60A5FA"/>
                </a:solidFill>
              </a:rPr>
              <a:t>- </a:t>
            </a:r>
            <a:r>
              <a:rPr sz="1300" b="0">
                <a:solidFill>
                  <a:srgbClr val="FFFFFF"/>
                </a:solidFill>
              </a:rPr>
              <a:t>Exam Sentence Starter</a:t>
            </a:r>
          </a:p>
          <a:p>
            <a:pPr lvl="3">
              <a:spcAft>
                <a:spcPts val="800"/>
              </a:spcAft>
            </a:pPr>
            <a:r>
              <a:rPr sz="1300">
                <a:solidFill>
                  <a:srgbClr val="60A5FA"/>
                </a:solidFill>
              </a:rPr>
              <a:t>- </a:t>
            </a:r>
            <a:r>
              <a:rPr sz="1300" b="0">
                <a:solidFill>
                  <a:srgbClr val="FFFFFF"/>
                </a:solidFill>
              </a:rPr>
              <a:t>"The principle of  </a:t>
            </a:r>
            <a:r>
              <a:rPr sz="1300" b="1">
                <a:solidFill>
                  <a:srgbClr val="60A5FA"/>
                </a:solidFill>
              </a:rPr>
              <a:t>continuation </a:t>
            </a:r>
            <a:r>
              <a:rPr sz="1300" b="0">
                <a:solidFill>
                  <a:srgbClr val="FFFFFF"/>
                </a:solidFill>
              </a:rPr>
              <a:t> is evident through the [line/curve/edge] which leads the viewer's eye from [point A] to [point B], creating a sense of movement and directing attention to [focal point]."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60D1A"/>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none">
            <a:spAutoFit/>
          </a:bodyPr>
          <a:lstStyle/>
          <a:p>
            <a:r>
              <a:rPr sz="1300" b="1">
                <a:solidFill>
                  <a:srgbClr val="60A5FA"/>
                </a:solidFill>
              </a:rPr>
              <a:t>🎓 GESTALT 6 OF 6</a:t>
            </a:r>
          </a:p>
        </p:txBody>
      </p:sp>
      <p:sp>
        <p:nvSpPr>
          <p:cNvPr id="3" name="TextBox 2"/>
          <p:cNvSpPr txBox="1"/>
          <p:nvPr/>
        </p:nvSpPr>
        <p:spPr>
          <a:xfrm>
            <a:off x="548640" y="914400"/>
            <a:ext cx="11064240" cy="5669280"/>
          </a:xfrm>
          <a:prstGeom prst="rect">
            <a:avLst/>
          </a:prstGeom>
          <a:noFill/>
        </p:spPr>
        <p:txBody>
          <a:bodyPr wrap="square">
            <a:spAutoFit/>
          </a:bodyPr>
          <a:lstStyle/>
          <a:p>
            <a:pPr>
              <a:spcAft>
                <a:spcPts val="800"/>
              </a:spcAft>
            </a:pPr>
            <a:r>
              <a:rPr sz="1600">
                <a:solidFill>
                  <a:srgbClr val="60A5FA"/>
                </a:solidFill>
              </a:rPr>
              <a:t>● </a:t>
            </a:r>
            <a:r>
              <a:rPr sz="1600" b="0">
                <a:solidFill>
                  <a:srgbClr val="FFFFFF"/>
                </a:solidFill>
              </a:rPr>
              <a:t>Area(Prägnanz)</a:t>
            </a:r>
          </a:p>
          <a:p>
            <a:pPr lvl="2">
              <a:spcAft>
                <a:spcPts val="800"/>
              </a:spcAft>
            </a:pPr>
            <a:r>
              <a:rPr sz="1400">
                <a:solidFill>
                  <a:srgbClr val="60A5FA"/>
                </a:solidFill>
              </a:rPr>
              <a:t>– </a:t>
            </a:r>
            <a:r>
              <a:rPr sz="1400" b="0">
                <a:solidFill>
                  <a:srgbClr val="FFFFFF"/>
                </a:solidFill>
              </a:rPr>
              <a:t>When two shapes overlap, the  </a:t>
            </a:r>
            <a:r>
              <a:rPr sz="1400" b="1">
                <a:solidFill>
                  <a:srgbClr val="60A5FA"/>
                </a:solidFill>
              </a:rPr>
              <a:t>smaller shape </a:t>
            </a:r>
            <a:r>
              <a:rPr sz="1400" b="0">
                <a:solidFill>
                  <a:srgbClr val="FFFFFF"/>
                </a:solidFill>
              </a:rPr>
              <a:t> is perceived as the figure (foreground), and the larger shape as the ground (background).</a:t>
            </a:r>
          </a:p>
          <a:p>
            <a:pPr lvl="2">
              <a:spcAft>
                <a:spcPts val="800"/>
              </a:spcAft>
            </a:pPr>
            <a:r>
              <a:rPr sz="1400">
                <a:solidFill>
                  <a:srgbClr val="60A5FA"/>
                </a:solidFill>
              </a:rPr>
              <a:t>– </a:t>
            </a:r>
            <a:r>
              <a:rPr sz="1400" b="0">
                <a:solidFill>
                  <a:srgbClr val="FFFFFF"/>
                </a:solidFill>
              </a:rPr>
              <a:t>Prägnanz (Law of Good Form)Also called the law of simplicity — the brain always prefers the simplest, most stable interpretation of a visual stimulus. Sometimes also referred to as the "law of good form."</a:t>
            </a:r>
          </a:p>
          <a:p>
            <a:pPr lvl="2">
              <a:spcAft>
                <a:spcPts val="800"/>
              </a:spcAft>
            </a:pPr>
            <a:r>
              <a:rPr sz="1400">
                <a:solidFill>
                  <a:srgbClr val="60A5FA"/>
                </a:solidFill>
              </a:rPr>
              <a:t>– </a:t>
            </a:r>
            <a:r>
              <a:rPr sz="1400" b="0">
                <a:solidFill>
                  <a:srgbClr val="FFFFFF"/>
                </a:solidFill>
              </a:rPr>
              <a:t>e.g. When a circle overlaps a rectangle, we see the circle as sitting "on top of" the rectangle — not as a rectangle with a circular hole.</a:t>
            </a:r>
          </a:p>
          <a:p>
            <a:pPr lvl="3">
              <a:spcAft>
                <a:spcPts val="800"/>
              </a:spcAft>
            </a:pPr>
            <a:r>
              <a:rPr sz="1300">
                <a:solidFill>
                  <a:srgbClr val="60A5FA"/>
                </a:solidFill>
              </a:rPr>
              <a:t>- </a:t>
            </a:r>
            <a:r>
              <a:rPr sz="1300" b="0">
                <a:solidFill>
                  <a:srgbClr val="FFFFFF"/>
                </a:solidFill>
              </a:rPr>
              <a:t>Exam Sentence Starter</a:t>
            </a:r>
          </a:p>
          <a:p>
            <a:pPr lvl="3">
              <a:spcAft>
                <a:spcPts val="800"/>
              </a:spcAft>
            </a:pPr>
            <a:r>
              <a:rPr sz="1300">
                <a:solidFill>
                  <a:srgbClr val="60A5FA"/>
                </a:solidFill>
              </a:rPr>
              <a:t>- </a:t>
            </a:r>
            <a:r>
              <a:rPr sz="1300" b="0">
                <a:solidFill>
                  <a:srgbClr val="FFFFFF"/>
                </a:solidFill>
              </a:rPr>
              <a:t>"The gestalt principle of  </a:t>
            </a:r>
            <a:r>
              <a:rPr sz="1300" b="1">
                <a:solidFill>
                  <a:srgbClr val="60A5FA"/>
                </a:solidFill>
              </a:rPr>
              <a:t>area </a:t>
            </a:r>
            <a:r>
              <a:rPr sz="1300" b="0">
                <a:solidFill>
                  <a:srgbClr val="FFFFFF"/>
                </a:solidFill>
              </a:rPr>
              <a:t> is used in this design as the smaller [shape] is perceived as the figure against the larger [shape] as ground, creating visual depth and hierarchy."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60D1A"/>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none">
            <a:spAutoFit/>
          </a:bodyPr>
          <a:lstStyle/>
          <a:p>
            <a:r>
              <a:rPr sz="1300" b="1">
                <a:solidFill>
                  <a:srgbClr val="60A5FA"/>
                </a:solidFill>
              </a:rPr>
              <a:t>🎓 APPLICATION</a:t>
            </a:r>
          </a:p>
        </p:txBody>
      </p:sp>
      <p:sp>
        <p:nvSpPr>
          <p:cNvPr id="3" name="TextBox 2"/>
          <p:cNvSpPr txBox="1"/>
          <p:nvPr/>
        </p:nvSpPr>
        <p:spPr>
          <a:xfrm>
            <a:off x="548640" y="914400"/>
            <a:ext cx="11064240" cy="5669280"/>
          </a:xfrm>
          <a:prstGeom prst="rect">
            <a:avLst/>
          </a:prstGeom>
          <a:noFill/>
        </p:spPr>
        <p:txBody>
          <a:bodyPr wrap="square">
            <a:spAutoFit/>
          </a:bodyPr>
          <a:lstStyle/>
          <a:p>
            <a:pPr>
              <a:spcAft>
                <a:spcPts val="800"/>
              </a:spcAft>
            </a:pPr>
            <a:r>
              <a:rPr sz="1600">
                <a:solidFill>
                  <a:srgbClr val="60A5FA"/>
                </a:solidFill>
              </a:rPr>
              <a:t>● </a:t>
            </a:r>
            <a:r>
              <a:rPr sz="1600" b="0">
                <a:solidFill>
                  <a:srgbClr val="FFFFFF"/>
                </a:solidFill>
              </a:rPr>
              <a:t>Applying Gestalt in Design</a:t>
            </a:r>
          </a:p>
          <a:p>
            <a:pPr lvl="1">
              <a:spcAft>
                <a:spcPts val="800"/>
              </a:spcAft>
            </a:pPr>
            <a:r>
              <a:rPr sz="1500">
                <a:solidFill>
                  <a:srgbClr val="60A5FA"/>
                </a:solidFill>
              </a:rPr>
              <a:t>‣ </a:t>
            </a:r>
            <a:r>
              <a:rPr sz="1500" b="0">
                <a:solidFill>
                  <a:srgbClr val="FFFFFF"/>
                </a:solidFill>
              </a:rPr>
              <a:t>Logo DesignClosure → hidden shapes in negative spaceFigure-ground → dual meaningsSimilarity → brand system consistency</a:t>
            </a:r>
          </a:p>
          <a:p>
            <a:pPr lvl="1">
              <a:spcAft>
                <a:spcPts val="800"/>
              </a:spcAft>
            </a:pPr>
            <a:r>
              <a:rPr sz="1500">
                <a:solidFill>
                  <a:srgbClr val="60A5FA"/>
                </a:solidFill>
              </a:rPr>
              <a:t>‣ </a:t>
            </a:r>
            <a:r>
              <a:rPr sz="1500" b="0">
                <a:solidFill>
                  <a:srgbClr val="FFFFFF"/>
                </a:solidFill>
              </a:rPr>
              <a:t>Page LayoutProximity → caption below imageContinuation → reading flow left→rightSimilarity → navigation items grouped</a:t>
            </a:r>
          </a:p>
          <a:p>
            <a:pPr lvl="1">
              <a:spcAft>
                <a:spcPts val="800"/>
              </a:spcAft>
            </a:pPr>
            <a:r>
              <a:rPr sz="1500">
                <a:solidFill>
                  <a:srgbClr val="60A5FA"/>
                </a:solidFill>
              </a:rPr>
              <a:t>‣ </a:t>
            </a:r>
            <a:r>
              <a:rPr sz="1500" b="0">
                <a:solidFill>
                  <a:srgbClr val="FFFFFF"/>
                </a:solidFill>
              </a:rPr>
              <a:t>Wayfinding / UIFigure-ground → button vs backgroundProximity → related controls togetherArea → small icon on large background</a:t>
            </a:r>
          </a:p>
          <a:p>
            <a:pPr>
              <a:spcAft>
                <a:spcPts val="800"/>
              </a:spcAft>
            </a:pPr>
            <a:r>
              <a:rPr sz="1600">
                <a:solidFill>
                  <a:srgbClr val="60A5FA"/>
                </a:solidFill>
              </a:rPr>
              <a:t>● </a:t>
            </a:r>
            <a:r>
              <a:rPr sz="1600" b="0">
                <a:solidFill>
                  <a:srgbClr val="FFFFFF"/>
                </a:solidFill>
              </a:rPr>
              <a:t>Key VCE Exam TipWhen answering analysis questions, always  </a:t>
            </a:r>
            <a:r>
              <a:rPr sz="1600" b="1">
                <a:solidFill>
                  <a:srgbClr val="60A5FA"/>
                </a:solidFill>
              </a:rPr>
              <a:t>name the gestalt principle </a:t>
            </a:r>
            <a:r>
              <a:rPr sz="1600" b="0">
                <a:solidFill>
                  <a:srgbClr val="FFFFFF"/>
                </a:solidFill>
              </a:rPr>
              <a:t>,  </a:t>
            </a:r>
            <a:r>
              <a:rPr sz="1600" b="1">
                <a:solidFill>
                  <a:srgbClr val="60A5FA"/>
                </a:solidFill>
              </a:rPr>
              <a:t>describe how it appears </a:t>
            </a:r>
            <a:r>
              <a:rPr sz="1600" b="0">
                <a:solidFill>
                  <a:srgbClr val="FFFFFF"/>
                </a:solidFill>
              </a:rPr>
              <a:t> in the design (specific visual evidence), and explain the  </a:t>
            </a:r>
            <a:r>
              <a:rPr sz="1600" b="1">
                <a:solidFill>
                  <a:srgbClr val="60A5FA"/>
                </a:solidFill>
              </a:rPr>
              <a:t>effect on the viewer </a:t>
            </a:r>
            <a:r>
              <a:rPr sz="1600" b="0">
                <a:solidFill>
                  <a:srgbClr val="FFFFFF"/>
                </a:solidFill>
              </a:rPr>
              <a:t>. Three parts = full marks.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60D1A"/>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none">
            <a:spAutoFit/>
          </a:bodyPr>
          <a:lstStyle/>
          <a:p>
            <a:r>
              <a:rPr sz="1300" b="1">
                <a:solidFill>
                  <a:srgbClr val="60A5FA"/>
                </a:solidFill>
              </a:rPr>
              <a:t>📝 EXAM TECHNIQUE</a:t>
            </a:r>
          </a:p>
        </p:txBody>
      </p:sp>
      <p:sp>
        <p:nvSpPr>
          <p:cNvPr id="3" name="TextBox 2"/>
          <p:cNvSpPr txBox="1"/>
          <p:nvPr/>
        </p:nvSpPr>
        <p:spPr>
          <a:xfrm>
            <a:off x="548640" y="914400"/>
            <a:ext cx="11064240" cy="5669280"/>
          </a:xfrm>
          <a:prstGeom prst="rect">
            <a:avLst/>
          </a:prstGeom>
          <a:noFill/>
        </p:spPr>
        <p:txBody>
          <a:bodyPr wrap="square">
            <a:spAutoFit/>
          </a:bodyPr>
          <a:lstStyle/>
          <a:p>
            <a:pPr>
              <a:spcAft>
                <a:spcPts val="800"/>
              </a:spcAft>
            </a:pPr>
            <a:r>
              <a:rPr sz="1600">
                <a:solidFill>
                  <a:srgbClr val="60A5FA"/>
                </a:solidFill>
              </a:rPr>
              <a:t>● </a:t>
            </a:r>
            <a:r>
              <a:rPr sz="1600" b="0">
                <a:solidFill>
                  <a:srgbClr val="FFFFFF"/>
                </a:solidFill>
              </a:rPr>
              <a:t>Writing Gestalt Analysis</a:t>
            </a:r>
          </a:p>
          <a:p>
            <a:pPr lvl="2">
              <a:spcAft>
                <a:spcPts val="800"/>
              </a:spcAft>
            </a:pPr>
            <a:r>
              <a:rPr sz="1400">
                <a:solidFill>
                  <a:srgbClr val="60A5FA"/>
                </a:solidFill>
              </a:rPr>
              <a:t>– </a:t>
            </a:r>
            <a:r>
              <a:rPr sz="1400" b="0">
                <a:solidFill>
                  <a:srgbClr val="FFFFFF"/>
                </a:solidFill>
              </a:rPr>
              <a:t>Use the  </a:t>
            </a:r>
            <a:r>
              <a:rPr sz="1400" b="1">
                <a:solidFill>
                  <a:srgbClr val="60A5FA"/>
                </a:solidFill>
              </a:rPr>
              <a:t>NAME → EVIDENCE → EFFECT </a:t>
            </a:r>
            <a:r>
              <a:rPr sz="1400" b="0">
                <a:solidFill>
                  <a:srgbClr val="FFFFFF"/>
                </a:solidFill>
              </a:rPr>
              <a:t> structure for full marks.</a:t>
            </a:r>
          </a:p>
          <a:p>
            <a:pPr lvl="3">
              <a:spcAft>
                <a:spcPts val="800"/>
              </a:spcAft>
            </a:pPr>
            <a:r>
              <a:rPr sz="1300">
                <a:solidFill>
                  <a:srgbClr val="60A5FA"/>
                </a:solidFill>
              </a:rPr>
              <a:t>- </a:t>
            </a:r>
            <a:r>
              <a:rPr sz="1300" b="0">
                <a:solidFill>
                  <a:srgbClr val="FFFFFF"/>
                </a:solidFill>
              </a:rPr>
              <a:t>✅ Strong Response (full marks)</a:t>
            </a:r>
          </a:p>
          <a:p>
            <a:pPr lvl="3">
              <a:spcAft>
                <a:spcPts val="800"/>
              </a:spcAft>
            </a:pPr>
            <a:r>
              <a:rPr sz="1300">
                <a:solidFill>
                  <a:srgbClr val="60A5FA"/>
                </a:solidFill>
              </a:rPr>
              <a:t>- </a:t>
            </a:r>
            <a:r>
              <a:rPr sz="1300" b="0">
                <a:solidFill>
                  <a:srgbClr val="FFFFFF"/>
                </a:solidFill>
              </a:rPr>
              <a:t>"The  </a:t>
            </a:r>
            <a:r>
              <a:rPr sz="1300" b="1">
                <a:solidFill>
                  <a:srgbClr val="60A5FA"/>
                </a:solidFill>
              </a:rPr>
              <a:t>gestalt principle of proximity </a:t>
            </a:r>
            <a:r>
              <a:rPr sz="1300" b="0">
                <a:solidFill>
                  <a:srgbClr val="FFFFFF"/>
                </a:solidFill>
              </a:rPr>
              <a:t> is used in this poster design through the placement of the event name, date and venue text in tight vertical grouping in the lower third. This clusters the key information, signalling to the viewer that the three text elements are functionally related, making the poster easier to read quickly."</a:t>
            </a:r>
          </a:p>
          <a:p>
            <a:pPr lvl="3">
              <a:spcAft>
                <a:spcPts val="800"/>
              </a:spcAft>
            </a:pPr>
            <a:r>
              <a:rPr sz="1300">
                <a:solidFill>
                  <a:srgbClr val="60A5FA"/>
                </a:solidFill>
              </a:rPr>
              <a:t>- </a:t>
            </a:r>
            <a:r>
              <a:rPr sz="1300" b="0">
                <a:solidFill>
                  <a:srgbClr val="FFFFFF"/>
                </a:solidFill>
              </a:rPr>
              <a:t>❌ Weak Response (partial marks)</a:t>
            </a:r>
          </a:p>
          <a:p>
            <a:pPr lvl="3">
              <a:spcAft>
                <a:spcPts val="800"/>
              </a:spcAft>
            </a:pPr>
            <a:r>
              <a:rPr sz="1300">
                <a:solidFill>
                  <a:srgbClr val="60A5FA"/>
                </a:solidFill>
              </a:rPr>
              <a:t>- </a:t>
            </a:r>
            <a:r>
              <a:rPr sz="1300" b="0">
                <a:solidFill>
                  <a:srgbClr val="FFFFFF"/>
                </a:solidFill>
              </a:rPr>
              <a:t>"Proximity is used because the text is close together."</a:t>
            </a:r>
          </a:p>
          <a:p>
            <a:pPr lvl="2">
              <a:spcAft>
                <a:spcPts val="800"/>
              </a:spcAft>
            </a:pPr>
            <a:r>
              <a:rPr sz="1400">
                <a:solidFill>
                  <a:srgbClr val="60A5FA"/>
                </a:solidFill>
              </a:rPr>
              <a:t>– </a:t>
            </a:r>
            <a:r>
              <a:rPr sz="1400" b="0">
                <a:solidFill>
                  <a:srgbClr val="FFFFFF"/>
                </a:solidFill>
              </a:rPr>
              <a:t>The 3-Part Formula </a:t>
            </a:r>
            <a:r>
              <a:rPr sz="1400" b="1">
                <a:solidFill>
                  <a:srgbClr val="60A5FA"/>
                </a:solidFill>
              </a:rPr>
              <a:t>1. Name </a:t>
            </a:r>
            <a:r>
              <a:rPr sz="1400" b="0">
                <a:solidFill>
                  <a:srgbClr val="FFFFFF"/>
                </a:solidFill>
              </a:rPr>
              <a:t> the gestalt principle </a:t>
            </a:r>
            <a:r>
              <a:rPr sz="1400" b="1">
                <a:solidFill>
                  <a:srgbClr val="60A5FA"/>
                </a:solidFill>
              </a:rPr>
              <a:t>2. Evidence </a:t>
            </a:r>
            <a:r>
              <a:rPr sz="1400" b="0">
                <a:solidFill>
                  <a:srgbClr val="FFFFFF"/>
                </a:solidFill>
              </a:rPr>
              <a:t> — specific visual detail </a:t>
            </a:r>
            <a:r>
              <a:rPr sz="1400" b="1">
                <a:solidFill>
                  <a:srgbClr val="60A5FA"/>
                </a:solidFill>
              </a:rPr>
              <a:t>3. Effect </a:t>
            </a:r>
            <a:r>
              <a:rPr sz="1400" b="0">
                <a:solidFill>
                  <a:srgbClr val="FFFFFF"/>
                </a:solidFill>
              </a:rPr>
              <a:t> — impact on the viewer</a:t>
            </a:r>
          </a:p>
          <a:p>
            <a:pPr lvl="2">
              <a:spcAft>
                <a:spcPts val="800"/>
              </a:spcAft>
            </a:pPr>
            <a:r>
              <a:rPr sz="1400">
                <a:solidFill>
                  <a:srgbClr val="60A5FA"/>
                </a:solidFill>
              </a:rPr>
              <a:t>– </a:t>
            </a:r>
            <a:r>
              <a:rPr sz="1400" b="0">
                <a:solidFill>
                  <a:srgbClr val="FFFFFF"/>
                </a:solidFill>
              </a:rPr>
              <a:t>Useful Effect Phrases"...directing the viewer's attention to...""...creating a sense of unity/cohesion...""...implying a visual relationship between...""...guiding the eye from X to Y...""...communicating that [elements] are related..."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60D1A"/>
        </a:solidFill>
        <a:effectLst/>
      </p:bgPr>
    </p:bg>
    <p:spTree>
      <p:nvGrpSpPr>
        <p:cNvPr id="1" name=""/>
        <p:cNvGrpSpPr/>
        <p:nvPr/>
      </p:nvGrpSpPr>
      <p:grpSpPr/>
      <p:sp>
        <p:nvSpPr>
          <p:cNvPr id="2" name="TextBox 1"/>
          <p:cNvSpPr txBox="1"/>
          <p:nvPr/>
        </p:nvSpPr>
        <p:spPr>
          <a:xfrm>
            <a:off x="548640" y="320040"/>
            <a:ext cx="10972800" cy="365760"/>
          </a:xfrm>
          <a:prstGeom prst="rect">
            <a:avLst/>
          </a:prstGeom>
          <a:noFill/>
        </p:spPr>
        <p:txBody>
          <a:bodyPr wrap="none">
            <a:spAutoFit/>
          </a:bodyPr>
          <a:lstStyle/>
          <a:p>
            <a:r>
              <a:rPr sz="1300" b="1">
                <a:solidFill>
                  <a:srgbClr val="60A5FA"/>
                </a:solidFill>
              </a:rPr>
              <a:t>🎓 SUMMARY</a:t>
            </a:r>
          </a:p>
        </p:txBody>
      </p:sp>
      <p:sp>
        <p:nvSpPr>
          <p:cNvPr id="3" name="TextBox 2"/>
          <p:cNvSpPr txBox="1"/>
          <p:nvPr/>
        </p:nvSpPr>
        <p:spPr>
          <a:xfrm>
            <a:off x="548640" y="914400"/>
            <a:ext cx="11064240" cy="5669280"/>
          </a:xfrm>
          <a:prstGeom prst="rect">
            <a:avLst/>
          </a:prstGeom>
          <a:noFill/>
        </p:spPr>
        <p:txBody>
          <a:bodyPr wrap="square">
            <a:spAutoFit/>
          </a:bodyPr>
          <a:lstStyle/>
          <a:p>
            <a:pPr>
              <a:spcAft>
                <a:spcPts val="800"/>
              </a:spcAft>
            </a:pPr>
            <a:r>
              <a:rPr sz="1600">
                <a:solidFill>
                  <a:srgbClr val="60A5FA"/>
                </a:solidFill>
              </a:rPr>
              <a:t>● </a:t>
            </a:r>
            <a:r>
              <a:rPr sz="1600" b="0">
                <a:solidFill>
                  <a:srgbClr val="FFFFFF"/>
                </a:solidFill>
              </a:rPr>
              <a:t>All 6 Gestalt Principles</a:t>
            </a:r>
          </a:p>
          <a:p>
            <a:pPr lvl="1">
              <a:spcAft>
                <a:spcPts val="800"/>
              </a:spcAft>
            </a:pPr>
            <a:r>
              <a:rPr sz="1500">
                <a:solidFill>
                  <a:srgbClr val="60A5FA"/>
                </a:solidFill>
              </a:rPr>
              <a:t>‣ </a:t>
            </a:r>
            <a:r>
              <a:rPr sz="1500" b="0">
                <a:solidFill>
                  <a:srgbClr val="FFFFFF"/>
                </a:solidFill>
              </a:rPr>
              <a:t>🔵🔵🔵</a:t>
            </a:r>
          </a:p>
          <a:p>
            <a:pPr lvl="1">
              <a:spcAft>
                <a:spcPts val="800"/>
              </a:spcAft>
            </a:pPr>
            <a:r>
              <a:rPr sz="1500">
                <a:solidFill>
                  <a:srgbClr val="60A5FA"/>
                </a:solidFill>
              </a:rPr>
              <a:t>‣ </a:t>
            </a:r>
            <a:r>
              <a:rPr sz="1500" b="0">
                <a:solidFill>
                  <a:srgbClr val="FFFFFF"/>
                </a:solidFill>
              </a:rPr>
              <a:t>Similarity</a:t>
            </a:r>
          </a:p>
          <a:p>
            <a:pPr lvl="1">
              <a:spcAft>
                <a:spcPts val="800"/>
              </a:spcAft>
            </a:pPr>
            <a:r>
              <a:rPr sz="1500">
                <a:solidFill>
                  <a:srgbClr val="60A5FA"/>
                </a:solidFill>
              </a:rPr>
              <a:t>‣ </a:t>
            </a:r>
            <a:r>
              <a:rPr sz="1500" b="0">
                <a:solidFill>
                  <a:srgbClr val="FFFFFF"/>
                </a:solidFill>
              </a:rPr>
              <a:t>Shared visual traits group elements</a:t>
            </a:r>
          </a:p>
          <a:p>
            <a:pPr lvl="1">
              <a:spcAft>
                <a:spcPts val="800"/>
              </a:spcAft>
            </a:pPr>
            <a:r>
              <a:rPr sz="1500">
                <a:solidFill>
                  <a:srgbClr val="60A5FA"/>
                </a:solidFill>
              </a:rPr>
              <a:t>‣ </a:t>
            </a:r>
            <a:r>
              <a:rPr sz="1500" b="0">
                <a:solidFill>
                  <a:srgbClr val="FFFFFF"/>
                </a:solidFill>
              </a:rPr>
              <a:t>⦿ ⦿</a:t>
            </a:r>
          </a:p>
          <a:p>
            <a:pPr lvl="1">
              <a:spcAft>
                <a:spcPts val="800"/>
              </a:spcAft>
            </a:pPr>
            <a:r>
              <a:rPr sz="1500">
                <a:solidFill>
                  <a:srgbClr val="60A5FA"/>
                </a:solidFill>
              </a:rPr>
              <a:t>‣ </a:t>
            </a:r>
            <a:r>
              <a:rPr sz="1500" b="0">
                <a:solidFill>
                  <a:srgbClr val="FFFFFF"/>
                </a:solidFill>
              </a:rPr>
              <a:t>Proximity</a:t>
            </a:r>
          </a:p>
          <a:p>
            <a:pPr lvl="1">
              <a:spcAft>
                <a:spcPts val="800"/>
              </a:spcAft>
            </a:pPr>
            <a:r>
              <a:rPr sz="1500">
                <a:solidFill>
                  <a:srgbClr val="60A5FA"/>
                </a:solidFill>
              </a:rPr>
              <a:t>‣ </a:t>
            </a:r>
            <a:r>
              <a:rPr sz="1500" b="0">
                <a:solidFill>
                  <a:srgbClr val="FFFFFF"/>
                </a:solidFill>
              </a:rPr>
              <a:t>Closeness implies relationship</a:t>
            </a:r>
          </a:p>
          <a:p>
            <a:pPr lvl="1">
              <a:spcAft>
                <a:spcPts val="800"/>
              </a:spcAft>
            </a:pPr>
            <a:r>
              <a:rPr sz="1500">
                <a:solidFill>
                  <a:srgbClr val="60A5FA"/>
                </a:solidFill>
              </a:rPr>
              <a:t>‣ </a:t>
            </a:r>
            <a:r>
              <a:rPr sz="1500" b="0">
                <a:solidFill>
                  <a:srgbClr val="FFFFFF"/>
                </a:solidFill>
              </a:rPr>
              <a:t>○ ◯</a:t>
            </a:r>
          </a:p>
          <a:p>
            <a:pPr lvl="1">
              <a:spcAft>
                <a:spcPts val="800"/>
              </a:spcAft>
            </a:pPr>
            <a:r>
              <a:rPr sz="1500">
                <a:solidFill>
                  <a:srgbClr val="60A5FA"/>
                </a:solidFill>
              </a:rPr>
              <a:t>‣ </a:t>
            </a:r>
            <a:r>
              <a:rPr sz="1500" b="0">
                <a:solidFill>
                  <a:srgbClr val="FFFFFF"/>
                </a:solidFill>
              </a:rPr>
              <a:t>Closure</a:t>
            </a:r>
          </a:p>
          <a:p>
            <a:pPr lvl="1">
              <a:spcAft>
                <a:spcPts val="800"/>
              </a:spcAft>
            </a:pPr>
            <a:r>
              <a:rPr sz="1500">
                <a:solidFill>
                  <a:srgbClr val="60A5FA"/>
                </a:solidFill>
              </a:rPr>
              <a:t>‣ </a:t>
            </a:r>
            <a:r>
              <a:rPr sz="1500" b="0">
                <a:solidFill>
                  <a:srgbClr val="FFFFFF"/>
                </a:solidFill>
              </a:rPr>
              <a:t>Mind fills in missing parts</a:t>
            </a:r>
          </a:p>
          <a:p>
            <a:pPr lvl="1">
              <a:spcAft>
                <a:spcPts val="800"/>
              </a:spcAft>
            </a:pPr>
            <a:r>
              <a:rPr sz="1500">
                <a:solidFill>
                  <a:srgbClr val="60A5FA"/>
                </a:solidFill>
              </a:rPr>
              <a:t>‣ </a:t>
            </a:r>
            <a:r>
              <a:rPr sz="1500" b="0">
                <a:solidFill>
                  <a:srgbClr val="FFFFFF"/>
                </a:solidFill>
              </a:rPr>
              <a:t>◐</a:t>
            </a:r>
          </a:p>
          <a:p>
            <a:pPr lvl="1">
              <a:spcAft>
                <a:spcPts val="800"/>
              </a:spcAft>
            </a:pPr>
            <a:r>
              <a:rPr sz="1500">
                <a:solidFill>
                  <a:srgbClr val="60A5FA"/>
                </a:solidFill>
              </a:rPr>
              <a:t>‣ </a:t>
            </a:r>
            <a:r>
              <a:rPr sz="1500" b="0">
                <a:solidFill>
                  <a:srgbClr val="FFFFFF"/>
                </a:solidFill>
              </a:rPr>
              <a:t>Figure-Ground</a:t>
            </a:r>
          </a:p>
          <a:p>
            <a:pPr lvl="1">
              <a:spcAft>
                <a:spcPts val="800"/>
              </a:spcAft>
            </a:pPr>
            <a:r>
              <a:rPr sz="1500">
                <a:solidFill>
                  <a:srgbClr val="60A5FA"/>
                </a:solidFill>
              </a:rPr>
              <a:t>‣ </a:t>
            </a:r>
            <a:r>
              <a:rPr sz="1500" b="0">
                <a:solidFill>
                  <a:srgbClr val="FFFFFF"/>
                </a:solidFill>
              </a:rPr>
              <a:t>Subject vs background separation</a:t>
            </a:r>
          </a:p>
          <a:p>
            <a:pPr lvl="1">
              <a:spcAft>
                <a:spcPts val="800"/>
              </a:spcAft>
            </a:pPr>
            <a:r>
              <a:rPr sz="1500">
                <a:solidFill>
                  <a:srgbClr val="60A5FA"/>
                </a:solidFill>
              </a:rPr>
              <a:t>‣ </a:t>
            </a:r>
            <a:r>
              <a:rPr sz="1500" b="0">
                <a:solidFill>
                  <a:srgbClr val="FFFFFF"/>
                </a:solidFill>
              </a:rPr>
              <a:t>↗</a:t>
            </a:r>
          </a:p>
          <a:p>
            <a:pPr lvl="1">
              <a:spcAft>
                <a:spcPts val="800"/>
              </a:spcAft>
            </a:pPr>
            <a:r>
              <a:rPr sz="1500">
                <a:solidFill>
                  <a:srgbClr val="60A5FA"/>
                </a:solidFill>
              </a:rPr>
              <a:t>‣ </a:t>
            </a:r>
            <a:r>
              <a:rPr sz="1500" b="0">
                <a:solidFill>
                  <a:srgbClr val="FFFFFF"/>
                </a:solidFill>
              </a:rPr>
              <a:t>Continuation</a:t>
            </a:r>
          </a:p>
          <a:p>
            <a:pPr lvl="1">
              <a:spcAft>
                <a:spcPts val="800"/>
              </a:spcAft>
            </a:pPr>
            <a:r>
              <a:rPr sz="1500">
                <a:solidFill>
                  <a:srgbClr val="60A5FA"/>
                </a:solidFill>
              </a:rPr>
              <a:t>‣ </a:t>
            </a:r>
            <a:r>
              <a:rPr sz="1500" b="0">
                <a:solidFill>
                  <a:srgbClr val="FFFFFF"/>
                </a:solidFill>
              </a:rPr>
              <a:t>Eye follows smooth paths</a:t>
            </a:r>
          </a:p>
          <a:p>
            <a:pPr lvl="1">
              <a:spcAft>
                <a:spcPts val="800"/>
              </a:spcAft>
            </a:pPr>
            <a:r>
              <a:rPr sz="1500">
                <a:solidFill>
                  <a:srgbClr val="60A5FA"/>
                </a:solidFill>
              </a:rPr>
              <a:t>‣ </a:t>
            </a:r>
            <a:r>
              <a:rPr sz="1500" b="0">
                <a:solidFill>
                  <a:srgbClr val="FFFFFF"/>
                </a:solidFill>
              </a:rPr>
              <a:t>⬛🔵</a:t>
            </a:r>
          </a:p>
          <a:p>
            <a:pPr lvl="1">
              <a:spcAft>
                <a:spcPts val="800"/>
              </a:spcAft>
            </a:pPr>
            <a:r>
              <a:rPr sz="1500">
                <a:solidFill>
                  <a:srgbClr val="60A5FA"/>
                </a:solidFill>
              </a:rPr>
              <a:t>‣ </a:t>
            </a:r>
            <a:r>
              <a:rPr sz="1500" b="0">
                <a:solidFill>
                  <a:srgbClr val="FFFFFF"/>
                </a:solidFill>
              </a:rPr>
              <a:t>Area</a:t>
            </a:r>
          </a:p>
          <a:p>
            <a:pPr lvl="1">
              <a:spcAft>
                <a:spcPts val="800"/>
              </a:spcAft>
            </a:pPr>
            <a:r>
              <a:rPr sz="1500">
                <a:solidFill>
                  <a:srgbClr val="60A5FA"/>
                </a:solidFill>
              </a:rPr>
              <a:t>‣ </a:t>
            </a:r>
            <a:r>
              <a:rPr sz="1500" b="0">
                <a:solidFill>
                  <a:srgbClr val="FFFFFF"/>
                </a:solidFill>
              </a:rPr>
              <a:t>Smaller = figure, larger = ground</a:t>
            </a:r>
          </a:p>
          <a:p>
            <a:pPr>
              <a:spcAft>
                <a:spcPts val="800"/>
              </a:spcAft>
            </a:pPr>
            <a:r>
              <a:rPr sz="1600">
                <a:solidFill>
                  <a:srgbClr val="60A5FA"/>
                </a:solidFill>
              </a:rPr>
              <a:t>● </a:t>
            </a:r>
            <a:r>
              <a:rPr sz="1600" b="0">
                <a:solidFill>
                  <a:srgbClr val="FFFFFF"/>
                </a:solidFill>
              </a:rPr>
              <a:t>Remember: Similarity · Proximity · Closure · Figure-Ground · Continuation · AreaVCAA 2024 VCE VCD — Unit 1 AOS 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