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8CF8"/>
                </a:solidFill>
              </a:rPr>
              <a:t>VCAA-VCD-IND1 · UNIT 2 AOS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Design &amp; Industry Connections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818C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Visual Communication Design · Year 11 VCE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818C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Use ← → arrow keys to navigate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8CF8"/>
                </a:solidFill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Design Fields Overlap &amp; Connect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818CF8"/>
                </a:solidFill>
              </a:rPr>
              <a:t>● </a:t>
            </a:r>
            <a:r>
              <a:rPr sz="1600" b="0">
                <a:solidFill>
                  <a:srgbClr val="FFFFFF"/>
                </a:solidFill>
              </a:rPr>
              <a:t>Real design projects rarely sit inside a single field. A single product often requires  </a:t>
            </a:r>
            <a:r>
              <a:rPr sz="1600" b="1">
                <a:solidFill>
                  <a:srgbClr val="818CF8"/>
                </a:solidFill>
              </a:rPr>
              <a:t>multiple design fields working together. </a:t>
            </a:r>
            <a:r>
              <a:rPr sz="1600" b="0">
                <a:solidFill>
                  <a:srgbClr val="FFFFFF"/>
                </a:solidFill>
              </a:rPr>
              <a:t>Example: launching a café involves communication design (branding), environmental design (fit-out), industrial design (furniture) and interaction design (ordering app) — often coordinated by different specialists.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818C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Why This Matters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818CF8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Designers must  </a:t>
            </a:r>
            <a:r>
              <a:rPr sz="1400" b="1">
                <a:solidFill>
                  <a:srgbClr val="818CF8"/>
                </a:solidFill>
              </a:rPr>
              <a:t>collaborate </a:t>
            </a:r>
            <a:r>
              <a:rPr sz="1400" b="0">
                <a:solidFill>
                  <a:srgbClr val="FFFFFF"/>
                </a:solidFill>
              </a:rPr>
              <a:t> across disciplines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818CF8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Understand how their design fits a  </a:t>
            </a:r>
            <a:r>
              <a:rPr sz="1400" b="1">
                <a:solidFill>
                  <a:srgbClr val="818CF8"/>
                </a:solidFill>
              </a:rPr>
              <a:t>bigger production system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818CF8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Work within industry  </a:t>
            </a:r>
            <a:r>
              <a:rPr sz="1400" b="1">
                <a:solidFill>
                  <a:srgbClr val="818CF8"/>
                </a:solidFill>
              </a:rPr>
              <a:t>standards, ethics and IP law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8CF8"/>
                </a:solidFill>
              </a:rPr>
              <a:t>KEY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Collaboration in Industry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818C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Designers rarely work in isolation. They collaborate with other professionals and tradespeople to bring a design from concept to reality.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818C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Who Designers Collaborate With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818CF8"/>
                </a:solidFill>
              </a:rPr>
              <a:t>– </a:t>
            </a:r>
            <a:r>
              <a:rPr sz="1400" b="1">
                <a:solidFill>
                  <a:srgbClr val="818CF8"/>
                </a:solidFill>
              </a:rPr>
              <a:t>Clients </a:t>
            </a:r>
            <a:r>
              <a:rPr sz="1400" b="0">
                <a:solidFill>
                  <a:srgbClr val="FFFFFF"/>
                </a:solidFill>
              </a:rPr>
              <a:t> — provide the brief, approve directions, fund the project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818CF8"/>
                </a:solidFill>
              </a:rPr>
              <a:t>– </a:t>
            </a:r>
            <a:r>
              <a:rPr sz="1400" b="1">
                <a:solidFill>
                  <a:srgbClr val="818CF8"/>
                </a:solidFill>
              </a:rPr>
              <a:t>Manufacturers / builders </a:t>
            </a:r>
            <a:r>
              <a:rPr sz="1400" b="0">
                <a:solidFill>
                  <a:srgbClr val="FFFFFF"/>
                </a:solidFill>
              </a:rPr>
              <a:t> — turn designs into physical reality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818CF8"/>
                </a:solidFill>
              </a:rPr>
              <a:t>– </a:t>
            </a:r>
            <a:r>
              <a:rPr sz="1400" b="1">
                <a:solidFill>
                  <a:srgbClr val="818CF8"/>
                </a:solidFill>
              </a:rPr>
              <a:t>Other designers </a:t>
            </a:r>
            <a:r>
              <a:rPr sz="1400" b="0">
                <a:solidFill>
                  <a:srgbClr val="FFFFFF"/>
                </a:solidFill>
              </a:rPr>
              <a:t> — e.g. a graphic designer working with a UX designer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818CF8"/>
                </a:solidFill>
              </a:rPr>
              <a:t>– </a:t>
            </a:r>
            <a:r>
              <a:rPr sz="1400" b="1">
                <a:solidFill>
                  <a:srgbClr val="818CF8"/>
                </a:solidFill>
              </a:rPr>
              <a:t>Marketing / printers / developers </a:t>
            </a:r>
            <a:r>
              <a:rPr sz="1400" b="0">
                <a:solidFill>
                  <a:srgbClr val="FFFFFF"/>
                </a:solidFill>
              </a:rPr>
              <a:t> — deliver the design to its final audience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818C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Why Collaboration Matters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818C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No single designer has expertise in every stage — from materials science to code to construction. Good collaboration keeps the design's original intent intact as it moves through production.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8CF8"/>
                </a:solidFill>
              </a:rPr>
              <a:t>KEY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Factors Shaping Industry Practice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818C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🌱 Sustainability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818C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Materials, energy use, waste and end-of-life disposal are now standard client requirements.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818C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💻 Technology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818C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New software, materials and manufacturing (3D printing, AI tools) change what's possible and expected.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818C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⚖️ Ethics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818C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Fair labour, honest advertising, accessibility and inclusive design are professional expectations.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818C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©️ Intellectual Property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818C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Copyright, trademarks and licensing protect original design work from unauthorised copying.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818CF8"/>
                </a:solidFill>
              </a:rPr>
              <a:t>● </a:t>
            </a:r>
            <a:r>
              <a:rPr sz="1600" b="0">
                <a:solidFill>
                  <a:srgbClr val="FFFFFF"/>
                </a:solidFill>
              </a:rPr>
              <a:t>These factors don't just affect big companies — they shape  </a:t>
            </a:r>
            <a:r>
              <a:rPr sz="1600" b="1">
                <a:solidFill>
                  <a:srgbClr val="818CF8"/>
                </a:solidFill>
              </a:rPr>
              <a:t>every </a:t>
            </a:r>
            <a:r>
              <a:rPr sz="1600" b="0">
                <a:solidFill>
                  <a:srgbClr val="FFFFFF"/>
                </a:solidFill>
              </a:rPr>
              <a:t> design decision, from the materials in your VCD folio model to the fonts you're licensed to 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8CF8"/>
                </a:solidFill>
              </a:rPr>
              <a:t>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Intellectual Property (IP)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818C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Intellectual property law protects original creative and design work from being copied or used without permission.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818C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Types Relevant to Designers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818CF8"/>
                </a:solidFill>
              </a:rPr>
              <a:t>– </a:t>
            </a:r>
            <a:r>
              <a:rPr sz="1400" b="1">
                <a:solidFill>
                  <a:srgbClr val="818CF8"/>
                </a:solidFill>
              </a:rPr>
              <a:t>Copyright </a:t>
            </a:r>
            <a:r>
              <a:rPr sz="1400" b="0">
                <a:solidFill>
                  <a:srgbClr val="FFFFFF"/>
                </a:solidFill>
              </a:rPr>
              <a:t> — automatically protects original creative works (images, layouts, text)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818CF8"/>
                </a:solidFill>
              </a:rPr>
              <a:t>– </a:t>
            </a:r>
            <a:r>
              <a:rPr sz="1400" b="1">
                <a:solidFill>
                  <a:srgbClr val="818CF8"/>
                </a:solidFill>
              </a:rPr>
              <a:t>Trademark </a:t>
            </a:r>
            <a:r>
              <a:rPr sz="1400" b="0">
                <a:solidFill>
                  <a:srgbClr val="FFFFFF"/>
                </a:solidFill>
              </a:rPr>
              <a:t> — protects brand names, logos and slogans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818CF8"/>
                </a:solidFill>
              </a:rPr>
              <a:t>– </a:t>
            </a:r>
            <a:r>
              <a:rPr sz="1400" b="1">
                <a:solidFill>
                  <a:srgbClr val="818CF8"/>
                </a:solidFill>
              </a:rPr>
              <a:t>Design registration </a:t>
            </a:r>
            <a:r>
              <a:rPr sz="1400" b="0">
                <a:solidFill>
                  <a:srgbClr val="FFFFFF"/>
                </a:solidFill>
              </a:rPr>
              <a:t> — protects the visual appearance of a manufactured product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818CF8"/>
                </a:solidFill>
              </a:rPr>
              <a:t>– </a:t>
            </a:r>
            <a:r>
              <a:rPr sz="1400" b="1">
                <a:solidFill>
                  <a:srgbClr val="818CF8"/>
                </a:solidFill>
              </a:rPr>
              <a:t>Patent </a:t>
            </a:r>
            <a:r>
              <a:rPr sz="1400" b="0">
                <a:solidFill>
                  <a:srgbClr val="FFFFFF"/>
                </a:solidFill>
              </a:rPr>
              <a:t> — protects a new invention or functional process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818C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Why It Matters to You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818C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In your own folio, always use your own photography/imagery or correctly licensed stock and fonts — using copyrighted material without permission is a real industry issue, not just a school rule.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8CF8"/>
                </a:solidFill>
              </a:rPr>
              <a:t>EXAM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Answering Industry Connection Questions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spcAft>
                <a:spcPts val="800"/>
              </a:spcAft>
            </a:pPr>
            <a:r>
              <a:rPr sz="1400">
                <a:solidFill>
                  <a:srgbClr val="818CF8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Connection → Roles → Factor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818CF8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1. Identify which design fields/roles are connected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818CF8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2. Explain how they collaborate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818CF8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3. Link to a factor (sustainability, technology, ethics, IP)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818C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Sentence Starters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818CF8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"This project connects [field A] and [field B] because..."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818CF8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"The designer collaborated with [role] to..."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818CF8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"This decision reflects growing industry concern for [factor]..."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818CF8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"Without protection of [IP type], this design could be..."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8CF8"/>
                </a:solidFill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Design &amp; Industry — Quick Reference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818C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Overlap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818C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Design fields rarely work alone on real projects.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818C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Collaboration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818C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Clients, manufacturers, other designers, developers.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818C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Industry Factors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818C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Sustainability, technology, ethics, IP.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818C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IP Types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818CF8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Copyright, trademark, design registration, patent.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818CF8"/>
                </a:solidFill>
              </a:rPr>
              <a:t>● </a:t>
            </a:r>
            <a:r>
              <a:rPr sz="1600" b="0">
                <a:solidFill>
                  <a:srgbClr val="FFFFFF"/>
                </a:solidFill>
              </a:rPr>
              <a:t> 💡 Reminder: always name the  </a:t>
            </a:r>
            <a:r>
              <a:rPr sz="1600" b="1">
                <a:solidFill>
                  <a:srgbClr val="818CF8"/>
                </a:solidFill>
              </a:rPr>
              <a:t>specific roles or IP type </a:t>
            </a:r>
            <a:r>
              <a:rPr sz="1600" b="0">
                <a:solidFill>
                  <a:srgbClr val="FFFFFF"/>
                </a:solidFill>
              </a:rPr>
              <a:t> involved — general statements about "teamwork" earn few marks.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