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6E2337"/>
                </a:solidFill>
                <a:latin typeface="Cambria"/>
              </a:rPr>
              <a:t>Unit 2: Design Contexts and Connections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595959"/>
                </a:solidFill>
                <a:latin typeface="Calibri"/>
              </a:rPr>
              <a:t>VCE Visual Communication Design — Year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164592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23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Trends in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>
                <a:solidFill>
                  <a:srgbClr val="E5E5E5"/>
                </a:solidFill>
                <a:latin typeface="Calibri"/>
              </a:rPr>
              <a:t>AOS 1 · Trends in 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What is a Design Trend?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A design trend is a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general direction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 which design styles, materials or ideas are developing at a particular time.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Trends emerge across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all four design fields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communication, environmental, industrial and interaction design — often at the same time, driven by shared cultural forces.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6E2337"/>
                </a:solidFill>
                <a:latin typeface="Calibri"/>
              </a:rPr>
              <a:t>Trend vs Fad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a trend develops over a longer period and reflects deeper shifts; a fad is short-lived and often stylistic only.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Why Study Trends?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Understand the </a:t>
            </a:r>
            <a:r>
              <a:rPr sz="1800" b="1" i="0">
                <a:solidFill>
                  <a:srgbClr val="6E2337"/>
                </a:solidFill>
                <a:latin typeface="Calibri"/>
              </a:rPr>
              <a:t>context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a design was created in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Predict future </a:t>
            </a:r>
            <a:r>
              <a:rPr sz="1800" b="1" i="0">
                <a:solidFill>
                  <a:srgbClr val="6E2337"/>
                </a:solidFill>
                <a:latin typeface="Calibri"/>
              </a:rPr>
              <a:t>audience expectations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Position your own folio work within current practice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Analyse </a:t>
            </a:r>
            <a:r>
              <a:rPr sz="1800" b="1" i="0">
                <a:solidFill>
                  <a:srgbClr val="6E2337"/>
                </a:solidFill>
                <a:latin typeface="Calibri"/>
              </a:rPr>
              <a:t>why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a design looks the way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Factors that Drive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Trends don't appear from nowhere — they are shaped by broader forces acting on society. When analysing a trend, always link it back to one or more of these factors.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Social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changing lifestyles, values, demographics (e.g. remote work reshaping office design)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Cultural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shifting attitudes, identity, heritage, globalisation of style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Economic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cost of materials, market demand, recession vs growth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Technological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new tools, materials and manufacturing methods (3D printing, AI, AR/VR)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Environmental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sustainability pressures, climate concern, resource scarcity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Sustainability &amp; Eco-Design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A shift toward materials, processes and forms that minimise environmental impact — driven largely by </a:t>
            </a:r>
            <a:r>
              <a:rPr sz="1800" b="1" i="0">
                <a:solidFill>
                  <a:srgbClr val="6E2337"/>
                </a:solidFill>
                <a:latin typeface="Calibri"/>
              </a:rPr>
              <a:t>environmental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and </a:t>
            </a:r>
            <a:r>
              <a:rPr sz="1800" b="1" i="0">
                <a:solidFill>
                  <a:srgbClr val="6E2337"/>
                </a:solidFill>
                <a:latin typeface="Calibri"/>
              </a:rPr>
              <a:t>social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factors.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Across the 4 Fields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Communication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recycled paper stock, reduced ink use, digital-first campaigns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Environmental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passive solar buildings, green roofs, reclaimed materials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Industrial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biodegradable packaging, modular/repairable products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Interaction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dark-mode UI to reduce energy use, low-carbon web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Digital &amp; AI-Driven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The rise of AI tools, generative design and immersive technology — driven by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technological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factors and shifting audience expectations.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Across the 4 Fields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Communication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AI-generated imagery, motion graphics, personalised content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Environmental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parametric/generative architectural forms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Industrial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generative product design optimised by software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Interaction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AR/VR interfaces, voice UI, adaptive apps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Analysis Tip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When discussing this trend in the exam, name the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specific technology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(e.g. generative AI, parametric modelling) rather than saying "modern design" — vague language earns fewer marks.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Nostalgia &amp; Retro Revival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A return to visual styles from past decades — driven by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cultural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and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social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factors such as comfort-seeking during uncertain times.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Across the 4 Fields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Communication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90s/Y2K typography and colour palettes returning in branding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Environmental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mid-century modern interiors revived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Industrial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retro-styled appliances and vehicles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Interaction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skeuomorphic UI elements referencing physical objects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Trend Cycles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Trends are often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cyclical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styles from 20–30 years ago frequently resurface, reinterpreted with current technology and values.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Analysing a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Trend → Factor(s) → Field Examples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1. Name the trend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2. Identify the driving factor(s)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3. Give evidence from at least two design fields</a:t>
            </a:r>
          </a:p>
          <a:p>
            <a:pPr>
              <a:spcAft>
                <a:spcPts val="1000"/>
              </a:spcAft>
            </a:pPr>
            <a:r>
              <a:rPr sz="1800" b="1" i="1">
                <a:solidFill>
                  <a:srgbClr val="6E2337"/>
                </a:solidFill>
                <a:latin typeface="Calibri"/>
              </a:rPr>
              <a:t>Exam vocab:</a:t>
            </a:r>
            <a:r>
              <a:rPr sz="1800" b="0" i="1">
                <a:solidFill>
                  <a:srgbClr val="333333"/>
                </a:solidFill>
                <a:latin typeface="Calibri"/>
              </a:rPr>
              <a:t> emerging, established, resurgence, driven by, reflects, in response to, across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1800" b="0" i="1">
                <a:solidFill>
                  <a:srgbClr val="333333"/>
                </a:solidFill>
                <a:latin typeface="Calibri"/>
              </a:rPr>
              <a:t>Sentence Starters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"This trend is driven primarily by [factor] because..."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"In communication design, this trend manifests as..."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"Compared to [past trend], this reflects a shift toward..."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"This trend is likely to continue/fade because..."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Trends in Design — Quick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Social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Lifestyle &amp; demographic shifts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Cultural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Values, identity, heritage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Economic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Cost, demand, market conditions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Technological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New tools, materials, methods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Environmental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Sustainability, resource pressure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 Reminder: always link a trend to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at least two design fields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and name the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driving factor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 exam responses. 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23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Design &amp; Industry Connections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>
                <a:solidFill>
                  <a:srgbClr val="E5E5E5"/>
                </a:solidFill>
                <a:latin typeface="Calibri"/>
              </a:rPr>
              <a:t>AOS 2 · Design and Industry Connections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Design Fields Overlap &amp; Connect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Real design projects rarely sit inside a single field. A single product often requires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multiple design fields working together.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Example: launching a café involves communication design (branding), environmental design (fit-out), industrial design (furniture) and interaction design (ordering app) — often coordinated by different specialists.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Why This Matters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Designers must </a:t>
            </a:r>
            <a:r>
              <a:rPr sz="1800" b="1" i="0">
                <a:solidFill>
                  <a:srgbClr val="6E2337"/>
                </a:solidFill>
                <a:latin typeface="Calibri"/>
              </a:rPr>
              <a:t>collaborate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across disciplines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Understand how their design fits a </a:t>
            </a:r>
            <a:r>
              <a:rPr sz="1800" b="1" i="0">
                <a:solidFill>
                  <a:srgbClr val="6E2337"/>
                </a:solidFill>
                <a:latin typeface="Calibri"/>
              </a:rPr>
              <a:t>bigger production system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Work within industry </a:t>
            </a:r>
            <a:r>
              <a:rPr sz="1800" b="1" i="0">
                <a:solidFill>
                  <a:srgbClr val="6E2337"/>
                </a:solidFill>
                <a:latin typeface="Calibri"/>
              </a:rPr>
              <a:t>standards, ethics and IP law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Collaboration in Industry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Designers rarely work in isolation. They collaborate with other professionals and tradespeople to bring a design from concept to reality.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Who Designers Collaborate With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Clients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provide the brief, approve directions, fund the project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Manufacturers / builders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turn designs into physical reality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Other designers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e.g. a graphic designer working with a UX designer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Marketing / printers / developers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deliver the design to its final audience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Why Collaboration Matters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No single designer has expertise in every stage — from materials science to code to construction. Good collaboration keeps the design's original intent intact as it moves through production.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Factors Shaping Industry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 Sustainability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Materials, energy use, waste and end-of-life disposal are now standard client requirements.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 Technology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New software, materials and manufacturing (3D printing, AI tools) change what's possible and expected.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 Ethics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Fair labour, honest advertising, accessibility and inclusive design are professional expectations.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© Intellectual Property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Copyright, trademarks and licensing protect original design work from unauthorised copying.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 These factors don't just affect big companies — they shape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every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design decision, from the materials in your VCD folio model to the fonts you're licensed to use. 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Intellectual Property (IP)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Intellectual property law protects original creative and design work from being copied or used without permission.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Types Relevant to Designers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Copyright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automatically protects original creative works (images, layouts, text)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Trademark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protects brand names, logos and slogans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Design registration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protects the visual appearance of a manufactured product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6E2337"/>
                </a:solidFill>
                <a:latin typeface="Calibri"/>
              </a:rPr>
              <a:t>Patent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protects a new invention or functional process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Why It Matters to You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In your own folio, always use your own photography/imagery or correctly licensed stock and fonts — using copyrighted material without permission is a real industry issue, not just a school rule.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Answering Industry Connection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Connection → Roles → Factor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1. Identify which design fields/roles are connected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2. Explain how they collaborate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3. Link to a factor (sustainability, technology, ethics, IP)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1800" b="0" i="1">
                <a:solidFill>
                  <a:srgbClr val="333333"/>
                </a:solidFill>
                <a:latin typeface="Calibri"/>
              </a:rPr>
              <a:t>Sentence Starters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"This project connects [field A] and [field B] because..."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"The designer collaborated with [role] to..."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"This decision reflects growing industry concern for [factor]..."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"Without protection of [IP type], this design could be..."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6E2337"/>
                </a:solidFill>
                <a:latin typeface="Cambria"/>
              </a:rPr>
              <a:t>Design &amp; Industry — Quick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Overlap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Design fields rarely work alone on real projects.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Collaboration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Clients, manufacturers, other designers, developers.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Industry Factors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Sustainability, technology, ethics, IP.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IP Types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Copyright, trademark, design registration, patent.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 Reminder: always name the </a:t>
            </a:r>
            <a:r>
              <a:rPr sz="2000" b="1" i="0">
                <a:solidFill>
                  <a:srgbClr val="6E2337"/>
                </a:solidFill>
                <a:latin typeface="Calibri"/>
              </a:rPr>
              <a:t>specific roles or IP type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involved — general statements about "teamwork" earn few marks. 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6E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