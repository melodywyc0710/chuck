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VCAA-VCD-TYPE1 · UNIT 1 AOS 1</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Typography in VCD</a:t>
            </a:r>
          </a:p>
          <a:p>
            <a:pPr>
              <a:spcAft>
                <a:spcPts val="800"/>
              </a:spcAft>
            </a:pPr>
            <a:r>
              <a:rPr sz="1600">
                <a:solidFill>
                  <a:srgbClr val="FBBF24"/>
                </a:solidFill>
              </a:rPr>
              <a:t>● </a:t>
            </a:r>
            <a:r>
              <a:rPr sz="1600" b="0">
                <a:solidFill>
                  <a:srgbClr val="FFFFFF"/>
                </a:solidFill>
              </a:rPr>
              <a:t>Anatomy, classification, hierarchy, spacing — and how type communicates meaning</a:t>
            </a:r>
          </a:p>
          <a:p>
            <a:pPr>
              <a:spcAft>
                <a:spcPts val="800"/>
              </a:spcAft>
            </a:pPr>
            <a:r>
              <a:rPr sz="1600">
                <a:solidFill>
                  <a:srgbClr val="FBBF24"/>
                </a:solidFill>
              </a:rPr>
              <a:t>● </a:t>
            </a:r>
            <a:r>
              <a:rPr sz="1600" b="0">
                <a:solidFill>
                  <a:srgbClr val="FFFFFF"/>
                </a:solidFill>
              </a:rPr>
              <a:t>Unit 1 · AOS 1Year 11 VCE VCD4 Type Classifications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VCAA-VCD-TYPE1</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Why Typography Matters</a:t>
            </a:r>
          </a:p>
          <a:p>
            <a:pPr lvl="2">
              <a:spcAft>
                <a:spcPts val="800"/>
              </a:spcAft>
            </a:pPr>
            <a:r>
              <a:rPr sz="1400">
                <a:solidFill>
                  <a:srgbClr val="FBBF24"/>
                </a:solidFill>
              </a:rPr>
              <a:t>– </a:t>
            </a:r>
            <a:r>
              <a:rPr sz="1400" b="0">
                <a:solidFill>
                  <a:srgbClr val="FFFFFF"/>
                </a:solidFill>
              </a:rPr>
              <a:t>Typography is the art and technique of arranging type to make written language  </a:t>
            </a:r>
            <a:r>
              <a:rPr sz="1400" b="1">
                <a:solidFill>
                  <a:srgbClr val="FBBF24"/>
                </a:solidFill>
              </a:rPr>
              <a:t>legible, readable, and visually appealing </a:t>
            </a:r>
            <a:r>
              <a:rPr sz="1400" b="0">
                <a:solidFill>
                  <a:srgbClr val="FFFFFF"/>
                </a:solidFill>
              </a:rPr>
              <a:t> when displayed.</a:t>
            </a:r>
          </a:p>
          <a:p>
            <a:pPr lvl="2">
              <a:spcAft>
                <a:spcPts val="800"/>
              </a:spcAft>
            </a:pPr>
            <a:r>
              <a:rPr sz="1400">
                <a:solidFill>
                  <a:srgbClr val="FBBF24"/>
                </a:solidFill>
              </a:rPr>
              <a:t>– </a:t>
            </a:r>
            <a:r>
              <a:rPr sz="1400" b="0">
                <a:solidFill>
                  <a:srgbClr val="FFFFFF"/>
                </a:solidFill>
              </a:rPr>
              <a:t>Type is not just letters — it carries  </a:t>
            </a:r>
            <a:r>
              <a:rPr sz="1400" b="1">
                <a:solidFill>
                  <a:srgbClr val="FBBF24"/>
                </a:solidFill>
              </a:rPr>
              <a:t>tone, personality, authority, and emotion </a:t>
            </a:r>
            <a:r>
              <a:rPr sz="1400" b="0">
                <a:solidFill>
                  <a:srgbClr val="FFFFFF"/>
                </a:solidFill>
              </a:rPr>
              <a:t>. The right typeface communicates before a single word is read.</a:t>
            </a:r>
          </a:p>
          <a:p>
            <a:pPr lvl="2">
              <a:spcAft>
                <a:spcPts val="800"/>
              </a:spcAft>
            </a:pPr>
            <a:r>
              <a:rPr sz="1400">
                <a:solidFill>
                  <a:srgbClr val="FBBF24"/>
                </a:solidFill>
              </a:rPr>
              <a:t>– </a:t>
            </a:r>
            <a:r>
              <a:rPr sz="1400" b="0">
                <a:solidFill>
                  <a:srgbClr val="FFFFFF"/>
                </a:solidFill>
              </a:rPr>
              <a:t>VCAA Requires You to KnowAnatomy of type (parts of a letterform)4 typeface classificationsTypographic hierarchySpacing: tracking, kerning, leadingType as a design element</a:t>
            </a:r>
          </a:p>
          <a:p>
            <a:pPr lvl="3">
              <a:spcAft>
                <a:spcPts val="800"/>
              </a:spcAft>
            </a:pPr>
            <a:r>
              <a:rPr sz="1300">
                <a:solidFill>
                  <a:srgbClr val="FBBF24"/>
                </a:solidFill>
              </a:rPr>
              <a:t>- </a:t>
            </a:r>
            <a:r>
              <a:rPr sz="1300" b="0">
                <a:solidFill>
                  <a:srgbClr val="FFFFFF"/>
                </a:solidFill>
              </a:rPr>
              <a:t>Aa</a:t>
            </a:r>
          </a:p>
          <a:p>
            <a:pPr lvl="3">
              <a:spcAft>
                <a:spcPts val="800"/>
              </a:spcAft>
            </a:pPr>
            <a:r>
              <a:rPr sz="1300">
                <a:solidFill>
                  <a:srgbClr val="FBBF24"/>
                </a:solidFill>
              </a:rPr>
              <a:t>- </a:t>
            </a:r>
            <a:r>
              <a:rPr sz="1300" b="0">
                <a:solidFill>
                  <a:srgbClr val="FFFFFF"/>
                </a:solidFill>
              </a:rPr>
              <a:t>Aa</a:t>
            </a:r>
          </a:p>
          <a:p>
            <a:pPr lvl="3">
              <a:spcAft>
                <a:spcPts val="800"/>
              </a:spcAft>
            </a:pPr>
            <a:r>
              <a:rPr sz="1300">
                <a:solidFill>
                  <a:srgbClr val="FBBF24"/>
                </a:solidFill>
              </a:rPr>
              <a:t>- </a:t>
            </a:r>
            <a:r>
              <a:rPr sz="1300" b="0">
                <a:solidFill>
                  <a:srgbClr val="FFFFFF"/>
                </a:solidFill>
              </a:rPr>
              <a:t>Aa</a:t>
            </a:r>
          </a:p>
          <a:p>
            <a:pPr lvl="3">
              <a:spcAft>
                <a:spcPts val="800"/>
              </a:spcAft>
            </a:pPr>
            <a:r>
              <a:rPr sz="1300">
                <a:solidFill>
                  <a:srgbClr val="FBBF24"/>
                </a:solidFill>
              </a:rPr>
              <a:t>- </a:t>
            </a:r>
            <a:r>
              <a:rPr sz="1300" b="0">
                <a:solidFill>
                  <a:srgbClr val="FFFFFF"/>
                </a:solidFill>
              </a:rPr>
              <a:t>Same letters, different personality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TYPE ANATOMY</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Anatomy of a Letterform</a:t>
            </a:r>
          </a:p>
          <a:p>
            <a:pPr lvl="3">
              <a:spcAft>
                <a:spcPts val="800"/>
              </a:spcAft>
            </a:pPr>
            <a:r>
              <a:rPr sz="1300">
                <a:solidFill>
                  <a:srgbClr val="FBBF24"/>
                </a:solidFill>
              </a:rPr>
              <a:t>- </a:t>
            </a:r>
            <a:r>
              <a:rPr sz="1300" b="0">
                <a:solidFill>
                  <a:srgbClr val="FFFFFF"/>
                </a:solidFill>
              </a:rPr>
              <a:t>BaselineLine letters sit on</a:t>
            </a:r>
          </a:p>
          <a:p>
            <a:pPr lvl="3">
              <a:spcAft>
                <a:spcPts val="800"/>
              </a:spcAft>
            </a:pPr>
            <a:r>
              <a:rPr sz="1300">
                <a:solidFill>
                  <a:srgbClr val="FBBF24"/>
                </a:solidFill>
              </a:rPr>
              <a:t>- </a:t>
            </a:r>
            <a:r>
              <a:rPr sz="1300" b="0">
                <a:solidFill>
                  <a:srgbClr val="FFFFFF"/>
                </a:solidFill>
              </a:rPr>
              <a:t>x-heightHeight of lowercase letter "x"</a:t>
            </a:r>
          </a:p>
          <a:p>
            <a:pPr lvl="3">
              <a:spcAft>
                <a:spcPts val="800"/>
              </a:spcAft>
            </a:pPr>
            <a:r>
              <a:rPr sz="1300">
                <a:solidFill>
                  <a:srgbClr val="FBBF24"/>
                </a:solidFill>
              </a:rPr>
              <a:t>- </a:t>
            </a:r>
            <a:r>
              <a:rPr sz="1300" b="0">
                <a:solidFill>
                  <a:srgbClr val="FFFFFF"/>
                </a:solidFill>
              </a:rPr>
              <a:t>Cap HeightHeight of uppercase letters</a:t>
            </a:r>
          </a:p>
          <a:p>
            <a:pPr lvl="3">
              <a:spcAft>
                <a:spcPts val="800"/>
              </a:spcAft>
            </a:pPr>
            <a:r>
              <a:rPr sz="1300">
                <a:solidFill>
                  <a:srgbClr val="FBBF24"/>
                </a:solidFill>
              </a:rPr>
              <a:t>- </a:t>
            </a:r>
            <a:r>
              <a:rPr sz="1300" b="0">
                <a:solidFill>
                  <a:srgbClr val="FFFFFF"/>
                </a:solidFill>
              </a:rPr>
              <a:t>AscenderStroke rising above x-height</a:t>
            </a:r>
          </a:p>
          <a:p>
            <a:pPr lvl="3">
              <a:spcAft>
                <a:spcPts val="800"/>
              </a:spcAft>
            </a:pPr>
            <a:r>
              <a:rPr sz="1300">
                <a:solidFill>
                  <a:srgbClr val="FBBF24"/>
                </a:solidFill>
              </a:rPr>
              <a:t>- </a:t>
            </a:r>
            <a:r>
              <a:rPr sz="1300" b="0">
                <a:solidFill>
                  <a:srgbClr val="FFFFFF"/>
                </a:solidFill>
              </a:rPr>
              <a:t>DescenderStroke below baseline (p, g, y)</a:t>
            </a:r>
          </a:p>
          <a:p>
            <a:pPr lvl="3">
              <a:spcAft>
                <a:spcPts val="800"/>
              </a:spcAft>
            </a:pPr>
            <a:r>
              <a:rPr sz="1300">
                <a:solidFill>
                  <a:srgbClr val="FBBF24"/>
                </a:solidFill>
              </a:rPr>
              <a:t>- </a:t>
            </a:r>
            <a:r>
              <a:rPr sz="1300" b="0">
                <a:solidFill>
                  <a:srgbClr val="FFFFFF"/>
                </a:solidFill>
              </a:rPr>
              <a:t>SerifSmall foot/stroke at letter end</a:t>
            </a:r>
          </a:p>
          <a:p>
            <a:pPr lvl="3">
              <a:spcAft>
                <a:spcPts val="800"/>
              </a:spcAft>
            </a:pPr>
            <a:r>
              <a:rPr sz="1300">
                <a:solidFill>
                  <a:srgbClr val="FBBF24"/>
                </a:solidFill>
              </a:rPr>
              <a:t>- </a:t>
            </a:r>
            <a:r>
              <a:rPr sz="1300" b="0">
                <a:solidFill>
                  <a:srgbClr val="FFFFFF"/>
                </a:solidFill>
              </a:rPr>
              <a:t>CounterEnclosed/partially enclosed space (inside o, e, d)</a:t>
            </a:r>
          </a:p>
          <a:p>
            <a:pPr lvl="3">
              <a:spcAft>
                <a:spcPts val="800"/>
              </a:spcAft>
            </a:pPr>
            <a:r>
              <a:rPr sz="1300">
                <a:solidFill>
                  <a:srgbClr val="FBBF24"/>
                </a:solidFill>
              </a:rPr>
              <a:t>- </a:t>
            </a:r>
            <a:r>
              <a:rPr sz="1300" b="0">
                <a:solidFill>
                  <a:srgbClr val="FFFFFF"/>
                </a:solidFill>
              </a:rPr>
              <a:t>StemMain vertical/diagonal stroke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CLASSIFICATIONS</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4 Typeface Classifications</a:t>
            </a:r>
          </a:p>
          <a:p>
            <a:pPr lvl="2">
              <a:spcAft>
                <a:spcPts val="800"/>
              </a:spcAft>
            </a:pPr>
            <a:r>
              <a:rPr sz="1400">
                <a:solidFill>
                  <a:srgbClr val="FBBF24"/>
                </a:solidFill>
              </a:rPr>
              <a:t>– </a:t>
            </a:r>
            <a:r>
              <a:rPr sz="1400" b="0">
                <a:solidFill>
                  <a:srgbClr val="FFFFFF"/>
                </a:solidFill>
              </a:rPr>
              <a:t>Serif</a:t>
            </a:r>
          </a:p>
          <a:p>
            <a:pPr lvl="2">
              <a:spcAft>
                <a:spcPts val="800"/>
              </a:spcAft>
            </a:pPr>
            <a:r>
              <a:rPr sz="1400">
                <a:solidFill>
                  <a:srgbClr val="FBBF24"/>
                </a:solidFill>
              </a:rPr>
              <a:t>– </a:t>
            </a:r>
            <a:r>
              <a:rPr sz="1400" b="0">
                <a:solidFill>
                  <a:srgbClr val="FFFFFF"/>
                </a:solidFill>
              </a:rPr>
              <a:t>Serif</a:t>
            </a:r>
          </a:p>
          <a:p>
            <a:pPr lvl="2">
              <a:spcAft>
                <a:spcPts val="800"/>
              </a:spcAft>
            </a:pPr>
            <a:r>
              <a:rPr sz="1400">
                <a:solidFill>
                  <a:srgbClr val="FBBF24"/>
                </a:solidFill>
              </a:rPr>
              <a:t>– </a:t>
            </a:r>
            <a:r>
              <a:rPr sz="1400" b="0">
                <a:solidFill>
                  <a:srgbClr val="FFFFFF"/>
                </a:solidFill>
              </a:rPr>
              <a:t>Small strokes at letter ends. Traditional, authoritative, trustworthy.</a:t>
            </a:r>
          </a:p>
          <a:p>
            <a:pPr lvl="2">
              <a:spcAft>
                <a:spcPts val="800"/>
              </a:spcAft>
            </a:pPr>
            <a:r>
              <a:rPr sz="1400">
                <a:solidFill>
                  <a:srgbClr val="FBBF24"/>
                </a:solidFill>
              </a:rPr>
              <a:t>– </a:t>
            </a:r>
            <a:r>
              <a:rPr sz="1400" b="0">
                <a:solidFill>
                  <a:srgbClr val="FFFFFF"/>
                </a:solidFill>
              </a:rPr>
              <a:t>e.g. Times New Roman, Garamond, Georgia</a:t>
            </a:r>
          </a:p>
          <a:p>
            <a:pPr lvl="2">
              <a:spcAft>
                <a:spcPts val="800"/>
              </a:spcAft>
            </a:pPr>
            <a:r>
              <a:rPr sz="1400">
                <a:solidFill>
                  <a:srgbClr val="FBBF24"/>
                </a:solidFill>
              </a:rPr>
              <a:t>– </a:t>
            </a:r>
            <a:r>
              <a:rPr sz="1400" b="0">
                <a:solidFill>
                  <a:srgbClr val="FFFFFF"/>
                </a:solidFill>
              </a:rPr>
              <a:t>Use: formal documents, books, newspapers</a:t>
            </a:r>
          </a:p>
          <a:p>
            <a:pPr lvl="2">
              <a:spcAft>
                <a:spcPts val="800"/>
              </a:spcAft>
            </a:pPr>
            <a:r>
              <a:rPr sz="1400">
                <a:solidFill>
                  <a:srgbClr val="FBBF24"/>
                </a:solidFill>
              </a:rPr>
              <a:t>– </a:t>
            </a:r>
            <a:r>
              <a:rPr sz="1400" b="0">
                <a:solidFill>
                  <a:srgbClr val="FFFFFF"/>
                </a:solidFill>
              </a:rPr>
              <a:t>Sans</a:t>
            </a:r>
          </a:p>
          <a:p>
            <a:pPr lvl="2">
              <a:spcAft>
                <a:spcPts val="800"/>
              </a:spcAft>
            </a:pPr>
            <a:r>
              <a:rPr sz="1400">
                <a:solidFill>
                  <a:srgbClr val="FBBF24"/>
                </a:solidFill>
              </a:rPr>
              <a:t>– </a:t>
            </a:r>
            <a:r>
              <a:rPr sz="1400" b="0">
                <a:solidFill>
                  <a:srgbClr val="FFFFFF"/>
                </a:solidFill>
              </a:rPr>
              <a:t>Sans-Serif</a:t>
            </a:r>
          </a:p>
          <a:p>
            <a:pPr lvl="2">
              <a:spcAft>
                <a:spcPts val="800"/>
              </a:spcAft>
            </a:pPr>
            <a:r>
              <a:rPr sz="1400">
                <a:solidFill>
                  <a:srgbClr val="FBBF24"/>
                </a:solidFill>
              </a:rPr>
              <a:t>– </a:t>
            </a:r>
            <a:r>
              <a:rPr sz="1400" b="0">
                <a:solidFill>
                  <a:srgbClr val="FFFFFF"/>
                </a:solidFill>
              </a:rPr>
              <a:t>No strokes at ends. Modern, clean, accessible.</a:t>
            </a:r>
          </a:p>
          <a:p>
            <a:pPr lvl="2">
              <a:spcAft>
                <a:spcPts val="800"/>
              </a:spcAft>
            </a:pPr>
            <a:r>
              <a:rPr sz="1400">
                <a:solidFill>
                  <a:srgbClr val="FBBF24"/>
                </a:solidFill>
              </a:rPr>
              <a:t>– </a:t>
            </a:r>
            <a:r>
              <a:rPr sz="1400" b="0">
                <a:solidFill>
                  <a:srgbClr val="FFFFFF"/>
                </a:solidFill>
              </a:rPr>
              <a:t>e.g. Helvetica, Arial, Futura, Gill Sans</a:t>
            </a:r>
          </a:p>
          <a:p>
            <a:pPr lvl="2">
              <a:spcAft>
                <a:spcPts val="800"/>
              </a:spcAft>
            </a:pPr>
            <a:r>
              <a:rPr sz="1400">
                <a:solidFill>
                  <a:srgbClr val="FBBF24"/>
                </a:solidFill>
              </a:rPr>
              <a:t>– </a:t>
            </a:r>
            <a:r>
              <a:rPr sz="1400" b="0">
                <a:solidFill>
                  <a:srgbClr val="FFFFFF"/>
                </a:solidFill>
              </a:rPr>
              <a:t>Use: screens, signage, modern design</a:t>
            </a:r>
          </a:p>
          <a:p>
            <a:pPr lvl="2">
              <a:spcAft>
                <a:spcPts val="800"/>
              </a:spcAft>
            </a:pPr>
            <a:r>
              <a:rPr sz="1400">
                <a:solidFill>
                  <a:srgbClr val="FBBF24"/>
                </a:solidFill>
              </a:rPr>
              <a:t>– </a:t>
            </a:r>
            <a:r>
              <a:rPr sz="1400" b="0">
                <a:solidFill>
                  <a:srgbClr val="FFFFFF"/>
                </a:solidFill>
              </a:rPr>
              <a:t>Mono</a:t>
            </a:r>
          </a:p>
          <a:p>
            <a:pPr lvl="2">
              <a:spcAft>
                <a:spcPts val="800"/>
              </a:spcAft>
            </a:pPr>
            <a:r>
              <a:rPr sz="1400">
                <a:solidFill>
                  <a:srgbClr val="FBBF24"/>
                </a:solidFill>
              </a:rPr>
              <a:t>– </a:t>
            </a:r>
            <a:r>
              <a:rPr sz="1400" b="0">
                <a:solidFill>
                  <a:srgbClr val="FFFFFF"/>
                </a:solidFill>
              </a:rPr>
              <a:t>Monospaced</a:t>
            </a:r>
          </a:p>
          <a:p>
            <a:pPr lvl="2">
              <a:spcAft>
                <a:spcPts val="800"/>
              </a:spcAft>
            </a:pPr>
            <a:r>
              <a:rPr sz="1400">
                <a:solidFill>
                  <a:srgbClr val="FBBF24"/>
                </a:solidFill>
              </a:rPr>
              <a:t>– </a:t>
            </a:r>
            <a:r>
              <a:rPr sz="1400" b="0">
                <a:solidFill>
                  <a:srgbClr val="FFFFFF"/>
                </a:solidFill>
              </a:rPr>
              <a:t>Each character occupies equal width. Technical, precise.</a:t>
            </a:r>
          </a:p>
          <a:p>
            <a:pPr lvl="2">
              <a:spcAft>
                <a:spcPts val="800"/>
              </a:spcAft>
            </a:pPr>
            <a:r>
              <a:rPr sz="1400">
                <a:solidFill>
                  <a:srgbClr val="FBBF24"/>
                </a:solidFill>
              </a:rPr>
              <a:t>– </a:t>
            </a:r>
            <a:r>
              <a:rPr sz="1400" b="0">
                <a:solidFill>
                  <a:srgbClr val="FFFFFF"/>
                </a:solidFill>
              </a:rPr>
              <a:t>e.g. Courier, Space Mono, Consolas</a:t>
            </a:r>
          </a:p>
          <a:p>
            <a:pPr lvl="2">
              <a:spcAft>
                <a:spcPts val="800"/>
              </a:spcAft>
            </a:pPr>
            <a:r>
              <a:rPr sz="1400">
                <a:solidFill>
                  <a:srgbClr val="FBBF24"/>
                </a:solidFill>
              </a:rPr>
              <a:t>– </a:t>
            </a:r>
            <a:r>
              <a:rPr sz="1400" b="0">
                <a:solidFill>
                  <a:srgbClr val="FFFFFF"/>
                </a:solidFill>
              </a:rPr>
              <a:t>Use: code, forms, typewriter aesthetic</a:t>
            </a:r>
          </a:p>
          <a:p>
            <a:pPr lvl="2">
              <a:spcAft>
                <a:spcPts val="800"/>
              </a:spcAft>
            </a:pPr>
            <a:r>
              <a:rPr sz="1400">
                <a:solidFill>
                  <a:srgbClr val="FBBF24"/>
                </a:solidFill>
              </a:rPr>
              <a:t>– </a:t>
            </a:r>
            <a:r>
              <a:rPr sz="1400" b="0">
                <a:solidFill>
                  <a:srgbClr val="FFFFFF"/>
                </a:solidFill>
              </a:rPr>
              <a:t>Script</a:t>
            </a:r>
          </a:p>
          <a:p>
            <a:pPr lvl="2">
              <a:spcAft>
                <a:spcPts val="800"/>
              </a:spcAft>
            </a:pPr>
            <a:r>
              <a:rPr sz="1400">
                <a:solidFill>
                  <a:srgbClr val="FBBF24"/>
                </a:solidFill>
              </a:rPr>
              <a:t>– </a:t>
            </a:r>
            <a:r>
              <a:rPr sz="1400" b="0">
                <a:solidFill>
                  <a:srgbClr val="FFFFFF"/>
                </a:solidFill>
              </a:rPr>
              <a:t>Script / Decorative</a:t>
            </a:r>
          </a:p>
          <a:p>
            <a:pPr lvl="2">
              <a:spcAft>
                <a:spcPts val="800"/>
              </a:spcAft>
            </a:pPr>
            <a:r>
              <a:rPr sz="1400">
                <a:solidFill>
                  <a:srgbClr val="FBBF24"/>
                </a:solidFill>
              </a:rPr>
              <a:t>– </a:t>
            </a:r>
            <a:r>
              <a:rPr sz="1400" b="0">
                <a:solidFill>
                  <a:srgbClr val="FFFFFF"/>
                </a:solidFill>
              </a:rPr>
              <a:t>Mimics handwriting or has unique styling. Expressive, personal.</a:t>
            </a:r>
          </a:p>
          <a:p>
            <a:pPr lvl="2">
              <a:spcAft>
                <a:spcPts val="800"/>
              </a:spcAft>
            </a:pPr>
            <a:r>
              <a:rPr sz="1400">
                <a:solidFill>
                  <a:srgbClr val="FBBF24"/>
                </a:solidFill>
              </a:rPr>
              <a:t>– </a:t>
            </a:r>
            <a:r>
              <a:rPr sz="1400" b="0">
                <a:solidFill>
                  <a:srgbClr val="FFFFFF"/>
                </a:solidFill>
              </a:rPr>
              <a:t>e.g. Brush Script, Comic Sans, Display fonts</a:t>
            </a:r>
          </a:p>
          <a:p>
            <a:pPr lvl="2">
              <a:spcAft>
                <a:spcPts val="800"/>
              </a:spcAft>
            </a:pPr>
            <a:r>
              <a:rPr sz="1400">
                <a:solidFill>
                  <a:srgbClr val="FBBF24"/>
                </a:solidFill>
              </a:rPr>
              <a:t>– </a:t>
            </a:r>
            <a:r>
              <a:rPr sz="1400" b="0">
                <a:solidFill>
                  <a:srgbClr val="FFFFFF"/>
                </a:solidFill>
              </a:rPr>
              <a:t>Use: invitations, branding, titles (not body)</a:t>
            </a:r>
          </a:p>
          <a:p>
            <a:pPr>
              <a:spcAft>
                <a:spcPts val="800"/>
              </a:spcAft>
            </a:pPr>
            <a:r>
              <a:rPr sz="1600">
                <a:solidFill>
                  <a:srgbClr val="FBBF24"/>
                </a:solidFill>
              </a:rPr>
              <a:t>● </a:t>
            </a:r>
            <a:r>
              <a:rPr sz="1600" b="0">
                <a:solidFill>
                  <a:srgbClr val="FFFFFF"/>
                </a:solidFill>
              </a:rPr>
              <a:t>Legibility tipSerif and sans-serif are most legible for body text. Script/decorative should be used sparingly — for display headings only, never for long text passages.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HIERARCHY</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Typographic Hierarchy</a:t>
            </a:r>
          </a:p>
          <a:p>
            <a:pPr lvl="2">
              <a:spcAft>
                <a:spcPts val="800"/>
              </a:spcAft>
            </a:pPr>
            <a:r>
              <a:rPr sz="1400">
                <a:solidFill>
                  <a:srgbClr val="FBBF24"/>
                </a:solidFill>
              </a:rPr>
              <a:t>– </a:t>
            </a:r>
            <a:r>
              <a:rPr sz="1400" b="0">
                <a:solidFill>
                  <a:srgbClr val="FFFFFF"/>
                </a:solidFill>
              </a:rPr>
              <a:t>Typographic hierarchy is the arrangement of type to  </a:t>
            </a:r>
            <a:r>
              <a:rPr sz="1400" b="1">
                <a:solidFill>
                  <a:srgbClr val="FBBF24"/>
                </a:solidFill>
              </a:rPr>
              <a:t>guide the viewer's reading order </a:t>
            </a:r>
            <a:r>
              <a:rPr sz="1400" b="0">
                <a:solidFill>
                  <a:srgbClr val="FFFFFF"/>
                </a:solidFill>
              </a:rPr>
              <a:t> by signalling what is most important.</a:t>
            </a:r>
          </a:p>
          <a:p>
            <a:pPr lvl="2">
              <a:spcAft>
                <a:spcPts val="800"/>
              </a:spcAft>
            </a:pPr>
            <a:r>
              <a:rPr sz="1400">
                <a:solidFill>
                  <a:srgbClr val="FBBF24"/>
                </a:solidFill>
              </a:rPr>
              <a:t>– </a:t>
            </a:r>
            <a:r>
              <a:rPr sz="1400" b="0">
                <a:solidFill>
                  <a:srgbClr val="FFFFFF"/>
                </a:solidFill>
              </a:rPr>
              <a:t>Creating Hierarchy Through </a:t>
            </a:r>
            <a:r>
              <a:rPr sz="1400" b="1">
                <a:solidFill>
                  <a:srgbClr val="FBBF24"/>
                </a:solidFill>
              </a:rPr>
              <a:t>Size </a:t>
            </a:r>
            <a:r>
              <a:rPr sz="1400" b="0">
                <a:solidFill>
                  <a:srgbClr val="FFFFFF"/>
                </a:solidFill>
              </a:rPr>
              <a:t> — larger = more important </a:t>
            </a:r>
            <a:r>
              <a:rPr sz="1400" b="1">
                <a:solidFill>
                  <a:srgbClr val="FBBF24"/>
                </a:solidFill>
              </a:rPr>
              <a:t>Weight </a:t>
            </a:r>
            <a:r>
              <a:rPr sz="1400" b="0">
                <a:solidFill>
                  <a:srgbClr val="FFFFFF"/>
                </a:solidFill>
              </a:rPr>
              <a:t> — bold draws the eye first </a:t>
            </a:r>
            <a:r>
              <a:rPr sz="1400" b="1">
                <a:solidFill>
                  <a:srgbClr val="FBBF24"/>
                </a:solidFill>
              </a:rPr>
              <a:t>Colour/Contrast </a:t>
            </a:r>
            <a:r>
              <a:rPr sz="1400" b="0">
                <a:solidFill>
                  <a:srgbClr val="FFFFFF"/>
                </a:solidFill>
              </a:rPr>
              <a:t> — saturated vs muted </a:t>
            </a:r>
            <a:r>
              <a:rPr sz="1400" b="1">
                <a:solidFill>
                  <a:srgbClr val="FBBF24"/>
                </a:solidFill>
              </a:rPr>
              <a:t>Position </a:t>
            </a:r>
            <a:r>
              <a:rPr sz="1400" b="0">
                <a:solidFill>
                  <a:srgbClr val="FFFFFF"/>
                </a:solidFill>
              </a:rPr>
              <a:t> — top/centre = primary </a:t>
            </a:r>
            <a:r>
              <a:rPr sz="1400" b="1">
                <a:solidFill>
                  <a:srgbClr val="FBBF24"/>
                </a:solidFill>
              </a:rPr>
              <a:t>Typeface </a:t>
            </a:r>
            <a:r>
              <a:rPr sz="1400" b="0">
                <a:solidFill>
                  <a:srgbClr val="FFFFFF"/>
                </a:solidFill>
              </a:rPr>
              <a:t> — serif heading + sans body </a:t>
            </a:r>
            <a:r>
              <a:rPr sz="1400" b="1">
                <a:solidFill>
                  <a:srgbClr val="FBBF24"/>
                </a:solidFill>
              </a:rPr>
              <a:t>Spacing </a:t>
            </a:r>
            <a:r>
              <a:rPr sz="1400" b="0">
                <a:solidFill>
                  <a:srgbClr val="FFFFFF"/>
                </a:solidFill>
              </a:rPr>
              <a:t> — isolation = importance</a:t>
            </a:r>
          </a:p>
          <a:p>
            <a:pPr lvl="3">
              <a:spcAft>
                <a:spcPts val="800"/>
              </a:spcAft>
            </a:pPr>
            <a:r>
              <a:rPr sz="1300">
                <a:solidFill>
                  <a:srgbClr val="FBBF24"/>
                </a:solidFill>
              </a:rPr>
              <a:t>- </a:t>
            </a:r>
            <a:r>
              <a:rPr sz="1300" b="0">
                <a:solidFill>
                  <a:srgbClr val="FFFFFF"/>
                </a:solidFill>
              </a:rPr>
              <a:t>Exam Sentence Starter</a:t>
            </a:r>
          </a:p>
          <a:p>
            <a:pPr lvl="3">
              <a:spcAft>
                <a:spcPts val="800"/>
              </a:spcAft>
            </a:pPr>
            <a:r>
              <a:rPr sz="1300">
                <a:solidFill>
                  <a:srgbClr val="FBBF24"/>
                </a:solidFill>
              </a:rPr>
              <a:t>- </a:t>
            </a:r>
            <a:r>
              <a:rPr sz="1300" b="0">
                <a:solidFill>
                  <a:srgbClr val="FFFFFF"/>
                </a:solidFill>
              </a:rPr>
              <a:t>"Typographic hierarchy is established through the use of [larger/bolder/coloured] type for the [heading], which signals to the viewer that this information has greater priority than the [body text/caption]."</a:t>
            </a:r>
          </a:p>
          <a:p>
            <a:pPr lvl="3">
              <a:spcAft>
                <a:spcPts val="800"/>
              </a:spcAft>
            </a:pPr>
            <a:r>
              <a:rPr sz="1300">
                <a:solidFill>
                  <a:srgbClr val="FBBF24"/>
                </a:solidFill>
              </a:rPr>
              <a:t>- </a:t>
            </a:r>
            <a:r>
              <a:rPr sz="1300" b="0">
                <a:solidFill>
                  <a:srgbClr val="FFFFFF"/>
                </a:solidFill>
              </a:rPr>
              <a:t>HEADLINE</a:t>
            </a:r>
          </a:p>
          <a:p>
            <a:pPr lvl="3">
              <a:spcAft>
                <a:spcPts val="800"/>
              </a:spcAft>
            </a:pPr>
            <a:r>
              <a:rPr sz="1300">
                <a:solidFill>
                  <a:srgbClr val="FBBF24"/>
                </a:solidFill>
              </a:rPr>
              <a:t>- </a:t>
            </a:r>
            <a:r>
              <a:rPr sz="1300" b="0">
                <a:solidFill>
                  <a:srgbClr val="FFFFFF"/>
                </a:solidFill>
              </a:rPr>
              <a:t>Subheading establishes context</a:t>
            </a:r>
          </a:p>
          <a:p>
            <a:pPr lvl="3">
              <a:spcAft>
                <a:spcPts val="800"/>
              </a:spcAft>
            </a:pPr>
            <a:r>
              <a:rPr sz="1300">
                <a:solidFill>
                  <a:srgbClr val="FBBF24"/>
                </a:solidFill>
              </a:rPr>
              <a:t>- </a:t>
            </a:r>
            <a:r>
              <a:rPr sz="1300" b="0">
                <a:solidFill>
                  <a:srgbClr val="FFFFFF"/>
                </a:solidFill>
              </a:rPr>
              <a:t>Body text provides detailed information for the reader. It is smaller and lower contrast so the eye processes it after the headline and subheading have established context.</a:t>
            </a:r>
          </a:p>
          <a:p>
            <a:pPr lvl="3">
              <a:spcAft>
                <a:spcPts val="800"/>
              </a:spcAft>
            </a:pPr>
            <a:r>
              <a:rPr sz="1300">
                <a:solidFill>
                  <a:srgbClr val="FBBF24"/>
                </a:solidFill>
              </a:rPr>
              <a:t>- </a:t>
            </a:r>
            <a:r>
              <a:rPr sz="1300" b="0">
                <a:solidFill>
                  <a:srgbClr val="FFFFFF"/>
                </a:solidFill>
              </a:rPr>
              <a:t>Caption — smallest, lowest priority</a:t>
            </a:r>
          </a:p>
          <a:p>
            <a:pPr lvl="3">
              <a:spcAft>
                <a:spcPts val="800"/>
              </a:spcAft>
            </a:pPr>
            <a:r>
              <a:rPr sz="1300">
                <a:solidFill>
                  <a:srgbClr val="FBBF24"/>
                </a:solidFill>
              </a:rPr>
              <a:t>- </a:t>
            </a:r>
            <a:r>
              <a:rPr sz="1300" b="0">
                <a:solidFill>
                  <a:srgbClr val="FFFFFF"/>
                </a:solidFill>
              </a:rPr>
              <a:t>① Headline→② Sub→③ Body→④ Caption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SPACING</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Spacing: Kerning, Tracking, Leading</a:t>
            </a:r>
          </a:p>
          <a:p>
            <a:pPr lvl="2">
              <a:spcAft>
                <a:spcPts val="800"/>
              </a:spcAft>
            </a:pPr>
            <a:r>
              <a:rPr sz="1400">
                <a:solidFill>
                  <a:srgbClr val="FBBF24"/>
                </a:solidFill>
              </a:rPr>
              <a:t>– </a:t>
            </a:r>
            <a:r>
              <a:rPr sz="1400" b="0">
                <a:solidFill>
                  <a:srgbClr val="FFFFFF"/>
                </a:solidFill>
              </a:rPr>
              <a:t>Kerning</a:t>
            </a:r>
          </a:p>
          <a:p>
            <a:pPr lvl="2">
              <a:spcAft>
                <a:spcPts val="800"/>
              </a:spcAft>
            </a:pPr>
            <a:r>
              <a:rPr sz="1400">
                <a:solidFill>
                  <a:srgbClr val="FBBF24"/>
                </a:solidFill>
              </a:rPr>
              <a:t>– </a:t>
            </a:r>
            <a:r>
              <a:rPr sz="1400" b="0">
                <a:solidFill>
                  <a:srgbClr val="FFFFFF"/>
                </a:solidFill>
              </a:rPr>
              <a:t>AV</a:t>
            </a:r>
          </a:p>
          <a:p>
            <a:pPr lvl="2">
              <a:spcAft>
                <a:spcPts val="800"/>
              </a:spcAft>
            </a:pPr>
            <a:r>
              <a:rPr sz="1400">
                <a:solidFill>
                  <a:srgbClr val="FBBF24"/>
                </a:solidFill>
              </a:rPr>
              <a:t>– </a:t>
            </a:r>
            <a:r>
              <a:rPr sz="1400" b="0">
                <a:solidFill>
                  <a:srgbClr val="FFFFFF"/>
                </a:solidFill>
              </a:rPr>
              <a:t>AV</a:t>
            </a:r>
          </a:p>
          <a:p>
            <a:pPr lvl="2">
              <a:spcAft>
                <a:spcPts val="800"/>
              </a:spcAft>
            </a:pPr>
            <a:r>
              <a:rPr sz="1400">
                <a:solidFill>
                  <a:srgbClr val="FBBF24"/>
                </a:solidFill>
              </a:rPr>
              <a:t>– </a:t>
            </a:r>
            <a:r>
              <a:rPr sz="1400" b="0">
                <a:solidFill>
                  <a:srgbClr val="FFFFFF"/>
                </a:solidFill>
              </a:rPr>
              <a:t>Adjustment of space  </a:t>
            </a:r>
            <a:r>
              <a:rPr sz="1400" b="1">
                <a:solidFill>
                  <a:srgbClr val="FBBF24"/>
                </a:solidFill>
              </a:rPr>
              <a:t>between two specific characters </a:t>
            </a:r>
            <a:r>
              <a:rPr sz="1400" b="0">
                <a:solidFill>
                  <a:srgbClr val="FFFFFF"/>
                </a:solidFill>
              </a:rPr>
              <a:t>. Corrects optically uneven pairs like AV, WA, To, Ty.</a:t>
            </a:r>
          </a:p>
          <a:p>
            <a:pPr lvl="2">
              <a:spcAft>
                <a:spcPts val="800"/>
              </a:spcAft>
            </a:pPr>
            <a:r>
              <a:rPr sz="1400">
                <a:solidFill>
                  <a:srgbClr val="FBBF24"/>
                </a:solidFill>
              </a:rPr>
              <a:t>– </a:t>
            </a:r>
            <a:r>
              <a:rPr sz="1400" b="0">
                <a:solidFill>
                  <a:srgbClr val="FFFFFF"/>
                </a:solidFill>
              </a:rPr>
              <a:t>Without kerning: A V looks wrong With kerning: AV looks right</a:t>
            </a:r>
          </a:p>
          <a:p>
            <a:pPr lvl="2">
              <a:spcAft>
                <a:spcPts val="800"/>
              </a:spcAft>
            </a:pPr>
            <a:r>
              <a:rPr sz="1400">
                <a:solidFill>
                  <a:srgbClr val="FBBF24"/>
                </a:solidFill>
              </a:rPr>
              <a:t>– </a:t>
            </a:r>
            <a:r>
              <a:rPr sz="1400" b="0">
                <a:solidFill>
                  <a:srgbClr val="FFFFFF"/>
                </a:solidFill>
              </a:rPr>
              <a:t>Tracking</a:t>
            </a:r>
          </a:p>
          <a:p>
            <a:pPr lvl="2">
              <a:spcAft>
                <a:spcPts val="800"/>
              </a:spcAft>
            </a:pPr>
            <a:r>
              <a:rPr sz="1400">
                <a:solidFill>
                  <a:srgbClr val="FBBF24"/>
                </a:solidFill>
              </a:rPr>
              <a:t>– </a:t>
            </a:r>
            <a:r>
              <a:rPr sz="1400" b="0">
                <a:solidFill>
                  <a:srgbClr val="FFFFFF"/>
                </a:solidFill>
              </a:rPr>
              <a:t>TRACKING</a:t>
            </a:r>
          </a:p>
          <a:p>
            <a:pPr lvl="2">
              <a:spcAft>
                <a:spcPts val="800"/>
              </a:spcAft>
            </a:pPr>
            <a:r>
              <a:rPr sz="1400">
                <a:solidFill>
                  <a:srgbClr val="FBBF24"/>
                </a:solidFill>
              </a:rPr>
              <a:t>– </a:t>
            </a:r>
            <a:r>
              <a:rPr sz="1400" b="0">
                <a:solidFill>
                  <a:srgbClr val="FFFFFF"/>
                </a:solidFill>
              </a:rPr>
              <a:t>TRACKING</a:t>
            </a:r>
          </a:p>
          <a:p>
            <a:pPr lvl="2">
              <a:spcAft>
                <a:spcPts val="800"/>
              </a:spcAft>
            </a:pPr>
            <a:r>
              <a:rPr sz="1400">
                <a:solidFill>
                  <a:srgbClr val="FBBF24"/>
                </a:solidFill>
              </a:rPr>
              <a:t>– </a:t>
            </a:r>
            <a:r>
              <a:rPr sz="1400" b="0">
                <a:solidFill>
                  <a:srgbClr val="FFFFFF"/>
                </a:solidFill>
              </a:rPr>
              <a:t>Adjustment of space  </a:t>
            </a:r>
            <a:r>
              <a:rPr sz="1400" b="1">
                <a:solidFill>
                  <a:srgbClr val="FBBF24"/>
                </a:solidFill>
              </a:rPr>
              <a:t>across a range of characters </a:t>
            </a:r>
            <a:r>
              <a:rPr sz="1400" b="0">
                <a:solidFill>
                  <a:srgbClr val="FFFFFF"/>
                </a:solidFill>
              </a:rPr>
              <a:t> (whole word, line or paragraph). Affects the overall density and mood of text.</a:t>
            </a:r>
          </a:p>
          <a:p>
            <a:pPr lvl="2">
              <a:spcAft>
                <a:spcPts val="800"/>
              </a:spcAft>
            </a:pPr>
            <a:r>
              <a:rPr sz="1400">
                <a:solidFill>
                  <a:srgbClr val="FBBF24"/>
                </a:solidFill>
              </a:rPr>
              <a:t>– </a:t>
            </a:r>
            <a:r>
              <a:rPr sz="1400" b="0">
                <a:solidFill>
                  <a:srgbClr val="FFFFFF"/>
                </a:solidFill>
              </a:rPr>
              <a:t>Loose tracking → airy, luxury feel Tight tracking → dense, urgent feel</a:t>
            </a:r>
          </a:p>
          <a:p>
            <a:pPr lvl="2">
              <a:spcAft>
                <a:spcPts val="800"/>
              </a:spcAft>
            </a:pPr>
            <a:r>
              <a:rPr sz="1400">
                <a:solidFill>
                  <a:srgbClr val="FBBF24"/>
                </a:solidFill>
              </a:rPr>
              <a:t>– </a:t>
            </a:r>
            <a:r>
              <a:rPr sz="1400" b="0">
                <a:solidFill>
                  <a:srgbClr val="FFFFFF"/>
                </a:solidFill>
              </a:rPr>
              <a:t>Leading</a:t>
            </a:r>
          </a:p>
          <a:p>
            <a:pPr lvl="3">
              <a:spcAft>
                <a:spcPts val="800"/>
              </a:spcAft>
            </a:pPr>
            <a:r>
              <a:rPr sz="1300">
                <a:solidFill>
                  <a:srgbClr val="FBBF24"/>
                </a:solidFill>
              </a:rPr>
              <a:t>- </a:t>
            </a:r>
            <a:r>
              <a:rPr sz="1300" b="0">
                <a:solidFill>
                  <a:srgbClr val="FFFFFF"/>
                </a:solidFill>
              </a:rPr>
              <a:t>Line one tight</a:t>
            </a:r>
          </a:p>
          <a:p>
            <a:pPr lvl="3">
              <a:spcAft>
                <a:spcPts val="800"/>
              </a:spcAft>
            </a:pPr>
            <a:r>
              <a:rPr sz="1300">
                <a:solidFill>
                  <a:srgbClr val="FBBF24"/>
                </a:solidFill>
              </a:rPr>
              <a:t>- </a:t>
            </a:r>
            <a:r>
              <a:rPr sz="1300" b="0">
                <a:solidFill>
                  <a:srgbClr val="FFFFFF"/>
                </a:solidFill>
              </a:rPr>
              <a:t>Line two tight</a:t>
            </a:r>
          </a:p>
          <a:p>
            <a:pPr lvl="3">
              <a:spcAft>
                <a:spcPts val="800"/>
              </a:spcAft>
            </a:pPr>
            <a:r>
              <a:rPr sz="1300">
                <a:solidFill>
                  <a:srgbClr val="FBBF24"/>
                </a:solidFill>
              </a:rPr>
              <a:t>- </a:t>
            </a:r>
            <a:r>
              <a:rPr sz="1300" b="0">
                <a:solidFill>
                  <a:srgbClr val="FFFFFF"/>
                </a:solidFill>
              </a:rPr>
              <a:t>Line one loose</a:t>
            </a:r>
          </a:p>
          <a:p>
            <a:pPr lvl="3">
              <a:spcAft>
                <a:spcPts val="800"/>
              </a:spcAft>
            </a:pPr>
            <a:r>
              <a:rPr sz="1300">
                <a:solidFill>
                  <a:srgbClr val="FBBF24"/>
                </a:solidFill>
              </a:rPr>
              <a:t>- </a:t>
            </a:r>
            <a:r>
              <a:rPr sz="1300" b="0">
                <a:solidFill>
                  <a:srgbClr val="FFFFFF"/>
                </a:solidFill>
              </a:rPr>
              <a:t>Line two loose</a:t>
            </a:r>
          </a:p>
          <a:p>
            <a:pPr lvl="2">
              <a:spcAft>
                <a:spcPts val="800"/>
              </a:spcAft>
            </a:pPr>
            <a:r>
              <a:rPr sz="1400">
                <a:solidFill>
                  <a:srgbClr val="FBBF24"/>
                </a:solidFill>
              </a:rPr>
              <a:t>– </a:t>
            </a:r>
            <a:r>
              <a:rPr sz="1400" b="0">
                <a:solidFill>
                  <a:srgbClr val="FFFFFF"/>
                </a:solidFill>
              </a:rPr>
              <a:t>The vertical space  </a:t>
            </a:r>
            <a:r>
              <a:rPr sz="1400" b="1">
                <a:solidFill>
                  <a:srgbClr val="FBBF24"/>
                </a:solidFill>
              </a:rPr>
              <a:t>between lines of text </a:t>
            </a:r>
            <a:r>
              <a:rPr sz="1400" b="0">
                <a:solidFill>
                  <a:srgbClr val="FFFFFF"/>
                </a:solidFill>
              </a:rPr>
              <a:t>. Named after the lead strips used in manual typesetting. Affects readability of body text.</a:t>
            </a:r>
          </a:p>
          <a:p>
            <a:pPr>
              <a:spcAft>
                <a:spcPts val="800"/>
              </a:spcAft>
            </a:pPr>
            <a:r>
              <a:rPr sz="1600">
                <a:solidFill>
                  <a:srgbClr val="FBBF24"/>
                </a:solidFill>
              </a:rPr>
              <a:t>● </a:t>
            </a:r>
            <a:r>
              <a:rPr sz="1600" b="0">
                <a:solidFill>
                  <a:srgbClr val="FFFFFF"/>
                </a:solidFill>
              </a:rPr>
              <a:t>Memory aid </a:t>
            </a:r>
            <a:r>
              <a:rPr sz="1600" b="1">
                <a:solidFill>
                  <a:srgbClr val="FBBF24"/>
                </a:solidFill>
              </a:rPr>
              <a:t>K </a:t>
            </a:r>
            <a:r>
              <a:rPr sz="1600" b="0">
                <a:solidFill>
                  <a:srgbClr val="FFFFFF"/>
                </a:solidFill>
              </a:rPr>
              <a:t> erning = two characters ·  </a:t>
            </a:r>
            <a:r>
              <a:rPr sz="1600" b="1">
                <a:solidFill>
                  <a:srgbClr val="FBBF24"/>
                </a:solidFill>
              </a:rPr>
              <a:t>T </a:t>
            </a:r>
            <a:r>
              <a:rPr sz="1600" b="0">
                <a:solidFill>
                  <a:srgbClr val="FFFFFF"/>
                </a:solidFill>
              </a:rPr>
              <a:t> racking = a range of text ·  </a:t>
            </a:r>
            <a:r>
              <a:rPr sz="1600" b="1">
                <a:solidFill>
                  <a:srgbClr val="FBBF24"/>
                </a:solidFill>
              </a:rPr>
              <a:t>L </a:t>
            </a:r>
            <a:r>
              <a:rPr sz="1600" b="0">
                <a:solidFill>
                  <a:srgbClr val="FFFFFF"/>
                </a:solidFill>
              </a:rPr>
              <a:t> eading = line spacing (vertical)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TYPE AS ELEMENT</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Type as a Design Element</a:t>
            </a:r>
          </a:p>
          <a:p>
            <a:pPr lvl="2">
              <a:spcAft>
                <a:spcPts val="800"/>
              </a:spcAft>
            </a:pPr>
            <a:r>
              <a:rPr sz="1400">
                <a:solidFill>
                  <a:srgbClr val="FBBF24"/>
                </a:solidFill>
              </a:rPr>
              <a:t>– </a:t>
            </a:r>
            <a:r>
              <a:rPr sz="1400" b="0">
                <a:solidFill>
                  <a:srgbClr val="FFFFFF"/>
                </a:solidFill>
              </a:rPr>
              <a:t>In VCD, type is not just content — it is a  </a:t>
            </a:r>
            <a:r>
              <a:rPr sz="1400" b="1">
                <a:solidFill>
                  <a:srgbClr val="FBBF24"/>
                </a:solidFill>
              </a:rPr>
              <a:t>visual element </a:t>
            </a:r>
            <a:r>
              <a:rPr sz="1400" b="0">
                <a:solidFill>
                  <a:srgbClr val="FFFFFF"/>
                </a:solidFill>
              </a:rPr>
              <a:t> that contributes line, shape, tone, texture, and rhythm to a design.</a:t>
            </a:r>
          </a:p>
          <a:p>
            <a:pPr lvl="2">
              <a:spcAft>
                <a:spcPts val="800"/>
              </a:spcAft>
            </a:pPr>
            <a:r>
              <a:rPr sz="1400">
                <a:solidFill>
                  <a:srgbClr val="FBBF24"/>
                </a:solidFill>
              </a:rPr>
              <a:t>– </a:t>
            </a:r>
            <a:r>
              <a:rPr sz="1400" b="0">
                <a:solidFill>
                  <a:srgbClr val="FFFFFF"/>
                </a:solidFill>
              </a:rPr>
              <a:t>Type Contributes to Elements </a:t>
            </a:r>
            <a:r>
              <a:rPr sz="1400" b="1">
                <a:solidFill>
                  <a:srgbClr val="FBBF24"/>
                </a:solidFill>
              </a:rPr>
              <a:t>Line </a:t>
            </a:r>
            <a:r>
              <a:rPr sz="1400" b="0">
                <a:solidFill>
                  <a:srgbClr val="FFFFFF"/>
                </a:solidFill>
              </a:rPr>
              <a:t> — strokes and stems of letterforms </a:t>
            </a:r>
            <a:r>
              <a:rPr sz="1400" b="1">
                <a:solidFill>
                  <a:srgbClr val="FBBF24"/>
                </a:solidFill>
              </a:rPr>
              <a:t>Shape </a:t>
            </a:r>
            <a:r>
              <a:rPr sz="1400" b="0">
                <a:solidFill>
                  <a:srgbClr val="FFFFFF"/>
                </a:solidFill>
              </a:rPr>
              <a:t> — the silhouette of type blocks </a:t>
            </a:r>
            <a:r>
              <a:rPr sz="1400" b="1">
                <a:solidFill>
                  <a:srgbClr val="FBBF24"/>
                </a:solidFill>
              </a:rPr>
              <a:t>Tone </a:t>
            </a:r>
            <a:r>
              <a:rPr sz="1400" b="0">
                <a:solidFill>
                  <a:srgbClr val="FFFFFF"/>
                </a:solidFill>
              </a:rPr>
              <a:t> — weight variations (light to black) </a:t>
            </a:r>
            <a:r>
              <a:rPr sz="1400" b="1">
                <a:solidFill>
                  <a:srgbClr val="FBBF24"/>
                </a:solidFill>
              </a:rPr>
              <a:t>Texture </a:t>
            </a:r>
            <a:r>
              <a:rPr sz="1400" b="0">
                <a:solidFill>
                  <a:srgbClr val="FFFFFF"/>
                </a:solidFill>
              </a:rPr>
              <a:t> — body text creates a tonal texture </a:t>
            </a:r>
            <a:r>
              <a:rPr sz="1400" b="1">
                <a:solidFill>
                  <a:srgbClr val="FBBF24"/>
                </a:solidFill>
              </a:rPr>
              <a:t>Point </a:t>
            </a:r>
            <a:r>
              <a:rPr sz="1400" b="0">
                <a:solidFill>
                  <a:srgbClr val="FFFFFF"/>
                </a:solidFill>
              </a:rPr>
              <a:t> — a single character as a focal mark</a:t>
            </a:r>
          </a:p>
          <a:p>
            <a:pPr lvl="3">
              <a:spcAft>
                <a:spcPts val="800"/>
              </a:spcAft>
            </a:pPr>
            <a:r>
              <a:rPr sz="1300">
                <a:solidFill>
                  <a:srgbClr val="FBBF24"/>
                </a:solidFill>
              </a:rPr>
              <a:t>- </a:t>
            </a:r>
            <a:r>
              <a:rPr sz="1300" b="0">
                <a:solidFill>
                  <a:srgbClr val="FFFFFF"/>
                </a:solidFill>
              </a:rPr>
              <a:t>Exam Sentence Starter</a:t>
            </a:r>
          </a:p>
          <a:p>
            <a:pPr lvl="3">
              <a:spcAft>
                <a:spcPts val="800"/>
              </a:spcAft>
            </a:pPr>
            <a:r>
              <a:rPr sz="1300">
                <a:solidFill>
                  <a:srgbClr val="FBBF24"/>
                </a:solidFill>
              </a:rPr>
              <a:t>- </a:t>
            </a:r>
            <a:r>
              <a:rPr sz="1300" b="0">
                <a:solidFill>
                  <a:srgbClr val="FFFFFF"/>
                </a:solidFill>
              </a:rPr>
              <a:t>"The [serif/sans-serif] typeface used for the heading contributes [visual weight/authority/elegance] to the design, while the [classification] body text ensures legibility and creates a [tonal texture/visual rhythm]."</a:t>
            </a:r>
          </a:p>
          <a:p>
            <a:pPr lvl="3">
              <a:spcAft>
                <a:spcPts val="800"/>
              </a:spcAft>
            </a:pPr>
            <a:r>
              <a:rPr sz="1300">
                <a:solidFill>
                  <a:srgbClr val="FBBF24"/>
                </a:solidFill>
              </a:rPr>
              <a:t>- </a:t>
            </a:r>
            <a:r>
              <a:rPr sz="1300" b="0">
                <a:solidFill>
                  <a:srgbClr val="FFFFFF"/>
                </a:solidFill>
              </a:rPr>
              <a:t>Aa Bb Cc</a:t>
            </a:r>
          </a:p>
          <a:p>
            <a:pPr lvl="3">
              <a:spcAft>
                <a:spcPts val="800"/>
              </a:spcAft>
            </a:pPr>
            <a:r>
              <a:rPr sz="1300">
                <a:solidFill>
                  <a:srgbClr val="FBBF24"/>
                </a:solidFill>
              </a:rPr>
              <a:t>- </a:t>
            </a:r>
            <a:r>
              <a:rPr sz="1300" b="0">
                <a:solidFill>
                  <a:srgbClr val="FFFFFF"/>
                </a:solidFill>
              </a:rPr>
              <a:t>Lorem ipsum dolor sit amet consectetur adipiscing elit sed do eiusmod tempor incididunt ut labore et dolore magna aliqua ut enim ad minim veniam quis nostrud exercitation ullamco laboris nisi aliquip ex ea commodo consequat</a:t>
            </a:r>
          </a:p>
          <a:p>
            <a:pPr lvl="3">
              <a:spcAft>
                <a:spcPts val="800"/>
              </a:spcAft>
            </a:pPr>
            <a:r>
              <a:rPr sz="1300">
                <a:solidFill>
                  <a:srgbClr val="FBBF24"/>
                </a:solidFill>
              </a:rPr>
              <a:t>- </a:t>
            </a:r>
            <a:r>
              <a:rPr sz="1300" b="0">
                <a:solidFill>
                  <a:srgbClr val="FFFFFF"/>
                </a:solidFill>
              </a:rPr>
              <a:t>↑ Body text creates visual texture through repeated letterforms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TYPE IN CONTEXT</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Choosing the Right Typeface</a:t>
            </a:r>
          </a:p>
          <a:p>
            <a:pPr lvl="2">
              <a:spcAft>
                <a:spcPts val="800"/>
              </a:spcAft>
            </a:pPr>
            <a:r>
              <a:rPr sz="1400">
                <a:solidFill>
                  <a:srgbClr val="FBBF24"/>
                </a:solidFill>
              </a:rPr>
              <a:t>– </a:t>
            </a:r>
            <a:r>
              <a:rPr sz="1400" b="0">
                <a:solidFill>
                  <a:srgbClr val="FFFFFF"/>
                </a:solidFill>
              </a:rPr>
              <a:t>Serif — When to useFormal, traditional, authoritative tonePrint body text (easier to read in print)Law firms, banks, newspapers, booksWhen you want to convey heritage or trust</a:t>
            </a:r>
          </a:p>
          <a:p>
            <a:pPr lvl="2">
              <a:spcAft>
                <a:spcPts val="800"/>
              </a:spcAft>
            </a:pPr>
            <a:r>
              <a:rPr sz="1400">
                <a:solidFill>
                  <a:srgbClr val="FBBF24"/>
                </a:solidFill>
              </a:rPr>
              <a:t>– </a:t>
            </a:r>
            <a:r>
              <a:rPr sz="1400" b="0">
                <a:solidFill>
                  <a:srgbClr val="FFFFFF"/>
                </a:solidFill>
              </a:rPr>
              <a:t>Sans-Serif — When to useModern, clean, accessible designsScreen interfaces and appsSignage and wayfindingTech companies, startups, modern brands</a:t>
            </a:r>
          </a:p>
          <a:p>
            <a:pPr lvl="2">
              <a:spcAft>
                <a:spcPts val="800"/>
              </a:spcAft>
            </a:pPr>
            <a:r>
              <a:rPr sz="1400">
                <a:solidFill>
                  <a:srgbClr val="FBBF24"/>
                </a:solidFill>
              </a:rPr>
              <a:t>– </a:t>
            </a:r>
            <a:r>
              <a:rPr sz="1400" b="0">
                <a:solidFill>
                  <a:srgbClr val="FFFFFF"/>
                </a:solidFill>
              </a:rPr>
              <a:t>Script/Decorative — CautionHeadlines and display only — never body textInvitations, greeting cards, brandingCan feel unprofessional if overusedAvoid for any text under 14pt</a:t>
            </a:r>
          </a:p>
          <a:p>
            <a:pPr lvl="4">
              <a:spcAft>
                <a:spcPts val="800"/>
              </a:spcAft>
            </a:pPr>
            <a:r>
              <a:rPr sz="1200">
                <a:solidFill>
                  <a:srgbClr val="FBBF24"/>
                </a:solidFill>
              </a:rPr>
              <a:t>- </a:t>
            </a:r>
            <a:r>
              <a:rPr sz="1200" b="0">
                <a:solidFill>
                  <a:srgbClr val="FFFFFF"/>
                </a:solidFill>
              </a:rPr>
              <a:t>The Melbourne Chronicle</a:t>
            </a:r>
          </a:p>
          <a:p>
            <a:pPr lvl="4">
              <a:spcAft>
                <a:spcPts val="800"/>
              </a:spcAft>
            </a:pPr>
            <a:r>
              <a:rPr sz="1200">
                <a:solidFill>
                  <a:srgbClr val="FBBF24"/>
                </a:solidFill>
              </a:rPr>
              <a:t>- </a:t>
            </a:r>
            <a:r>
              <a:rPr sz="1200" b="0">
                <a:solidFill>
                  <a:srgbClr val="FFFFFF"/>
                </a:solidFill>
              </a:rPr>
              <a:t>Serif = newspaper/authoritative</a:t>
            </a:r>
          </a:p>
          <a:p>
            <a:pPr lvl="4">
              <a:spcAft>
                <a:spcPts val="800"/>
              </a:spcAft>
            </a:pPr>
            <a:r>
              <a:rPr sz="1200">
                <a:solidFill>
                  <a:srgbClr val="FBBF24"/>
                </a:solidFill>
              </a:rPr>
              <a:t>- </a:t>
            </a:r>
            <a:r>
              <a:rPr sz="1200" b="0">
                <a:solidFill>
                  <a:srgbClr val="FFFFFF"/>
                </a:solidFill>
              </a:rPr>
              <a:t>TechFlow App</a:t>
            </a:r>
          </a:p>
          <a:p>
            <a:pPr lvl="4">
              <a:spcAft>
                <a:spcPts val="800"/>
              </a:spcAft>
            </a:pPr>
            <a:r>
              <a:rPr sz="1200">
                <a:solidFill>
                  <a:srgbClr val="FBBF24"/>
                </a:solidFill>
              </a:rPr>
              <a:t>- </a:t>
            </a:r>
            <a:r>
              <a:rPr sz="1200" b="0">
                <a:solidFill>
                  <a:srgbClr val="FFFFFF"/>
                </a:solidFill>
              </a:rPr>
              <a:t>Sans-serif = modern/digital</a:t>
            </a:r>
          </a:p>
          <a:p>
            <a:pPr lvl="4">
              <a:spcAft>
                <a:spcPts val="800"/>
              </a:spcAft>
            </a:pPr>
            <a:r>
              <a:rPr sz="1200">
                <a:solidFill>
                  <a:srgbClr val="FBBF24"/>
                </a:solidFill>
              </a:rPr>
              <a:t>- </a:t>
            </a:r>
            <a:r>
              <a:rPr sz="1200" b="0">
                <a:solidFill>
                  <a:srgbClr val="FFFFFF"/>
                </a:solidFill>
              </a:rPr>
              <a:t>Wedding Invitation</a:t>
            </a:r>
          </a:p>
          <a:p>
            <a:pPr lvl="4">
              <a:spcAft>
                <a:spcPts val="800"/>
              </a:spcAft>
            </a:pPr>
            <a:r>
              <a:rPr sz="1200">
                <a:solidFill>
                  <a:srgbClr val="FBBF24"/>
                </a:solidFill>
              </a:rPr>
              <a:t>- </a:t>
            </a:r>
            <a:r>
              <a:rPr sz="1200" b="0">
                <a:solidFill>
                  <a:srgbClr val="FFFFFF"/>
                </a:solidFill>
              </a:rPr>
              <a:t>Script = personal/formal occasion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LAYOUT</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Type and the Grid</a:t>
            </a:r>
          </a:p>
          <a:p>
            <a:pPr lvl="2">
              <a:spcAft>
                <a:spcPts val="800"/>
              </a:spcAft>
            </a:pPr>
            <a:r>
              <a:rPr sz="1400">
                <a:solidFill>
                  <a:srgbClr val="FBBF24"/>
                </a:solidFill>
              </a:rPr>
              <a:t>– </a:t>
            </a:r>
            <a:r>
              <a:rPr sz="1400" b="0">
                <a:solidFill>
                  <a:srgbClr val="FFFFFF"/>
                </a:solidFill>
              </a:rPr>
              <a:t>A typographic grid is an invisible framework of  </a:t>
            </a:r>
            <a:r>
              <a:rPr sz="1400" b="1">
                <a:solidFill>
                  <a:srgbClr val="FBBF24"/>
                </a:solidFill>
              </a:rPr>
              <a:t>columns, rows, and margins </a:t>
            </a:r>
            <a:r>
              <a:rPr sz="1400" b="0">
                <a:solidFill>
                  <a:srgbClr val="FFFFFF"/>
                </a:solidFill>
              </a:rPr>
              <a:t> that organises type and images on a page.</a:t>
            </a:r>
          </a:p>
          <a:p>
            <a:pPr lvl="2">
              <a:spcAft>
                <a:spcPts val="800"/>
              </a:spcAft>
            </a:pPr>
            <a:r>
              <a:rPr sz="1400">
                <a:solidFill>
                  <a:srgbClr val="FBBF24"/>
                </a:solidFill>
              </a:rPr>
              <a:t>– </a:t>
            </a:r>
            <a:r>
              <a:rPr sz="1400" b="0">
                <a:solidFill>
                  <a:srgbClr val="FFFFFF"/>
                </a:solidFill>
              </a:rPr>
              <a:t>Grid Components </a:t>
            </a:r>
            <a:r>
              <a:rPr sz="1400" b="1">
                <a:solidFill>
                  <a:srgbClr val="FBBF24"/>
                </a:solidFill>
              </a:rPr>
              <a:t>Margins </a:t>
            </a:r>
            <a:r>
              <a:rPr sz="1400" b="0">
                <a:solidFill>
                  <a:srgbClr val="FFFFFF"/>
                </a:solidFill>
              </a:rPr>
              <a:t> — blank space around the page edge </a:t>
            </a:r>
            <a:r>
              <a:rPr sz="1400" b="1">
                <a:solidFill>
                  <a:srgbClr val="FBBF24"/>
                </a:solidFill>
              </a:rPr>
              <a:t>Columns </a:t>
            </a:r>
            <a:r>
              <a:rPr sz="1400" b="0">
                <a:solidFill>
                  <a:srgbClr val="FFFFFF"/>
                </a:solidFill>
              </a:rPr>
              <a:t> — vertical divisions for text </a:t>
            </a:r>
            <a:r>
              <a:rPr sz="1400" b="1">
                <a:solidFill>
                  <a:srgbClr val="FBBF24"/>
                </a:solidFill>
              </a:rPr>
              <a:t>Gutters </a:t>
            </a:r>
            <a:r>
              <a:rPr sz="1400" b="0">
                <a:solidFill>
                  <a:srgbClr val="FFFFFF"/>
                </a:solidFill>
              </a:rPr>
              <a:t> — space between columns </a:t>
            </a:r>
            <a:r>
              <a:rPr sz="1400" b="1">
                <a:solidFill>
                  <a:srgbClr val="FBBF24"/>
                </a:solidFill>
              </a:rPr>
              <a:t>Baseline grid </a:t>
            </a:r>
            <a:r>
              <a:rPr sz="1400" b="0">
                <a:solidFill>
                  <a:srgbClr val="FFFFFF"/>
                </a:solidFill>
              </a:rPr>
              <a:t> — horizontal lines for text alignment </a:t>
            </a:r>
            <a:r>
              <a:rPr sz="1400" b="1">
                <a:solidFill>
                  <a:srgbClr val="FBBF24"/>
                </a:solidFill>
              </a:rPr>
              <a:t>Flowlines </a:t>
            </a:r>
            <a:r>
              <a:rPr sz="1400" b="0">
                <a:solidFill>
                  <a:srgbClr val="FFFFFF"/>
                </a:solidFill>
              </a:rPr>
              <a:t> — horizontal alignment guides</a:t>
            </a:r>
          </a:p>
          <a:p>
            <a:pPr lvl="2">
              <a:spcAft>
                <a:spcPts val="800"/>
              </a:spcAft>
            </a:pPr>
            <a:r>
              <a:rPr sz="1400">
                <a:solidFill>
                  <a:srgbClr val="FBBF24"/>
                </a:solidFill>
              </a:rPr>
              <a:t>– </a:t>
            </a:r>
            <a:r>
              <a:rPr sz="1400" b="0">
                <a:solidFill>
                  <a:srgbClr val="FFFFFF"/>
                </a:solidFill>
              </a:rPr>
              <a:t>A 3-column grid allows a headline to span all 3 columns, while body text sits in one column and an image fills two — creating varied, dynamic layouts.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EXAM TECHNIQUE</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Writing About Typography</a:t>
            </a:r>
          </a:p>
          <a:p>
            <a:pPr lvl="3">
              <a:spcAft>
                <a:spcPts val="800"/>
              </a:spcAft>
            </a:pPr>
            <a:r>
              <a:rPr sz="1300">
                <a:solidFill>
                  <a:srgbClr val="FBBF24"/>
                </a:solidFill>
              </a:rPr>
              <a:t>- </a:t>
            </a:r>
            <a:r>
              <a:rPr sz="1300" b="0">
                <a:solidFill>
                  <a:srgbClr val="FFFFFF"/>
                </a:solidFill>
              </a:rPr>
              <a:t>✅ Strong Response</a:t>
            </a:r>
          </a:p>
          <a:p>
            <a:pPr lvl="3">
              <a:spcAft>
                <a:spcPts val="800"/>
              </a:spcAft>
            </a:pPr>
            <a:r>
              <a:rPr sz="1300">
                <a:solidFill>
                  <a:srgbClr val="FBBF24"/>
                </a:solidFill>
              </a:rPr>
              <a:t>- </a:t>
            </a:r>
            <a:r>
              <a:rPr sz="1300" b="0">
                <a:solidFill>
                  <a:srgbClr val="FFFFFF"/>
                </a:solidFill>
              </a:rPr>
              <a:t>"The serif typeface used for the masthead communicates authority and tradition, consistent with the newspaper's long-established identity. The larger point size and bold weight create typographic hierarchy, establishing the masthead as the primary visual element. The body text in a smaller sans-serif typeface ensures legibility at smaller sizes while providing visual contrast with the heading."</a:t>
            </a:r>
          </a:p>
          <a:p>
            <a:pPr lvl="3">
              <a:spcAft>
                <a:spcPts val="800"/>
              </a:spcAft>
            </a:pPr>
            <a:r>
              <a:rPr sz="1300">
                <a:solidFill>
                  <a:srgbClr val="FBBF24"/>
                </a:solidFill>
              </a:rPr>
              <a:t>- </a:t>
            </a:r>
            <a:r>
              <a:rPr sz="1300" b="0">
                <a:solidFill>
                  <a:srgbClr val="FFFFFF"/>
                </a:solidFill>
              </a:rPr>
              <a:t>❌ Weak Response</a:t>
            </a:r>
          </a:p>
          <a:p>
            <a:pPr lvl="3">
              <a:spcAft>
                <a:spcPts val="800"/>
              </a:spcAft>
            </a:pPr>
            <a:r>
              <a:rPr sz="1300">
                <a:solidFill>
                  <a:srgbClr val="FBBF24"/>
                </a:solidFill>
              </a:rPr>
              <a:t>- </a:t>
            </a:r>
            <a:r>
              <a:rPr sz="1300" b="0">
                <a:solidFill>
                  <a:srgbClr val="FFFFFF"/>
                </a:solidFill>
              </a:rPr>
              <a:t>"The font is big and bold. It uses a nice serif font for the title."</a:t>
            </a:r>
          </a:p>
          <a:p>
            <a:pPr lvl="2">
              <a:spcAft>
                <a:spcPts val="800"/>
              </a:spcAft>
            </a:pPr>
            <a:r>
              <a:rPr sz="1400">
                <a:solidFill>
                  <a:srgbClr val="FBBF24"/>
                </a:solidFill>
              </a:rPr>
              <a:t>– </a:t>
            </a:r>
            <a:r>
              <a:rPr sz="1400" b="0">
                <a:solidFill>
                  <a:srgbClr val="FFFFFF"/>
                </a:solidFill>
              </a:rPr>
              <a:t>Key VocabularyTypeface / font / classificationSerif / sans-serif / script / displayPoint size / weight / styleKerning / tracking / leadingLegibility / readabilityTypographic hierarchyAlignment / column / margin</a:t>
            </a:r>
          </a:p>
          <a:p>
            <a:pPr lvl="2">
              <a:spcAft>
                <a:spcPts val="800"/>
              </a:spcAft>
            </a:pPr>
            <a:r>
              <a:rPr sz="1400">
                <a:solidFill>
                  <a:srgbClr val="FBBF24"/>
                </a:solidFill>
              </a:rPr>
              <a:t>– </a:t>
            </a:r>
            <a:r>
              <a:rPr sz="1400" b="0">
                <a:solidFill>
                  <a:srgbClr val="FFFFFF"/>
                </a:solidFill>
              </a:rPr>
              <a:t>Effect Phrases"...communicates [tone] to the viewer...""...establishes visual hierarchy by...""...ensures legibility through...""...creates contrast between heading and body...""...guides the viewer's eye from X to 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A00"/>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FBBF24"/>
                </a:solidFill>
              </a:rPr>
              <a:t>🎓 SUMMARY</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FBBF24"/>
                </a:solidFill>
              </a:rPr>
              <a:t>● </a:t>
            </a:r>
            <a:r>
              <a:rPr sz="1600" b="0">
                <a:solidFill>
                  <a:srgbClr val="FFFFFF"/>
                </a:solidFill>
              </a:rPr>
              <a:t>Typography Summary</a:t>
            </a:r>
          </a:p>
          <a:p>
            <a:pPr lvl="2">
              <a:spcAft>
                <a:spcPts val="800"/>
              </a:spcAft>
            </a:pPr>
            <a:r>
              <a:rPr sz="1400">
                <a:solidFill>
                  <a:srgbClr val="FBBF24"/>
                </a:solidFill>
              </a:rPr>
              <a:t>– </a:t>
            </a:r>
            <a:r>
              <a:rPr sz="1400" b="0">
                <a:solidFill>
                  <a:srgbClr val="FFFFFF"/>
                </a:solidFill>
              </a:rPr>
              <a:t>🔤</a:t>
            </a:r>
          </a:p>
          <a:p>
            <a:pPr lvl="2">
              <a:spcAft>
                <a:spcPts val="800"/>
              </a:spcAft>
            </a:pPr>
            <a:r>
              <a:rPr sz="1400">
                <a:solidFill>
                  <a:srgbClr val="FBBF24"/>
                </a:solidFill>
              </a:rPr>
              <a:t>– </a:t>
            </a:r>
            <a:r>
              <a:rPr sz="1400" b="0">
                <a:solidFill>
                  <a:srgbClr val="FFFFFF"/>
                </a:solidFill>
              </a:rPr>
              <a:t>Anatomy</a:t>
            </a:r>
          </a:p>
          <a:p>
            <a:pPr lvl="2">
              <a:spcAft>
                <a:spcPts val="800"/>
              </a:spcAft>
            </a:pPr>
            <a:r>
              <a:rPr sz="1400">
                <a:solidFill>
                  <a:srgbClr val="FBBF24"/>
                </a:solidFill>
              </a:rPr>
              <a:t>– </a:t>
            </a:r>
            <a:r>
              <a:rPr sz="1400" b="0">
                <a:solidFill>
                  <a:srgbClr val="FFFFFF"/>
                </a:solidFill>
              </a:rPr>
              <a:t>Baseline, x-height, cap height, ascender, descender, serif, counter, stem</a:t>
            </a:r>
          </a:p>
          <a:p>
            <a:pPr lvl="2">
              <a:spcAft>
                <a:spcPts val="800"/>
              </a:spcAft>
            </a:pPr>
            <a:r>
              <a:rPr sz="1400">
                <a:solidFill>
                  <a:srgbClr val="FBBF24"/>
                </a:solidFill>
              </a:rPr>
              <a:t>– </a:t>
            </a:r>
            <a:r>
              <a:rPr sz="1400" b="0">
                <a:solidFill>
                  <a:srgbClr val="FFFFFF"/>
                </a:solidFill>
              </a:rPr>
              <a:t>🗂</a:t>
            </a:r>
          </a:p>
          <a:p>
            <a:pPr lvl="2">
              <a:spcAft>
                <a:spcPts val="800"/>
              </a:spcAft>
            </a:pPr>
            <a:r>
              <a:rPr sz="1400">
                <a:solidFill>
                  <a:srgbClr val="FBBF24"/>
                </a:solidFill>
              </a:rPr>
              <a:t>– </a:t>
            </a:r>
            <a:r>
              <a:rPr sz="1400" b="0">
                <a:solidFill>
                  <a:srgbClr val="FFFFFF"/>
                </a:solidFill>
              </a:rPr>
              <a:t>Classifications</a:t>
            </a:r>
          </a:p>
          <a:p>
            <a:pPr lvl="2">
              <a:spcAft>
                <a:spcPts val="800"/>
              </a:spcAft>
            </a:pPr>
            <a:r>
              <a:rPr sz="1400">
                <a:solidFill>
                  <a:srgbClr val="FBBF24"/>
                </a:solidFill>
              </a:rPr>
              <a:t>– </a:t>
            </a:r>
            <a:r>
              <a:rPr sz="1400" b="0">
                <a:solidFill>
                  <a:srgbClr val="FFFFFF"/>
                </a:solidFill>
              </a:rPr>
              <a:t>Serif · Sans-Serif · Script/Decorative · Monospaced</a:t>
            </a:r>
          </a:p>
          <a:p>
            <a:pPr lvl="2">
              <a:spcAft>
                <a:spcPts val="800"/>
              </a:spcAft>
            </a:pPr>
            <a:r>
              <a:rPr sz="1400">
                <a:solidFill>
                  <a:srgbClr val="FBBF24"/>
                </a:solidFill>
              </a:rPr>
              <a:t>– </a:t>
            </a:r>
            <a:r>
              <a:rPr sz="1400" b="0">
                <a:solidFill>
                  <a:srgbClr val="FFFFFF"/>
                </a:solidFill>
              </a:rPr>
              <a:t>📐</a:t>
            </a:r>
          </a:p>
          <a:p>
            <a:pPr lvl="2">
              <a:spcAft>
                <a:spcPts val="800"/>
              </a:spcAft>
            </a:pPr>
            <a:r>
              <a:rPr sz="1400">
                <a:solidFill>
                  <a:srgbClr val="FBBF24"/>
                </a:solidFill>
              </a:rPr>
              <a:t>– </a:t>
            </a:r>
            <a:r>
              <a:rPr sz="1400" b="0">
                <a:solidFill>
                  <a:srgbClr val="FFFFFF"/>
                </a:solidFill>
              </a:rPr>
              <a:t>Hierarchy</a:t>
            </a:r>
          </a:p>
          <a:p>
            <a:pPr lvl="2">
              <a:spcAft>
                <a:spcPts val="800"/>
              </a:spcAft>
            </a:pPr>
            <a:r>
              <a:rPr sz="1400">
                <a:solidFill>
                  <a:srgbClr val="FBBF24"/>
                </a:solidFill>
              </a:rPr>
              <a:t>– </a:t>
            </a:r>
            <a:r>
              <a:rPr sz="1400" b="0">
                <a:solidFill>
                  <a:srgbClr val="FFFFFF"/>
                </a:solidFill>
              </a:rPr>
              <a:t>Size, weight, colour, position, typeface — signal reading order</a:t>
            </a:r>
          </a:p>
          <a:p>
            <a:pPr lvl="2">
              <a:spcAft>
                <a:spcPts val="800"/>
              </a:spcAft>
            </a:pPr>
            <a:r>
              <a:rPr sz="1400">
                <a:solidFill>
                  <a:srgbClr val="FBBF24"/>
                </a:solidFill>
              </a:rPr>
              <a:t>– </a:t>
            </a:r>
            <a:r>
              <a:rPr sz="1400" b="0">
                <a:solidFill>
                  <a:srgbClr val="FFFFFF"/>
                </a:solidFill>
              </a:rPr>
              <a:t>↔</a:t>
            </a:r>
          </a:p>
          <a:p>
            <a:pPr lvl="2">
              <a:spcAft>
                <a:spcPts val="800"/>
              </a:spcAft>
            </a:pPr>
            <a:r>
              <a:rPr sz="1400">
                <a:solidFill>
                  <a:srgbClr val="FBBF24"/>
                </a:solidFill>
              </a:rPr>
              <a:t>– </a:t>
            </a:r>
            <a:r>
              <a:rPr sz="1400" b="0">
                <a:solidFill>
                  <a:srgbClr val="FFFFFF"/>
                </a:solidFill>
              </a:rPr>
              <a:t>Spacing</a:t>
            </a:r>
          </a:p>
          <a:p>
            <a:pPr lvl="2">
              <a:spcAft>
                <a:spcPts val="800"/>
              </a:spcAft>
            </a:pPr>
            <a:r>
              <a:rPr sz="1400">
                <a:solidFill>
                  <a:srgbClr val="FBBF24"/>
                </a:solidFill>
              </a:rPr>
              <a:t>– </a:t>
            </a:r>
            <a:r>
              <a:rPr sz="1400" b="0">
                <a:solidFill>
                  <a:srgbClr val="FFFFFF"/>
                </a:solidFill>
              </a:rPr>
              <a:t>Kerning (pairs) · Tracking (range) · Leading (lines)</a:t>
            </a:r>
          </a:p>
          <a:p>
            <a:pPr>
              <a:spcAft>
                <a:spcPts val="800"/>
              </a:spcAft>
            </a:pPr>
            <a:r>
              <a:rPr sz="1600">
                <a:solidFill>
                  <a:srgbClr val="FBBF24"/>
                </a:solidFill>
              </a:rPr>
              <a:t>● </a:t>
            </a:r>
            <a:r>
              <a:rPr sz="1600" b="0">
                <a:solidFill>
                  <a:srgbClr val="FFFFFF"/>
                </a:solidFill>
              </a:rPr>
              <a:t>The 3-part analysis formula (applies to ALL VCD elements) </a:t>
            </a:r>
            <a:r>
              <a:rPr sz="1600" b="1">
                <a:solidFill>
                  <a:srgbClr val="FBBF24"/>
                </a:solidFill>
              </a:rPr>
              <a:t>Name </a:t>
            </a:r>
            <a:r>
              <a:rPr sz="1600" b="0">
                <a:solidFill>
                  <a:srgbClr val="FFFFFF"/>
                </a:solidFill>
              </a:rPr>
              <a:t> the technique/element →  </a:t>
            </a:r>
            <a:r>
              <a:rPr sz="1600" b="1">
                <a:solidFill>
                  <a:srgbClr val="FBBF24"/>
                </a:solidFill>
              </a:rPr>
              <a:t>Evidence </a:t>
            </a:r>
            <a:r>
              <a:rPr sz="1600" b="0">
                <a:solidFill>
                  <a:srgbClr val="FFFFFF"/>
                </a:solidFill>
              </a:rPr>
              <a:t> (specific visual detail) →  </a:t>
            </a:r>
            <a:r>
              <a:rPr sz="1600" b="1">
                <a:solidFill>
                  <a:srgbClr val="FBBF24"/>
                </a:solidFill>
              </a:rPr>
              <a:t>Effect </a:t>
            </a:r>
            <a:r>
              <a:rPr sz="1600" b="0">
                <a:solidFill>
                  <a:srgbClr val="FFFFFF"/>
                </a:solidFill>
              </a:rPr>
              <a:t> on the viewer</a:t>
            </a:r>
          </a:p>
          <a:p>
            <a:pPr>
              <a:spcAft>
                <a:spcPts val="800"/>
              </a:spcAft>
            </a:pPr>
            <a:r>
              <a:rPr sz="1600">
                <a:solidFill>
                  <a:srgbClr val="FBBF24"/>
                </a:solidFill>
              </a:rPr>
              <a:t>● </a:t>
            </a:r>
            <a:r>
              <a:rPr sz="1600" b="0">
                <a:solidFill>
                  <a:srgbClr val="FFFFFF"/>
                </a:solidFill>
              </a:rPr>
              <a:t>VCAA 2024 VCE VCD — Unit 1 AOS 1 · Typography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