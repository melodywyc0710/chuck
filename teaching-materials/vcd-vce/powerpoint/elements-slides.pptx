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C084FC"/>
                </a:solidFill>
              </a:rPr>
              <a:t>VCAA-VCD-ELEM1 &amp; ELEM2 · UNIT 1 AOS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85800"/>
            <a:ext cx="110642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1">
                <a:solidFill>
                  <a:srgbClr val="FFFFFF"/>
                </a:solidFill>
              </a:rPr>
              <a:t>The 8 Design Elements 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965960"/>
            <a:ext cx="11064240" cy="5669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spcAft>
                <a:spcPts val="800"/>
              </a:spcAft>
            </a:pPr>
            <a:r>
              <a:rPr sz="1500">
                <a:solidFill>
                  <a:srgbClr val="C084FC"/>
                </a:solidFill>
              </a:rPr>
              <a:t>‣ </a:t>
            </a:r>
            <a:r>
              <a:rPr sz="1500" b="0">
                <a:solidFill>
                  <a:srgbClr val="FFFFFF"/>
                </a:solidFill>
              </a:rPr>
              <a:t>Visual Communication Design · Year 11 VCE</a:t>
            </a:r>
          </a:p>
          <a:p>
            <a:pPr lvl="1">
              <a:spcAft>
                <a:spcPts val="800"/>
              </a:spcAft>
            </a:pPr>
            <a:r>
              <a:rPr sz="1500">
                <a:solidFill>
                  <a:srgbClr val="C084FC"/>
                </a:solidFill>
              </a:rPr>
              <a:t>‣ </a:t>
            </a:r>
            <a:r>
              <a:rPr sz="1500" b="0">
                <a:solidFill>
                  <a:srgbClr val="FFFFFF"/>
                </a:solidFill>
              </a:rPr>
              <a:t>Use ← → arrow keys or buttons to navigate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C084FC"/>
                </a:solidFill>
              </a:rPr>
              <a:t>INTRODUCTION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85800"/>
            <a:ext cx="110642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1">
                <a:solidFill>
                  <a:srgbClr val="FFFFFF"/>
                </a:solidFill>
              </a:rPr>
              <a:t>What are Design Elements? 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965960"/>
            <a:ext cx="11064240" cy="5669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spcAft>
                <a:spcPts val="800"/>
              </a:spcAft>
            </a:pPr>
            <a:r>
              <a:rPr sz="1500">
                <a:solidFill>
                  <a:srgbClr val="C084FC"/>
                </a:solidFill>
              </a:rPr>
              <a:t>‣ </a:t>
            </a:r>
            <a:r>
              <a:rPr sz="1500" b="0">
                <a:solidFill>
                  <a:srgbClr val="FFFFFF"/>
                </a:solidFill>
              </a:rPr>
              <a:t>Design elements are the  </a:t>
            </a:r>
            <a:r>
              <a:rPr sz="1500" b="1">
                <a:solidFill>
                  <a:srgbClr val="C084FC"/>
                </a:solidFill>
              </a:rPr>
              <a:t>fundamental visual building blocks </a:t>
            </a:r>
            <a:r>
              <a:rPr sz="1500" b="0">
                <a:solidFill>
                  <a:srgbClr val="FFFFFF"/>
                </a:solidFill>
              </a:rPr>
              <a:t> a designer uses to create any visual communication.</a:t>
            </a:r>
          </a:p>
          <a:p>
            <a:pPr lvl="1">
              <a:spcAft>
                <a:spcPts val="800"/>
              </a:spcAft>
            </a:pPr>
            <a:r>
              <a:rPr sz="1500">
                <a:solidFill>
                  <a:srgbClr val="C084FC"/>
                </a:solidFill>
              </a:rPr>
              <a:t>‣ </a:t>
            </a:r>
            <a:r>
              <a:rPr sz="1500" b="0">
                <a:solidFill>
                  <a:srgbClr val="FFFFFF"/>
                </a:solidFill>
              </a:rPr>
              <a:t>They are the "what" of a design — the raw materials that can be seen and described.</a:t>
            </a:r>
          </a:p>
          <a:p>
            <a:pPr lvl="1">
              <a:spcAft>
                <a:spcPts val="800"/>
              </a:spcAft>
            </a:pPr>
            <a:r>
              <a:rPr sz="1500">
                <a:solidFill>
                  <a:srgbClr val="C084FC"/>
                </a:solidFill>
              </a:rPr>
              <a:t>‣ </a:t>
            </a:r>
            <a:r>
              <a:rPr sz="1500" b="1">
                <a:solidFill>
                  <a:srgbClr val="C084FC"/>
                </a:solidFill>
              </a:rPr>
              <a:t>In the VCE exam </a:t>
            </a:r>
            <a:r>
              <a:rPr sz="1500" b="0">
                <a:solidFill>
                  <a:srgbClr val="FFFFFF"/>
                </a:solidFill>
              </a:rPr>
              <a:t> you must: name the element → describe how it is used → explain the effect on the audience.</a:t>
            </a:r>
          </a:p>
          <a:p>
            <a:pPr lvl="2">
              <a:spcAft>
                <a:spcPts val="800"/>
              </a:spcAft>
            </a:pPr>
            <a:r>
              <a:rPr sz="1400">
                <a:solidFill>
                  <a:srgbClr val="C084FC"/>
                </a:solidFill>
              </a:rPr>
              <a:t>– </a:t>
            </a:r>
            <a:r>
              <a:rPr sz="1400" b="0">
                <a:solidFill>
                  <a:srgbClr val="FFFFFF"/>
                </a:solidFill>
              </a:rPr>
              <a:t>The 8 VCAA 2024 Elements</a:t>
            </a:r>
          </a:p>
          <a:p>
            <a:pPr lvl="3">
              <a:spcAft>
                <a:spcPts val="800"/>
              </a:spcAft>
            </a:pPr>
            <a:r>
              <a:rPr sz="1300">
                <a:solidFill>
                  <a:srgbClr val="C084FC"/>
                </a:solidFill>
              </a:rPr>
              <a:t>- </a:t>
            </a:r>
            <a:r>
              <a:rPr sz="1300" b="0">
                <a:solidFill>
                  <a:srgbClr val="FFFFFF"/>
                </a:solidFill>
              </a:rPr>
              <a:t>1. Line</a:t>
            </a:r>
          </a:p>
          <a:p>
            <a:pPr lvl="3">
              <a:spcAft>
                <a:spcPts val="800"/>
              </a:spcAft>
            </a:pPr>
            <a:r>
              <a:rPr sz="1300">
                <a:solidFill>
                  <a:srgbClr val="C084FC"/>
                </a:solidFill>
              </a:rPr>
              <a:t>- </a:t>
            </a:r>
            <a:r>
              <a:rPr sz="1300" b="0">
                <a:solidFill>
                  <a:srgbClr val="FFFFFF"/>
                </a:solidFill>
              </a:rPr>
              <a:t>2. Shape</a:t>
            </a:r>
          </a:p>
          <a:p>
            <a:pPr lvl="3">
              <a:spcAft>
                <a:spcPts val="800"/>
              </a:spcAft>
            </a:pPr>
            <a:r>
              <a:rPr sz="1300">
                <a:solidFill>
                  <a:srgbClr val="C084FC"/>
                </a:solidFill>
              </a:rPr>
              <a:t>- </a:t>
            </a:r>
            <a:r>
              <a:rPr sz="1300" b="0">
                <a:solidFill>
                  <a:srgbClr val="FFFFFF"/>
                </a:solidFill>
              </a:rPr>
              <a:t>3. Colour</a:t>
            </a:r>
          </a:p>
          <a:p>
            <a:pPr lvl="3">
              <a:spcAft>
                <a:spcPts val="800"/>
              </a:spcAft>
            </a:pPr>
            <a:r>
              <a:rPr sz="1300">
                <a:solidFill>
                  <a:srgbClr val="C084FC"/>
                </a:solidFill>
              </a:rPr>
              <a:t>- </a:t>
            </a:r>
            <a:r>
              <a:rPr sz="1300" b="0">
                <a:solidFill>
                  <a:srgbClr val="FFFFFF"/>
                </a:solidFill>
              </a:rPr>
              <a:t>4. Tone</a:t>
            </a:r>
          </a:p>
          <a:p>
            <a:pPr lvl="3">
              <a:spcAft>
                <a:spcPts val="800"/>
              </a:spcAft>
            </a:pPr>
            <a:r>
              <a:rPr sz="1300">
                <a:solidFill>
                  <a:srgbClr val="C084FC"/>
                </a:solidFill>
              </a:rPr>
              <a:t>- </a:t>
            </a:r>
            <a:r>
              <a:rPr sz="1300" b="0">
                <a:solidFill>
                  <a:srgbClr val="FFFFFF"/>
                </a:solidFill>
              </a:rPr>
              <a:t>5. Texture</a:t>
            </a:r>
          </a:p>
          <a:p>
            <a:pPr lvl="3">
              <a:spcAft>
                <a:spcPts val="800"/>
              </a:spcAft>
            </a:pPr>
            <a:r>
              <a:rPr sz="1300">
                <a:solidFill>
                  <a:srgbClr val="C084FC"/>
                </a:solidFill>
              </a:rPr>
              <a:t>- </a:t>
            </a:r>
            <a:r>
              <a:rPr sz="1300" b="0">
                <a:solidFill>
                  <a:srgbClr val="FFFFFF"/>
                </a:solidFill>
              </a:rPr>
              <a:t>6. Form</a:t>
            </a:r>
          </a:p>
          <a:p>
            <a:pPr lvl="3">
              <a:spcAft>
                <a:spcPts val="800"/>
              </a:spcAft>
            </a:pPr>
            <a:r>
              <a:rPr sz="1300">
                <a:solidFill>
                  <a:srgbClr val="C084FC"/>
                </a:solidFill>
              </a:rPr>
              <a:t>- </a:t>
            </a:r>
            <a:r>
              <a:rPr sz="1300" b="0">
                <a:solidFill>
                  <a:srgbClr val="FFFFFF"/>
                </a:solidFill>
              </a:rPr>
              <a:t>7. Point / Dot</a:t>
            </a:r>
          </a:p>
          <a:p>
            <a:pPr lvl="3">
              <a:spcAft>
                <a:spcPts val="800"/>
              </a:spcAft>
            </a:pPr>
            <a:r>
              <a:rPr sz="1300">
                <a:solidFill>
                  <a:srgbClr val="C084FC"/>
                </a:solidFill>
              </a:rPr>
              <a:t>- </a:t>
            </a:r>
            <a:r>
              <a:rPr sz="1300" b="0">
                <a:solidFill>
                  <a:srgbClr val="FFFFFF"/>
                </a:solidFill>
              </a:rPr>
              <a:t>8. Type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C084FC"/>
                </a:solidFill>
              </a:rPr>
              <a:t>ELEMENT 1 OF 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85800"/>
            <a:ext cx="110642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1">
                <a:solidFill>
                  <a:srgbClr val="FFFFFF"/>
                </a:solidFill>
              </a:rPr>
              <a:t>Line 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965960"/>
            <a:ext cx="11064240" cy="5669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spcAft>
                <a:spcPts val="800"/>
              </a:spcAft>
            </a:pPr>
            <a:r>
              <a:rPr sz="1500">
                <a:solidFill>
                  <a:srgbClr val="C084FC"/>
                </a:solidFill>
              </a:rPr>
              <a:t>‣ </a:t>
            </a:r>
            <a:r>
              <a:rPr sz="1500" b="0">
                <a:solidFill>
                  <a:srgbClr val="FFFFFF"/>
                </a:solidFill>
              </a:rPr>
              <a:t>A mark made by a moving point. Lines direct the eye, create movement, divide space and suggest emotion through their character.</a:t>
            </a:r>
          </a:p>
          <a:p>
            <a:pPr lvl="2">
              <a:spcAft>
                <a:spcPts val="800"/>
              </a:spcAft>
            </a:pPr>
            <a:r>
              <a:rPr sz="1400">
                <a:solidFill>
                  <a:srgbClr val="C084FC"/>
                </a:solidFill>
              </a:rPr>
              <a:t>– </a:t>
            </a:r>
            <a:r>
              <a:rPr sz="1400" b="0">
                <a:solidFill>
                  <a:srgbClr val="FFFFFF"/>
                </a:solidFill>
              </a:rPr>
              <a:t>Types of Line</a:t>
            </a:r>
          </a:p>
          <a:p>
            <a:pPr lvl="3">
              <a:spcAft>
                <a:spcPts val="800"/>
              </a:spcAft>
            </a:pPr>
            <a:r>
              <a:rPr sz="1300">
                <a:solidFill>
                  <a:srgbClr val="C084FC"/>
                </a:solidFill>
              </a:rPr>
              <a:t>- </a:t>
            </a:r>
            <a:r>
              <a:rPr sz="1300" b="1">
                <a:solidFill>
                  <a:srgbClr val="C084FC"/>
                </a:solidFill>
              </a:rPr>
              <a:t>Horizontal </a:t>
            </a:r>
            <a:r>
              <a:rPr sz="1300" b="0">
                <a:solidFill>
                  <a:srgbClr val="FFFFFF"/>
                </a:solidFill>
              </a:rPr>
              <a:t> — calm, stability, rest</a:t>
            </a:r>
          </a:p>
          <a:p>
            <a:pPr lvl="3">
              <a:spcAft>
                <a:spcPts val="800"/>
              </a:spcAft>
            </a:pPr>
            <a:r>
              <a:rPr sz="1300">
                <a:solidFill>
                  <a:srgbClr val="C084FC"/>
                </a:solidFill>
              </a:rPr>
              <a:t>- </a:t>
            </a:r>
            <a:r>
              <a:rPr sz="1300" b="1">
                <a:solidFill>
                  <a:srgbClr val="C084FC"/>
                </a:solidFill>
              </a:rPr>
              <a:t>Vertical </a:t>
            </a:r>
            <a:r>
              <a:rPr sz="1300" b="0">
                <a:solidFill>
                  <a:srgbClr val="FFFFFF"/>
                </a:solidFill>
              </a:rPr>
              <a:t> — strength, formality, growth</a:t>
            </a:r>
          </a:p>
          <a:p>
            <a:pPr lvl="3">
              <a:spcAft>
                <a:spcPts val="800"/>
              </a:spcAft>
            </a:pPr>
            <a:r>
              <a:rPr sz="1300">
                <a:solidFill>
                  <a:srgbClr val="C084FC"/>
                </a:solidFill>
              </a:rPr>
              <a:t>- </a:t>
            </a:r>
            <a:r>
              <a:rPr sz="1300" b="1">
                <a:solidFill>
                  <a:srgbClr val="C084FC"/>
                </a:solidFill>
              </a:rPr>
              <a:t>Diagonal </a:t>
            </a:r>
            <a:r>
              <a:rPr sz="1300" b="0">
                <a:solidFill>
                  <a:srgbClr val="FFFFFF"/>
                </a:solidFill>
              </a:rPr>
              <a:t> — movement, tension, dynamism</a:t>
            </a:r>
          </a:p>
          <a:p>
            <a:pPr lvl="3">
              <a:spcAft>
                <a:spcPts val="800"/>
              </a:spcAft>
            </a:pPr>
            <a:r>
              <a:rPr sz="1300">
                <a:solidFill>
                  <a:srgbClr val="C084FC"/>
                </a:solidFill>
              </a:rPr>
              <a:t>- </a:t>
            </a:r>
            <a:r>
              <a:rPr sz="1300" b="1">
                <a:solidFill>
                  <a:srgbClr val="C084FC"/>
                </a:solidFill>
              </a:rPr>
              <a:t>Curved </a:t>
            </a:r>
            <a:r>
              <a:rPr sz="1300" b="0">
                <a:solidFill>
                  <a:srgbClr val="FFFFFF"/>
                </a:solidFill>
              </a:rPr>
              <a:t> — flow, elegance, nature</a:t>
            </a:r>
          </a:p>
          <a:p>
            <a:pPr lvl="3">
              <a:spcAft>
                <a:spcPts val="800"/>
              </a:spcAft>
            </a:pPr>
            <a:r>
              <a:rPr sz="1300">
                <a:solidFill>
                  <a:srgbClr val="C084FC"/>
                </a:solidFill>
              </a:rPr>
              <a:t>- </a:t>
            </a:r>
            <a:r>
              <a:rPr sz="1300" b="1">
                <a:solidFill>
                  <a:srgbClr val="C084FC"/>
                </a:solidFill>
              </a:rPr>
              <a:t>Implied </a:t>
            </a:r>
            <a:r>
              <a:rPr sz="1300" b="0">
                <a:solidFill>
                  <a:srgbClr val="FFFFFF"/>
                </a:solidFill>
              </a:rPr>
              <a:t> — line suggested by the viewer's eye following shapes</a:t>
            </a:r>
          </a:p>
          <a:p>
            <a:pPr lvl="1">
              <a:spcAft>
                <a:spcPts val="800"/>
              </a:spcAft>
            </a:pPr>
            <a:r>
              <a:rPr sz="1500">
                <a:solidFill>
                  <a:srgbClr val="C084FC"/>
                </a:solidFill>
              </a:rPr>
              <a:t>‣ </a:t>
            </a:r>
            <a:r>
              <a:rPr sz="1500" b="1">
                <a:solidFill>
                  <a:srgbClr val="C084FC"/>
                </a:solidFill>
              </a:rPr>
              <a:t>Exam vocab: </a:t>
            </a:r>
            <a:r>
              <a:rPr sz="1500" b="0">
                <a:solidFill>
                  <a:srgbClr val="FFFFFF"/>
                </a:solidFill>
              </a:rPr>
              <a:t> horizontal, vertical, diagonal, curved, implied, contour, gestural, thick, thin, broken, continuous, converging, radiating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C084FC"/>
                </a:solidFill>
              </a:rPr>
              <a:t>ELEMENT 2 OF 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85800"/>
            <a:ext cx="110642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1">
                <a:solidFill>
                  <a:srgbClr val="FFFFFF"/>
                </a:solidFill>
              </a:rPr>
              <a:t>Shape 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965960"/>
            <a:ext cx="11064240" cy="5669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spcAft>
                <a:spcPts val="800"/>
              </a:spcAft>
            </a:pPr>
            <a:r>
              <a:rPr sz="1500">
                <a:solidFill>
                  <a:srgbClr val="C084FC"/>
                </a:solidFill>
              </a:rPr>
              <a:t>‣ </a:t>
            </a:r>
            <a:r>
              <a:rPr sz="1500" b="0">
                <a:solidFill>
                  <a:srgbClr val="FFFFFF"/>
                </a:solidFill>
              </a:rPr>
              <a:t>A two-dimensional enclosed area defined by line, colour or tone. Shapes are geometric (precise, mathematical) or organic (natural, irregular).</a:t>
            </a:r>
          </a:p>
          <a:p>
            <a:pPr lvl="2">
              <a:spcAft>
                <a:spcPts val="800"/>
              </a:spcAft>
            </a:pPr>
            <a:r>
              <a:rPr sz="1400">
                <a:solidFill>
                  <a:srgbClr val="C084FC"/>
                </a:solidFill>
              </a:rPr>
              <a:t>– </a:t>
            </a:r>
            <a:r>
              <a:rPr sz="1400" b="0">
                <a:solidFill>
                  <a:srgbClr val="FFFFFF"/>
                </a:solidFill>
              </a:rPr>
              <a:t>Key Distinction</a:t>
            </a:r>
          </a:p>
          <a:p>
            <a:pPr lvl="3">
              <a:spcAft>
                <a:spcPts val="800"/>
              </a:spcAft>
            </a:pPr>
            <a:r>
              <a:rPr sz="1300">
                <a:solidFill>
                  <a:srgbClr val="C084FC"/>
                </a:solidFill>
              </a:rPr>
              <a:t>- </a:t>
            </a:r>
            <a:r>
              <a:rPr sz="1300" b="1">
                <a:solidFill>
                  <a:srgbClr val="C084FC"/>
                </a:solidFill>
              </a:rPr>
              <a:t>Geometric </a:t>
            </a:r>
            <a:r>
              <a:rPr sz="1300" b="0">
                <a:solidFill>
                  <a:srgbClr val="FFFFFF"/>
                </a:solidFill>
              </a:rPr>
              <a:t> — circles, squares, triangles. Suggests order, precision, technology</a:t>
            </a:r>
          </a:p>
          <a:p>
            <a:pPr lvl="3">
              <a:spcAft>
                <a:spcPts val="800"/>
              </a:spcAft>
            </a:pPr>
            <a:r>
              <a:rPr sz="1300">
                <a:solidFill>
                  <a:srgbClr val="C084FC"/>
                </a:solidFill>
              </a:rPr>
              <a:t>- </a:t>
            </a:r>
            <a:r>
              <a:rPr sz="1300" b="1">
                <a:solidFill>
                  <a:srgbClr val="C084FC"/>
                </a:solidFill>
              </a:rPr>
              <a:t>Organic </a:t>
            </a:r>
            <a:r>
              <a:rPr sz="1300" b="0">
                <a:solidFill>
                  <a:srgbClr val="FFFFFF"/>
                </a:solidFill>
              </a:rPr>
              <a:t> — natural, flowing, irregular. Suggests nature, warmth, humanity</a:t>
            </a:r>
          </a:p>
          <a:p>
            <a:pPr lvl="3">
              <a:spcAft>
                <a:spcPts val="800"/>
              </a:spcAft>
            </a:pPr>
            <a:r>
              <a:rPr sz="1300">
                <a:solidFill>
                  <a:srgbClr val="C084FC"/>
                </a:solidFill>
              </a:rPr>
              <a:t>- </a:t>
            </a:r>
            <a:r>
              <a:rPr sz="1300" b="1">
                <a:solidFill>
                  <a:srgbClr val="C084FC"/>
                </a:solidFill>
              </a:rPr>
              <a:t>Positive shape </a:t>
            </a:r>
            <a:r>
              <a:rPr sz="1300" b="0">
                <a:solidFill>
                  <a:srgbClr val="FFFFFF"/>
                </a:solidFill>
              </a:rPr>
              <a:t> — the subject/foreground</a:t>
            </a:r>
          </a:p>
          <a:p>
            <a:pPr lvl="3">
              <a:spcAft>
                <a:spcPts val="800"/>
              </a:spcAft>
            </a:pPr>
            <a:r>
              <a:rPr sz="1300">
                <a:solidFill>
                  <a:srgbClr val="C084FC"/>
                </a:solidFill>
              </a:rPr>
              <a:t>- </a:t>
            </a:r>
            <a:r>
              <a:rPr sz="1300" b="1">
                <a:solidFill>
                  <a:srgbClr val="C084FC"/>
                </a:solidFill>
              </a:rPr>
              <a:t>Negative shape </a:t>
            </a:r>
            <a:r>
              <a:rPr sz="1300" b="0">
                <a:solidFill>
                  <a:srgbClr val="FFFFFF"/>
                </a:solidFill>
              </a:rPr>
              <a:t> — the space around the subject</a:t>
            </a:r>
          </a:p>
          <a:p>
            <a:pPr lvl="1">
              <a:spcAft>
                <a:spcPts val="800"/>
              </a:spcAft>
            </a:pPr>
            <a:r>
              <a:rPr sz="1500">
                <a:solidFill>
                  <a:srgbClr val="C084FC"/>
                </a:solidFill>
              </a:rPr>
              <a:t>‣ </a:t>
            </a:r>
            <a:r>
              <a:rPr sz="1500" b="1">
                <a:solidFill>
                  <a:srgbClr val="C084FC"/>
                </a:solidFill>
              </a:rPr>
              <a:t>Exam vocab: </a:t>
            </a:r>
            <a:r>
              <a:rPr sz="1500" b="0">
                <a:solidFill>
                  <a:srgbClr val="FFFFFF"/>
                </a:solidFill>
              </a:rPr>
              <a:t> geometric, organic, positive, negative, biomorphic, angular, curvilinear, regular, irregular, silhouette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C084FC"/>
                </a:solidFill>
              </a:rPr>
              <a:t>ELEMENT 3 OF 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85800"/>
            <a:ext cx="110642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1">
                <a:solidFill>
                  <a:srgbClr val="FFFFFF"/>
                </a:solidFill>
              </a:rPr>
              <a:t>Colour 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965960"/>
            <a:ext cx="11064240" cy="5669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spcAft>
                <a:spcPts val="800"/>
              </a:spcAft>
            </a:pPr>
            <a:r>
              <a:rPr sz="1500">
                <a:solidFill>
                  <a:srgbClr val="C084FC"/>
                </a:solidFill>
              </a:rPr>
              <a:t>‣ </a:t>
            </a:r>
            <a:r>
              <a:rPr sz="1500" b="0">
                <a:solidFill>
                  <a:srgbClr val="FFFFFF"/>
                </a:solidFill>
              </a:rPr>
              <a:t>The visual property produced by reflected light. Colour creates mood, draws attention, communicates brand identity and organises information.</a:t>
            </a:r>
          </a:p>
          <a:p>
            <a:pPr lvl="2">
              <a:spcAft>
                <a:spcPts val="800"/>
              </a:spcAft>
            </a:pPr>
            <a:r>
              <a:rPr sz="1400">
                <a:solidFill>
                  <a:srgbClr val="C084FC"/>
                </a:solidFill>
              </a:rPr>
              <a:t>– </a:t>
            </a:r>
            <a:r>
              <a:rPr sz="1400" b="0">
                <a:solidFill>
                  <a:srgbClr val="FFFFFF"/>
                </a:solidFill>
              </a:rPr>
              <a:t>Colour Properties</a:t>
            </a:r>
          </a:p>
          <a:p>
            <a:pPr lvl="3">
              <a:spcAft>
                <a:spcPts val="800"/>
              </a:spcAft>
            </a:pPr>
            <a:r>
              <a:rPr sz="1300">
                <a:solidFill>
                  <a:srgbClr val="C084FC"/>
                </a:solidFill>
              </a:rPr>
              <a:t>- </a:t>
            </a:r>
            <a:r>
              <a:rPr sz="1300" b="1">
                <a:solidFill>
                  <a:srgbClr val="C084FC"/>
                </a:solidFill>
              </a:rPr>
              <a:t>Hue </a:t>
            </a:r>
            <a:r>
              <a:rPr sz="1300" b="0">
                <a:solidFill>
                  <a:srgbClr val="FFFFFF"/>
                </a:solidFill>
              </a:rPr>
              <a:t> — the name of the colour (red, blue, yellow)</a:t>
            </a:r>
          </a:p>
          <a:p>
            <a:pPr lvl="3">
              <a:spcAft>
                <a:spcPts val="800"/>
              </a:spcAft>
            </a:pPr>
            <a:r>
              <a:rPr sz="1300">
                <a:solidFill>
                  <a:srgbClr val="C084FC"/>
                </a:solidFill>
              </a:rPr>
              <a:t>- </a:t>
            </a:r>
            <a:r>
              <a:rPr sz="1300" b="1">
                <a:solidFill>
                  <a:srgbClr val="C084FC"/>
                </a:solidFill>
              </a:rPr>
              <a:t>Saturation </a:t>
            </a:r>
            <a:r>
              <a:rPr sz="1300" b="0">
                <a:solidFill>
                  <a:srgbClr val="FFFFFF"/>
                </a:solidFill>
              </a:rPr>
              <a:t> — intensity / purity of the colour</a:t>
            </a:r>
          </a:p>
          <a:p>
            <a:pPr lvl="3">
              <a:spcAft>
                <a:spcPts val="800"/>
              </a:spcAft>
            </a:pPr>
            <a:r>
              <a:rPr sz="1300">
                <a:solidFill>
                  <a:srgbClr val="C084FC"/>
                </a:solidFill>
              </a:rPr>
              <a:t>- </a:t>
            </a:r>
            <a:r>
              <a:rPr sz="1300" b="1">
                <a:solidFill>
                  <a:srgbClr val="C084FC"/>
                </a:solidFill>
              </a:rPr>
              <a:t>Value </a:t>
            </a:r>
            <a:r>
              <a:rPr sz="1300" b="0">
                <a:solidFill>
                  <a:srgbClr val="FFFFFF"/>
                </a:solidFill>
              </a:rPr>
              <a:t> — lightness or darkness</a:t>
            </a:r>
          </a:p>
          <a:p>
            <a:pPr lvl="3">
              <a:spcAft>
                <a:spcPts val="800"/>
              </a:spcAft>
            </a:pPr>
            <a:r>
              <a:rPr sz="1300">
                <a:solidFill>
                  <a:srgbClr val="C084FC"/>
                </a:solidFill>
              </a:rPr>
              <a:t>- </a:t>
            </a:r>
            <a:r>
              <a:rPr sz="1300" b="1">
                <a:solidFill>
                  <a:srgbClr val="C084FC"/>
                </a:solidFill>
              </a:rPr>
              <a:t>Tint </a:t>
            </a:r>
            <a:r>
              <a:rPr sz="1300" b="0">
                <a:solidFill>
                  <a:srgbClr val="FFFFFF"/>
                </a:solidFill>
              </a:rPr>
              <a:t> — hue + white (lighter)</a:t>
            </a:r>
          </a:p>
          <a:p>
            <a:pPr lvl="3">
              <a:spcAft>
                <a:spcPts val="800"/>
              </a:spcAft>
            </a:pPr>
            <a:r>
              <a:rPr sz="1300">
                <a:solidFill>
                  <a:srgbClr val="C084FC"/>
                </a:solidFill>
              </a:rPr>
              <a:t>- </a:t>
            </a:r>
            <a:r>
              <a:rPr sz="1300" b="1">
                <a:solidFill>
                  <a:srgbClr val="C084FC"/>
                </a:solidFill>
              </a:rPr>
              <a:t>Shade </a:t>
            </a:r>
            <a:r>
              <a:rPr sz="1300" b="0">
                <a:solidFill>
                  <a:srgbClr val="FFFFFF"/>
                </a:solidFill>
              </a:rPr>
              <a:t> — hue + black (darker)</a:t>
            </a:r>
          </a:p>
          <a:p>
            <a:pPr lvl="3">
              <a:spcAft>
                <a:spcPts val="800"/>
              </a:spcAft>
            </a:pPr>
            <a:r>
              <a:rPr sz="1300">
                <a:solidFill>
                  <a:srgbClr val="C084FC"/>
                </a:solidFill>
              </a:rPr>
              <a:t>- </a:t>
            </a:r>
            <a:r>
              <a:rPr sz="1300" b="1">
                <a:solidFill>
                  <a:srgbClr val="C084FC"/>
                </a:solidFill>
              </a:rPr>
              <a:t>Tone </a:t>
            </a:r>
            <a:r>
              <a:rPr sz="1300" b="0">
                <a:solidFill>
                  <a:srgbClr val="FFFFFF"/>
                </a:solidFill>
              </a:rPr>
              <a:t> — hue + grey added</a:t>
            </a:r>
          </a:p>
          <a:p>
            <a:pPr lvl="1">
              <a:spcAft>
                <a:spcPts val="800"/>
              </a:spcAft>
            </a:pPr>
            <a:r>
              <a:rPr sz="1500">
                <a:solidFill>
                  <a:srgbClr val="C084FC"/>
                </a:solidFill>
              </a:rPr>
              <a:t>‣ </a:t>
            </a:r>
            <a:r>
              <a:rPr sz="1500" b="1">
                <a:solidFill>
                  <a:srgbClr val="C084FC"/>
                </a:solidFill>
              </a:rPr>
              <a:t>Exam vocab: </a:t>
            </a:r>
            <a:r>
              <a:rPr sz="1500" b="0">
                <a:solidFill>
                  <a:srgbClr val="FFFFFF"/>
                </a:solidFill>
              </a:rPr>
              <a:t> hue, saturation, value, tint, shade, warm, cool, complementary, analogous, monochromatic, triadic, high/low saturation</a:t>
            </a:r>
          </a:p>
          <a:p>
            <a:pPr lvl="1">
              <a:spcAft>
                <a:spcPts val="800"/>
              </a:spcAft>
            </a:pPr>
            <a:r>
              <a:rPr sz="1500">
                <a:solidFill>
                  <a:srgbClr val="C084FC"/>
                </a:solidFill>
              </a:rPr>
              <a:t>‣ </a:t>
            </a:r>
            <a:r>
              <a:rPr sz="1500" b="0">
                <a:solidFill>
                  <a:srgbClr val="FFFFFF"/>
                </a:solidFill>
              </a:rPr>
              <a:t>Colour Schemes</a:t>
            </a:r>
          </a:p>
          <a:p>
            <a:pPr lvl="2">
              <a:spcAft>
                <a:spcPts val="800"/>
              </a:spcAft>
            </a:pPr>
            <a:r>
              <a:rPr sz="1400">
                <a:solidFill>
                  <a:srgbClr val="C084FC"/>
                </a:solidFill>
              </a:rPr>
              <a:t>– </a:t>
            </a:r>
            <a:r>
              <a:rPr sz="1400" b="0">
                <a:solidFill>
                  <a:srgbClr val="FFFFFF"/>
                </a:solidFill>
              </a:rPr>
              <a:t>Complementary — maximum contrast</a:t>
            </a:r>
          </a:p>
          <a:p>
            <a:pPr lvl="2">
              <a:spcAft>
                <a:spcPts val="800"/>
              </a:spcAft>
            </a:pPr>
            <a:r>
              <a:rPr sz="1400">
                <a:solidFill>
                  <a:srgbClr val="C084FC"/>
                </a:solidFill>
              </a:rPr>
              <a:t>– </a:t>
            </a:r>
            <a:r>
              <a:rPr sz="1400" b="0">
                <a:solidFill>
                  <a:srgbClr val="FFFFFF"/>
                </a:solidFill>
              </a:rPr>
              <a:t>Analogous — harmonious</a:t>
            </a:r>
          </a:p>
          <a:p>
            <a:pPr lvl="2">
              <a:spcAft>
                <a:spcPts val="800"/>
              </a:spcAft>
            </a:pPr>
            <a:r>
              <a:rPr sz="1400">
                <a:solidFill>
                  <a:srgbClr val="C084FC"/>
                </a:solidFill>
              </a:rPr>
              <a:t>– </a:t>
            </a:r>
            <a:r>
              <a:rPr sz="1400" b="0">
                <a:solidFill>
                  <a:srgbClr val="FFFFFF"/>
                </a:solidFill>
              </a:rPr>
              <a:t>Triadic — vibrant, balanced</a:t>
            </a:r>
          </a:p>
          <a:p>
            <a:pPr lvl="2">
              <a:spcAft>
                <a:spcPts val="800"/>
              </a:spcAft>
            </a:pPr>
            <a:r>
              <a:rPr sz="1400">
                <a:solidFill>
                  <a:srgbClr val="C084FC"/>
                </a:solidFill>
              </a:rPr>
              <a:t>– </a:t>
            </a:r>
            <a:r>
              <a:rPr sz="1400" b="0">
                <a:solidFill>
                  <a:srgbClr val="FFFFFF"/>
                </a:solidFill>
              </a:rPr>
              <a:t>Monochromatic — unified</a:t>
            </a:r>
          </a:p>
          <a:p>
            <a:pPr lvl="1">
              <a:spcAft>
                <a:spcPts val="800"/>
              </a:spcAft>
            </a:pPr>
            <a:r>
              <a:rPr sz="1500">
                <a:solidFill>
                  <a:srgbClr val="C084FC"/>
                </a:solidFill>
              </a:rPr>
              <a:t>‣ </a:t>
            </a:r>
            <a:r>
              <a:rPr sz="1500" b="1">
                <a:solidFill>
                  <a:srgbClr val="C084FC"/>
                </a:solidFill>
              </a:rPr>
              <a:t>Warm: </a:t>
            </a:r>
            <a:r>
              <a:rPr sz="1500" b="0">
                <a:solidFill>
                  <a:srgbClr val="FFFFFF"/>
                </a:solidFill>
              </a:rPr>
              <a:t> red, orange, yellow — energy, passion  </a:t>
            </a:r>
            <a:r>
              <a:rPr sz="1500" b="1">
                <a:solidFill>
                  <a:srgbClr val="C084FC"/>
                </a:solidFill>
              </a:rPr>
              <a:t>Cool: </a:t>
            </a:r>
            <a:r>
              <a:rPr sz="1500" b="0">
                <a:solidFill>
                  <a:srgbClr val="FFFFFF"/>
                </a:solidFill>
              </a:rPr>
              <a:t> blue, green, purple — calm, trust 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C084FC"/>
                </a:solidFill>
              </a:rPr>
              <a:t>ELEMENT 4 OF 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85800"/>
            <a:ext cx="110642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1">
                <a:solidFill>
                  <a:srgbClr val="FFFFFF"/>
                </a:solidFill>
              </a:rPr>
              <a:t>Tone 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965960"/>
            <a:ext cx="11064240" cy="5669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spcAft>
                <a:spcPts val="800"/>
              </a:spcAft>
            </a:pPr>
            <a:r>
              <a:rPr sz="1500">
                <a:solidFill>
                  <a:srgbClr val="C084FC"/>
                </a:solidFill>
              </a:rPr>
              <a:t>‣ </a:t>
            </a:r>
            <a:r>
              <a:rPr sz="1500" b="0">
                <a:solidFill>
                  <a:srgbClr val="FFFFFF"/>
                </a:solidFill>
              </a:rPr>
              <a:t>The lightness or darkness of an area, regardless of colour. Tone creates depth, volume, contrast and the illusion of three-dimensionality on a flat surface.</a:t>
            </a:r>
          </a:p>
          <a:p>
            <a:pPr lvl="2">
              <a:spcAft>
                <a:spcPts val="800"/>
              </a:spcAft>
            </a:pPr>
            <a:r>
              <a:rPr sz="1400">
                <a:solidFill>
                  <a:srgbClr val="C084FC"/>
                </a:solidFill>
              </a:rPr>
              <a:t>– </a:t>
            </a:r>
            <a:r>
              <a:rPr sz="1400" b="0">
                <a:solidFill>
                  <a:srgbClr val="FFFFFF"/>
                </a:solidFill>
              </a:rPr>
              <a:t>Key Concepts</a:t>
            </a:r>
          </a:p>
          <a:p>
            <a:pPr lvl="3">
              <a:spcAft>
                <a:spcPts val="800"/>
              </a:spcAft>
            </a:pPr>
            <a:r>
              <a:rPr sz="1300">
                <a:solidFill>
                  <a:srgbClr val="C084FC"/>
                </a:solidFill>
              </a:rPr>
              <a:t>- </a:t>
            </a:r>
            <a:r>
              <a:rPr sz="1300" b="1">
                <a:solidFill>
                  <a:srgbClr val="C084FC"/>
                </a:solidFill>
              </a:rPr>
              <a:t>High-key </a:t>
            </a:r>
            <a:r>
              <a:rPr sz="1300" b="0">
                <a:solidFill>
                  <a:srgbClr val="FFFFFF"/>
                </a:solidFill>
              </a:rPr>
              <a:t> — mostly light tones, airy, delicate</a:t>
            </a:r>
          </a:p>
          <a:p>
            <a:pPr lvl="3">
              <a:spcAft>
                <a:spcPts val="800"/>
              </a:spcAft>
            </a:pPr>
            <a:r>
              <a:rPr sz="1300">
                <a:solidFill>
                  <a:srgbClr val="C084FC"/>
                </a:solidFill>
              </a:rPr>
              <a:t>- </a:t>
            </a:r>
            <a:r>
              <a:rPr sz="1300" b="1">
                <a:solidFill>
                  <a:srgbClr val="C084FC"/>
                </a:solidFill>
              </a:rPr>
              <a:t>Low-key </a:t>
            </a:r>
            <a:r>
              <a:rPr sz="1300" b="0">
                <a:solidFill>
                  <a:srgbClr val="FFFFFF"/>
                </a:solidFill>
              </a:rPr>
              <a:t> — mostly dark tones, dramatic, mysterious</a:t>
            </a:r>
          </a:p>
          <a:p>
            <a:pPr lvl="3">
              <a:spcAft>
                <a:spcPts val="800"/>
              </a:spcAft>
            </a:pPr>
            <a:r>
              <a:rPr sz="1300">
                <a:solidFill>
                  <a:srgbClr val="C084FC"/>
                </a:solidFill>
              </a:rPr>
              <a:t>- </a:t>
            </a:r>
            <a:r>
              <a:rPr sz="1300" b="1">
                <a:solidFill>
                  <a:srgbClr val="C084FC"/>
                </a:solidFill>
              </a:rPr>
              <a:t>Tonal contrast </a:t>
            </a:r>
            <a:r>
              <a:rPr sz="1300" b="0">
                <a:solidFill>
                  <a:srgbClr val="FFFFFF"/>
                </a:solidFill>
              </a:rPr>
              <a:t> — difference between lightest and darkest areas</a:t>
            </a:r>
          </a:p>
          <a:p>
            <a:pPr lvl="3">
              <a:spcAft>
                <a:spcPts val="800"/>
              </a:spcAft>
            </a:pPr>
            <a:r>
              <a:rPr sz="1300">
                <a:solidFill>
                  <a:srgbClr val="C084FC"/>
                </a:solidFill>
              </a:rPr>
              <a:t>- </a:t>
            </a:r>
            <a:r>
              <a:rPr sz="1300" b="1">
                <a:solidFill>
                  <a:srgbClr val="C084FC"/>
                </a:solidFill>
              </a:rPr>
              <a:t>Tonal gradation </a:t>
            </a:r>
            <a:r>
              <a:rPr sz="1300" b="0">
                <a:solidFill>
                  <a:srgbClr val="FFFFFF"/>
                </a:solidFill>
              </a:rPr>
              <a:t> — smooth transition from light to dark</a:t>
            </a:r>
          </a:p>
          <a:p>
            <a:pPr lvl="3">
              <a:spcAft>
                <a:spcPts val="800"/>
              </a:spcAft>
            </a:pPr>
            <a:r>
              <a:rPr sz="1300">
                <a:solidFill>
                  <a:srgbClr val="C084FC"/>
                </a:solidFill>
              </a:rPr>
              <a:t>- </a:t>
            </a:r>
            <a:r>
              <a:rPr sz="1300" b="1">
                <a:solidFill>
                  <a:srgbClr val="C084FC"/>
                </a:solidFill>
              </a:rPr>
              <a:t>Highlight, midtone, shadow </a:t>
            </a:r>
            <a:r>
              <a:rPr sz="1300" b="0">
                <a:solidFill>
                  <a:srgbClr val="FFFFFF"/>
                </a:solidFill>
              </a:rPr>
              <a:t> — the three tonal zones</a:t>
            </a:r>
          </a:p>
          <a:p>
            <a:pPr lvl="1">
              <a:spcAft>
                <a:spcPts val="800"/>
              </a:spcAft>
            </a:pPr>
            <a:r>
              <a:rPr sz="1500">
                <a:solidFill>
                  <a:srgbClr val="C084FC"/>
                </a:solidFill>
              </a:rPr>
              <a:t>‣ </a:t>
            </a:r>
            <a:r>
              <a:rPr sz="1500" b="1">
                <a:solidFill>
                  <a:srgbClr val="C084FC"/>
                </a:solidFill>
              </a:rPr>
              <a:t>Exam vocab: </a:t>
            </a:r>
            <a:r>
              <a:rPr sz="1500" b="0">
                <a:solidFill>
                  <a:srgbClr val="FFFFFF"/>
                </a:solidFill>
              </a:rPr>
              <a:t> highlight, midtone, shadow, high-key, low-key, tonal range, gradation, contrast, chiaroscuro, flat, modelled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C084FC"/>
                </a:solidFill>
              </a:rPr>
              <a:t>ELEMENT 5 OF 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85800"/>
            <a:ext cx="110642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1">
                <a:solidFill>
                  <a:srgbClr val="FFFFFF"/>
                </a:solidFill>
              </a:rPr>
              <a:t>Texture 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965960"/>
            <a:ext cx="11064240" cy="5669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spcAft>
                <a:spcPts val="800"/>
              </a:spcAft>
            </a:pPr>
            <a:r>
              <a:rPr sz="1500">
                <a:solidFill>
                  <a:srgbClr val="C084FC"/>
                </a:solidFill>
              </a:rPr>
              <a:t>‣ </a:t>
            </a:r>
            <a:r>
              <a:rPr sz="1500" b="0">
                <a:solidFill>
                  <a:srgbClr val="FFFFFF"/>
                </a:solidFill>
              </a:rPr>
              <a:t>The surface quality of an object — actual (tactile) or visual (simulated). Texture adds richness, depth and can communicate cultural or brand meaning.</a:t>
            </a:r>
          </a:p>
          <a:p>
            <a:pPr lvl="2">
              <a:spcAft>
                <a:spcPts val="800"/>
              </a:spcAft>
            </a:pPr>
            <a:r>
              <a:rPr sz="1400">
                <a:solidFill>
                  <a:srgbClr val="C084FC"/>
                </a:solidFill>
              </a:rPr>
              <a:t>– </a:t>
            </a:r>
            <a:r>
              <a:rPr sz="1400" b="0">
                <a:solidFill>
                  <a:srgbClr val="FFFFFF"/>
                </a:solidFill>
              </a:rPr>
              <a:t>Two Types</a:t>
            </a:r>
          </a:p>
          <a:p>
            <a:pPr lvl="3">
              <a:spcAft>
                <a:spcPts val="800"/>
              </a:spcAft>
            </a:pPr>
            <a:r>
              <a:rPr sz="1300">
                <a:solidFill>
                  <a:srgbClr val="C084FC"/>
                </a:solidFill>
              </a:rPr>
              <a:t>- </a:t>
            </a:r>
            <a:r>
              <a:rPr sz="1300" b="0">
                <a:solidFill>
                  <a:srgbClr val="FFFFFF"/>
                </a:solidFill>
              </a:rPr>
              <a:t>Actual (Tactile) Texture</a:t>
            </a:r>
          </a:p>
          <a:p>
            <a:pPr lvl="3">
              <a:spcAft>
                <a:spcPts val="800"/>
              </a:spcAft>
            </a:pPr>
            <a:r>
              <a:rPr sz="1300">
                <a:solidFill>
                  <a:srgbClr val="C084FC"/>
                </a:solidFill>
              </a:rPr>
              <a:t>- </a:t>
            </a:r>
            <a:r>
              <a:rPr sz="1300" b="0">
                <a:solidFill>
                  <a:srgbClr val="FFFFFF"/>
                </a:solidFill>
              </a:rPr>
              <a:t>Can be physically felt. e.g. embossed printing, rough cardboard packaging, velvet fabric.</a:t>
            </a:r>
          </a:p>
          <a:p>
            <a:pPr lvl="3">
              <a:spcAft>
                <a:spcPts val="800"/>
              </a:spcAft>
            </a:pPr>
            <a:r>
              <a:rPr sz="1300">
                <a:solidFill>
                  <a:srgbClr val="C084FC"/>
                </a:solidFill>
              </a:rPr>
              <a:t>- </a:t>
            </a:r>
            <a:r>
              <a:rPr sz="1300" b="0">
                <a:solidFill>
                  <a:srgbClr val="FFFFFF"/>
                </a:solidFill>
              </a:rPr>
              <a:t>Visual (Simulated) Texture</a:t>
            </a:r>
          </a:p>
          <a:p>
            <a:pPr lvl="3">
              <a:spcAft>
                <a:spcPts val="800"/>
              </a:spcAft>
            </a:pPr>
            <a:r>
              <a:rPr sz="1300">
                <a:solidFill>
                  <a:srgbClr val="C084FC"/>
                </a:solidFill>
              </a:rPr>
              <a:t>- </a:t>
            </a:r>
            <a:r>
              <a:rPr sz="1300" b="0">
                <a:solidFill>
                  <a:srgbClr val="FFFFFF"/>
                </a:solidFill>
              </a:rPr>
              <a:t>Created using marks, patterns or photography to suggest texture. e.g. a photo of wood grain, a drawn halftone pattern.</a:t>
            </a:r>
          </a:p>
          <a:p>
            <a:pPr lvl="1">
              <a:spcAft>
                <a:spcPts val="800"/>
              </a:spcAft>
            </a:pPr>
            <a:r>
              <a:rPr sz="1500">
                <a:solidFill>
                  <a:srgbClr val="C084FC"/>
                </a:solidFill>
              </a:rPr>
              <a:t>‣ </a:t>
            </a:r>
            <a:r>
              <a:rPr sz="1500" b="1">
                <a:solidFill>
                  <a:srgbClr val="C084FC"/>
                </a:solidFill>
              </a:rPr>
              <a:t>Exam vocab: </a:t>
            </a:r>
            <a:r>
              <a:rPr sz="1500" b="0">
                <a:solidFill>
                  <a:srgbClr val="FFFFFF"/>
                </a:solidFill>
              </a:rPr>
              <a:t> tactile, simulated, rough, smooth, matte, glossy, organic, industrial, grainy, woven, embossed, debossed</a:t>
            </a:r>
          </a:p>
          <a:p>
            <a:pPr lvl="1">
              <a:spcAft>
                <a:spcPts val="800"/>
              </a:spcAft>
            </a:pPr>
            <a:r>
              <a:rPr sz="1500">
                <a:solidFill>
                  <a:srgbClr val="C084FC"/>
                </a:solidFill>
              </a:rPr>
              <a:t>‣ </a:t>
            </a:r>
            <a:r>
              <a:rPr sz="1500" b="0">
                <a:solidFill>
                  <a:srgbClr val="FFFFFF"/>
                </a:solidFill>
              </a:rPr>
              <a:t>Cultural Meaning of Texture</a:t>
            </a:r>
          </a:p>
          <a:p>
            <a:pPr lvl="2">
              <a:spcAft>
                <a:spcPts val="800"/>
              </a:spcAft>
            </a:pPr>
            <a:r>
              <a:rPr sz="1400">
                <a:solidFill>
                  <a:srgbClr val="C084FC"/>
                </a:solidFill>
              </a:rPr>
              <a:t>– </a:t>
            </a:r>
            <a:r>
              <a:rPr sz="1400" b="1">
                <a:solidFill>
                  <a:srgbClr val="C084FC"/>
                </a:solidFill>
              </a:rPr>
              <a:t>Rough/natural </a:t>
            </a:r>
            <a:r>
              <a:rPr sz="1400" b="0">
                <a:solidFill>
                  <a:srgbClr val="FFFFFF"/>
                </a:solidFill>
              </a:rPr>
              <a:t> → sustainability, authenticity, handcrafted</a:t>
            </a:r>
          </a:p>
          <a:p>
            <a:pPr lvl="2">
              <a:spcAft>
                <a:spcPts val="800"/>
              </a:spcAft>
            </a:pPr>
            <a:r>
              <a:rPr sz="1400">
                <a:solidFill>
                  <a:srgbClr val="C084FC"/>
                </a:solidFill>
              </a:rPr>
              <a:t>– </a:t>
            </a:r>
            <a:r>
              <a:rPr sz="1400" b="1">
                <a:solidFill>
                  <a:srgbClr val="C084FC"/>
                </a:solidFill>
              </a:rPr>
              <a:t>Smooth/glossy </a:t>
            </a:r>
            <a:r>
              <a:rPr sz="1400" b="0">
                <a:solidFill>
                  <a:srgbClr val="FFFFFF"/>
                </a:solidFill>
              </a:rPr>
              <a:t> → luxury, precision, technology</a:t>
            </a:r>
          </a:p>
          <a:p>
            <a:pPr lvl="2">
              <a:spcAft>
                <a:spcPts val="800"/>
              </a:spcAft>
            </a:pPr>
            <a:r>
              <a:rPr sz="1400">
                <a:solidFill>
                  <a:srgbClr val="C084FC"/>
                </a:solidFill>
              </a:rPr>
              <a:t>– </a:t>
            </a:r>
            <a:r>
              <a:rPr sz="1400" b="1">
                <a:solidFill>
                  <a:srgbClr val="C084FC"/>
                </a:solidFill>
              </a:rPr>
              <a:t>Woven/fabric </a:t>
            </a:r>
            <a:r>
              <a:rPr sz="1400" b="0">
                <a:solidFill>
                  <a:srgbClr val="FFFFFF"/>
                </a:solidFill>
              </a:rPr>
              <a:t> → warmth, tradition, craftsmanship</a:t>
            </a:r>
          </a:p>
          <a:p>
            <a:pPr lvl="2">
              <a:spcAft>
                <a:spcPts val="800"/>
              </a:spcAft>
            </a:pPr>
            <a:r>
              <a:rPr sz="1400">
                <a:solidFill>
                  <a:srgbClr val="C084FC"/>
                </a:solidFill>
              </a:rPr>
              <a:t>– </a:t>
            </a:r>
            <a:r>
              <a:rPr sz="1400" b="1">
                <a:solidFill>
                  <a:srgbClr val="C084FC"/>
                </a:solidFill>
              </a:rPr>
              <a:t>Industrial/metal </a:t>
            </a:r>
            <a:r>
              <a:rPr sz="1400" b="0">
                <a:solidFill>
                  <a:srgbClr val="FFFFFF"/>
                </a:solidFill>
              </a:rPr>
              <a:t> → strength, durability, modernity</a:t>
            </a:r>
          </a:p>
          <a:p>
            <a:pPr lvl="2">
              <a:spcAft>
                <a:spcPts val="800"/>
              </a:spcAft>
            </a:pPr>
            <a:r>
              <a:rPr sz="1400">
                <a:solidFill>
                  <a:srgbClr val="C084FC"/>
                </a:solidFill>
              </a:rPr>
              <a:t>– </a:t>
            </a:r>
            <a:r>
              <a:rPr sz="1400" b="0">
                <a:solidFill>
                  <a:srgbClr val="FFFFFF"/>
                </a:solidFill>
              </a:rPr>
              <a:t>💡 Exam tip</a:t>
            </a:r>
          </a:p>
          <a:p>
            <a:pPr lvl="2">
              <a:spcAft>
                <a:spcPts val="800"/>
              </a:spcAft>
            </a:pPr>
            <a:r>
              <a:rPr sz="1400">
                <a:solidFill>
                  <a:srgbClr val="C084FC"/>
                </a:solidFill>
              </a:rPr>
              <a:t>– </a:t>
            </a:r>
            <a:r>
              <a:rPr sz="1400" b="0">
                <a:solidFill>
                  <a:srgbClr val="FFFFFF"/>
                </a:solidFill>
              </a:rPr>
              <a:t>Always state whether texture is actual or visual AND explain what meaning it communicates to the target audience.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C084FC"/>
                </a:solidFill>
              </a:rPr>
              <a:t>ELEMENT 6 OF 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85800"/>
            <a:ext cx="110642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1">
                <a:solidFill>
                  <a:srgbClr val="FFFFFF"/>
                </a:solidFill>
              </a:rPr>
              <a:t>Form 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965960"/>
            <a:ext cx="11064240" cy="5669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spcAft>
                <a:spcPts val="800"/>
              </a:spcAft>
            </a:pPr>
            <a:r>
              <a:rPr sz="1500">
                <a:solidFill>
                  <a:srgbClr val="C084FC"/>
                </a:solidFill>
              </a:rPr>
              <a:t>‣ </a:t>
            </a:r>
            <a:r>
              <a:rPr sz="1500" b="0">
                <a:solidFill>
                  <a:srgbClr val="FFFFFF"/>
                </a:solidFill>
              </a:rPr>
              <a:t>Three-dimensional volume — or the illusion of it on a 2D surface. Form is created through tone, line and perspective drawing.</a:t>
            </a:r>
          </a:p>
          <a:p>
            <a:pPr lvl="2">
              <a:spcAft>
                <a:spcPts val="800"/>
              </a:spcAft>
            </a:pPr>
            <a:r>
              <a:rPr sz="1400">
                <a:solidFill>
                  <a:srgbClr val="C084FC"/>
                </a:solidFill>
              </a:rPr>
              <a:t>– </a:t>
            </a:r>
            <a:r>
              <a:rPr sz="1400" b="0">
                <a:solidFill>
                  <a:srgbClr val="FFFFFF"/>
                </a:solidFill>
              </a:rPr>
              <a:t>Form vs Shape</a:t>
            </a:r>
          </a:p>
          <a:p>
            <a:pPr lvl="3">
              <a:spcAft>
                <a:spcPts val="800"/>
              </a:spcAft>
            </a:pPr>
            <a:r>
              <a:rPr sz="1300">
                <a:solidFill>
                  <a:srgbClr val="C084FC"/>
                </a:solidFill>
              </a:rPr>
              <a:t>- </a:t>
            </a:r>
            <a:r>
              <a:rPr sz="1300" b="1">
                <a:solidFill>
                  <a:srgbClr val="C084FC"/>
                </a:solidFill>
              </a:rPr>
              <a:t>Shape </a:t>
            </a:r>
            <a:r>
              <a:rPr sz="1300" b="0">
                <a:solidFill>
                  <a:srgbClr val="FFFFFF"/>
                </a:solidFill>
              </a:rPr>
              <a:t> is 2D — a circle on paper</a:t>
            </a:r>
          </a:p>
          <a:p>
            <a:pPr lvl="3">
              <a:spcAft>
                <a:spcPts val="800"/>
              </a:spcAft>
            </a:pPr>
            <a:r>
              <a:rPr sz="1300">
                <a:solidFill>
                  <a:srgbClr val="C084FC"/>
                </a:solidFill>
              </a:rPr>
              <a:t>- </a:t>
            </a:r>
            <a:r>
              <a:rPr sz="1300" b="1">
                <a:solidFill>
                  <a:srgbClr val="C084FC"/>
                </a:solidFill>
              </a:rPr>
              <a:t>Form </a:t>
            </a:r>
            <a:r>
              <a:rPr sz="1300" b="0">
                <a:solidFill>
                  <a:srgbClr val="FFFFFF"/>
                </a:solidFill>
              </a:rPr>
              <a:t> is 3D — a sphere with volume and depth</a:t>
            </a:r>
          </a:p>
          <a:p>
            <a:pPr lvl="3">
              <a:spcAft>
                <a:spcPts val="800"/>
              </a:spcAft>
            </a:pPr>
            <a:r>
              <a:rPr sz="1300">
                <a:solidFill>
                  <a:srgbClr val="C084FC"/>
                </a:solidFill>
              </a:rPr>
              <a:t>- </a:t>
            </a:r>
            <a:r>
              <a:rPr sz="1300" b="1">
                <a:solidFill>
                  <a:srgbClr val="C084FC"/>
                </a:solidFill>
              </a:rPr>
              <a:t>How to create form: </a:t>
            </a:r>
            <a:r>
              <a:rPr sz="1300" b="0">
                <a:solidFill>
                  <a:srgbClr val="FFFFFF"/>
                </a:solidFill>
              </a:rPr>
              <a:t> → Tonal gradation (light to shadow) → Overlapping shapes → Perspective drawing → Cast shadows</a:t>
            </a:r>
          </a:p>
          <a:p>
            <a:pPr lvl="1">
              <a:spcAft>
                <a:spcPts val="800"/>
              </a:spcAft>
            </a:pPr>
            <a:r>
              <a:rPr sz="1500">
                <a:solidFill>
                  <a:srgbClr val="C084FC"/>
                </a:solidFill>
              </a:rPr>
              <a:t>‣ </a:t>
            </a:r>
            <a:r>
              <a:rPr sz="1500" b="1">
                <a:solidFill>
                  <a:srgbClr val="C084FC"/>
                </a:solidFill>
              </a:rPr>
              <a:t>Exam vocab: </a:t>
            </a:r>
            <a:r>
              <a:rPr sz="1500" b="0">
                <a:solidFill>
                  <a:srgbClr val="FFFFFF"/>
                </a:solidFill>
              </a:rPr>
              <a:t> three-dimensional, mass, volume, depth, solid, hollow, geometric form, organic form, rendered, modelled, perspective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C084FC"/>
                </a:solidFill>
              </a:rPr>
              <a:t>ELEMENT 7 OF 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85800"/>
            <a:ext cx="110642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1">
                <a:solidFill>
                  <a:srgbClr val="FFFFFF"/>
                </a:solidFill>
              </a:rPr>
              <a:t>Point / Dot 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965960"/>
            <a:ext cx="11064240" cy="5669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spcAft>
                <a:spcPts val="800"/>
              </a:spcAft>
            </a:pPr>
            <a:r>
              <a:rPr sz="1500">
                <a:solidFill>
                  <a:srgbClr val="C084FC"/>
                </a:solidFill>
              </a:rPr>
              <a:t>‣ </a:t>
            </a:r>
            <a:r>
              <a:rPr sz="1500" b="0">
                <a:solidFill>
                  <a:srgbClr val="FFFFFF"/>
                </a:solidFill>
              </a:rPr>
              <a:t>The smallest visual unit. Points attract the eye, create texture through repetition and establish visual rhythm, pattern and movement.</a:t>
            </a:r>
          </a:p>
          <a:p>
            <a:pPr lvl="2">
              <a:spcAft>
                <a:spcPts val="800"/>
              </a:spcAft>
            </a:pPr>
            <a:r>
              <a:rPr sz="1400">
                <a:solidFill>
                  <a:srgbClr val="C084FC"/>
                </a:solidFill>
              </a:rPr>
              <a:t>– </a:t>
            </a:r>
            <a:r>
              <a:rPr sz="1400" b="0">
                <a:solidFill>
                  <a:srgbClr val="FFFFFF"/>
                </a:solidFill>
              </a:rPr>
              <a:t>Uses of Point</a:t>
            </a:r>
          </a:p>
          <a:p>
            <a:pPr lvl="3">
              <a:spcAft>
                <a:spcPts val="800"/>
              </a:spcAft>
            </a:pPr>
            <a:r>
              <a:rPr sz="1300">
                <a:solidFill>
                  <a:srgbClr val="C084FC"/>
                </a:solidFill>
              </a:rPr>
              <a:t>- </a:t>
            </a:r>
            <a:r>
              <a:rPr sz="1300" b="1">
                <a:solidFill>
                  <a:srgbClr val="C084FC"/>
                </a:solidFill>
              </a:rPr>
              <a:t>Focal point </a:t>
            </a:r>
            <a:r>
              <a:rPr sz="1300" b="0">
                <a:solidFill>
                  <a:srgbClr val="FFFFFF"/>
                </a:solidFill>
              </a:rPr>
              <a:t> — a single prominent dot draws the eye</a:t>
            </a:r>
          </a:p>
          <a:p>
            <a:pPr lvl="3">
              <a:spcAft>
                <a:spcPts val="800"/>
              </a:spcAft>
            </a:pPr>
            <a:r>
              <a:rPr sz="1300">
                <a:solidFill>
                  <a:srgbClr val="C084FC"/>
                </a:solidFill>
              </a:rPr>
              <a:t>- </a:t>
            </a:r>
            <a:r>
              <a:rPr sz="1300" b="1">
                <a:solidFill>
                  <a:srgbClr val="C084FC"/>
                </a:solidFill>
              </a:rPr>
              <a:t>Repetition </a:t>
            </a:r>
            <a:r>
              <a:rPr sz="1300" b="0">
                <a:solidFill>
                  <a:srgbClr val="FFFFFF"/>
                </a:solidFill>
              </a:rPr>
              <a:t> — creates texture and visual interest</a:t>
            </a:r>
          </a:p>
          <a:p>
            <a:pPr lvl="3">
              <a:spcAft>
                <a:spcPts val="800"/>
              </a:spcAft>
            </a:pPr>
            <a:r>
              <a:rPr sz="1300">
                <a:solidFill>
                  <a:srgbClr val="C084FC"/>
                </a:solidFill>
              </a:rPr>
              <a:t>- </a:t>
            </a:r>
            <a:r>
              <a:rPr sz="1300" b="1">
                <a:solidFill>
                  <a:srgbClr val="C084FC"/>
                </a:solidFill>
              </a:rPr>
              <a:t>Stippling </a:t>
            </a:r>
            <a:r>
              <a:rPr sz="1300" b="0">
                <a:solidFill>
                  <a:srgbClr val="FFFFFF"/>
                </a:solidFill>
              </a:rPr>
              <a:t> — many dots create tonal variation</a:t>
            </a:r>
          </a:p>
          <a:p>
            <a:pPr lvl="3">
              <a:spcAft>
                <a:spcPts val="800"/>
              </a:spcAft>
            </a:pPr>
            <a:r>
              <a:rPr sz="1300">
                <a:solidFill>
                  <a:srgbClr val="C084FC"/>
                </a:solidFill>
              </a:rPr>
              <a:t>- </a:t>
            </a:r>
            <a:r>
              <a:rPr sz="1300" b="1">
                <a:solidFill>
                  <a:srgbClr val="C084FC"/>
                </a:solidFill>
              </a:rPr>
              <a:t>Pattern </a:t>
            </a:r>
            <a:r>
              <a:rPr sz="1300" b="0">
                <a:solidFill>
                  <a:srgbClr val="FFFFFF"/>
                </a:solidFill>
              </a:rPr>
              <a:t> — regular arrangement creates rhythm</a:t>
            </a:r>
          </a:p>
          <a:p>
            <a:pPr lvl="3">
              <a:spcAft>
                <a:spcPts val="800"/>
              </a:spcAft>
            </a:pPr>
            <a:r>
              <a:rPr sz="1300">
                <a:solidFill>
                  <a:srgbClr val="C084FC"/>
                </a:solidFill>
              </a:rPr>
              <a:t>- </a:t>
            </a:r>
            <a:r>
              <a:rPr sz="1300" b="1">
                <a:solidFill>
                  <a:srgbClr val="C084FC"/>
                </a:solidFill>
              </a:rPr>
              <a:t>Concentration </a:t>
            </a:r>
            <a:r>
              <a:rPr sz="1300" b="0">
                <a:solidFill>
                  <a:srgbClr val="FFFFFF"/>
                </a:solidFill>
              </a:rPr>
              <a:t> — density of dots implies darkness or weight</a:t>
            </a:r>
          </a:p>
          <a:p>
            <a:pPr lvl="1">
              <a:spcAft>
                <a:spcPts val="800"/>
              </a:spcAft>
            </a:pPr>
            <a:r>
              <a:rPr sz="1500">
                <a:solidFill>
                  <a:srgbClr val="C084FC"/>
                </a:solidFill>
              </a:rPr>
              <a:t>‣ </a:t>
            </a:r>
            <a:r>
              <a:rPr sz="1500" b="1">
                <a:solidFill>
                  <a:srgbClr val="C084FC"/>
                </a:solidFill>
              </a:rPr>
              <a:t>Exam vocab: </a:t>
            </a:r>
            <a:r>
              <a:rPr sz="1500" b="0">
                <a:solidFill>
                  <a:srgbClr val="FFFFFF"/>
                </a:solidFill>
              </a:rPr>
              <a:t> focal point, dot, mark, repetition, pattern, concentration, dispersal, stippling, halftone, scatter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C084FC"/>
                </a:solidFill>
              </a:rPr>
              <a:t>ELEMENT 8 OF 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85800"/>
            <a:ext cx="110642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1">
                <a:solidFill>
                  <a:srgbClr val="FFFFFF"/>
                </a:solidFill>
              </a:rPr>
              <a:t>Type 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965960"/>
            <a:ext cx="11064240" cy="5669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spcAft>
                <a:spcPts val="800"/>
              </a:spcAft>
            </a:pPr>
            <a:r>
              <a:rPr sz="1500">
                <a:solidFill>
                  <a:srgbClr val="C084FC"/>
                </a:solidFill>
              </a:rPr>
              <a:t>‣ </a:t>
            </a:r>
            <a:r>
              <a:rPr sz="1500" b="0">
                <a:solidFill>
                  <a:srgbClr val="FFFFFF"/>
                </a:solidFill>
              </a:rPr>
              <a:t>Letterforms and typography as a visual design element. Type communicates personality, hierarchy and brand identity beyond its literal meaning.</a:t>
            </a:r>
          </a:p>
          <a:p>
            <a:pPr lvl="2">
              <a:spcAft>
                <a:spcPts val="800"/>
              </a:spcAft>
            </a:pPr>
            <a:r>
              <a:rPr sz="1400">
                <a:solidFill>
                  <a:srgbClr val="C084FC"/>
                </a:solidFill>
              </a:rPr>
              <a:t>– </a:t>
            </a:r>
            <a:r>
              <a:rPr sz="1400" b="0">
                <a:solidFill>
                  <a:srgbClr val="FFFFFF"/>
                </a:solidFill>
              </a:rPr>
              <a:t>Type as a Visual Element</a:t>
            </a:r>
          </a:p>
          <a:p>
            <a:pPr lvl="3">
              <a:spcAft>
                <a:spcPts val="800"/>
              </a:spcAft>
            </a:pPr>
            <a:r>
              <a:rPr sz="1300">
                <a:solidFill>
                  <a:srgbClr val="C084FC"/>
                </a:solidFill>
              </a:rPr>
              <a:t>- </a:t>
            </a:r>
            <a:r>
              <a:rPr sz="1300" b="1">
                <a:solidFill>
                  <a:srgbClr val="C084FC"/>
                </a:solidFill>
              </a:rPr>
              <a:t>Weight </a:t>
            </a:r>
            <a:r>
              <a:rPr sz="1300" b="0">
                <a:solidFill>
                  <a:srgbClr val="FFFFFF"/>
                </a:solidFill>
              </a:rPr>
              <a:t> — bold communicates strength and importance</a:t>
            </a:r>
          </a:p>
          <a:p>
            <a:pPr lvl="3">
              <a:spcAft>
                <a:spcPts val="800"/>
              </a:spcAft>
            </a:pPr>
            <a:r>
              <a:rPr sz="1300">
                <a:solidFill>
                  <a:srgbClr val="C084FC"/>
                </a:solidFill>
              </a:rPr>
              <a:t>- </a:t>
            </a:r>
            <a:r>
              <a:rPr sz="1300" b="1">
                <a:solidFill>
                  <a:srgbClr val="C084FC"/>
                </a:solidFill>
              </a:rPr>
              <a:t>Size </a:t>
            </a:r>
            <a:r>
              <a:rPr sz="1300" b="0">
                <a:solidFill>
                  <a:srgbClr val="FFFFFF"/>
                </a:solidFill>
              </a:rPr>
              <a:t> — larger type has greater visual weight</a:t>
            </a:r>
          </a:p>
          <a:p>
            <a:pPr lvl="3">
              <a:spcAft>
                <a:spcPts val="800"/>
              </a:spcAft>
            </a:pPr>
            <a:r>
              <a:rPr sz="1300">
                <a:solidFill>
                  <a:srgbClr val="C084FC"/>
                </a:solidFill>
              </a:rPr>
              <a:t>- </a:t>
            </a:r>
            <a:r>
              <a:rPr sz="1300" b="1">
                <a:solidFill>
                  <a:srgbClr val="C084FC"/>
                </a:solidFill>
              </a:rPr>
              <a:t>Tracking </a:t>
            </a:r>
            <a:r>
              <a:rPr sz="1300" b="0">
                <a:solidFill>
                  <a:srgbClr val="FFFFFF"/>
                </a:solidFill>
              </a:rPr>
              <a:t> — spacing between all letters</a:t>
            </a:r>
          </a:p>
          <a:p>
            <a:pPr lvl="3">
              <a:spcAft>
                <a:spcPts val="800"/>
              </a:spcAft>
            </a:pPr>
            <a:r>
              <a:rPr sz="1300">
                <a:solidFill>
                  <a:srgbClr val="C084FC"/>
                </a:solidFill>
              </a:rPr>
              <a:t>- </a:t>
            </a:r>
            <a:r>
              <a:rPr sz="1300" b="1">
                <a:solidFill>
                  <a:srgbClr val="C084FC"/>
                </a:solidFill>
              </a:rPr>
              <a:t>Leading </a:t>
            </a:r>
            <a:r>
              <a:rPr sz="1300" b="0">
                <a:solidFill>
                  <a:srgbClr val="FFFFFF"/>
                </a:solidFill>
              </a:rPr>
              <a:t> — space between lines</a:t>
            </a:r>
          </a:p>
          <a:p>
            <a:pPr lvl="3">
              <a:spcAft>
                <a:spcPts val="800"/>
              </a:spcAft>
            </a:pPr>
            <a:r>
              <a:rPr sz="1300">
                <a:solidFill>
                  <a:srgbClr val="C084FC"/>
                </a:solidFill>
              </a:rPr>
              <a:t>- </a:t>
            </a:r>
            <a:r>
              <a:rPr sz="1300" b="1">
                <a:solidFill>
                  <a:srgbClr val="C084FC"/>
                </a:solidFill>
              </a:rPr>
              <a:t>Case </a:t>
            </a:r>
            <a:r>
              <a:rPr sz="1300" b="0">
                <a:solidFill>
                  <a:srgbClr val="FFFFFF"/>
                </a:solidFill>
              </a:rPr>
              <a:t> — ALL CAPS suggests authority</a:t>
            </a:r>
          </a:p>
          <a:p>
            <a:pPr lvl="1">
              <a:spcAft>
                <a:spcPts val="800"/>
              </a:spcAft>
            </a:pPr>
            <a:r>
              <a:rPr sz="1500">
                <a:solidFill>
                  <a:srgbClr val="C084FC"/>
                </a:solidFill>
              </a:rPr>
              <a:t>‣ </a:t>
            </a:r>
            <a:r>
              <a:rPr sz="1500" b="1">
                <a:solidFill>
                  <a:srgbClr val="C084FC"/>
                </a:solidFill>
              </a:rPr>
              <a:t>Exam vocab: </a:t>
            </a:r>
            <a:r>
              <a:rPr sz="1500" b="0">
                <a:solidFill>
                  <a:srgbClr val="FFFFFF"/>
                </a:solidFill>
              </a:rPr>
              <a:t> typeface, font, serif, sans-serif, weight, tracking, leading, kerning, hierarchy, baseline, x-height, cap height</a:t>
            </a:r>
          </a:p>
          <a:p>
            <a:pPr lvl="1">
              <a:spcAft>
                <a:spcPts val="800"/>
              </a:spcAft>
            </a:pPr>
            <a:r>
              <a:rPr sz="1500">
                <a:solidFill>
                  <a:srgbClr val="C084FC"/>
                </a:solidFill>
              </a:rPr>
              <a:t>‣ </a:t>
            </a:r>
            <a:r>
              <a:rPr sz="1500" b="0">
                <a:solidFill>
                  <a:srgbClr val="FFFFFF"/>
                </a:solidFill>
              </a:rPr>
              <a:t>Serif</a:t>
            </a:r>
          </a:p>
          <a:p>
            <a:pPr lvl="1">
              <a:spcAft>
                <a:spcPts val="800"/>
              </a:spcAft>
            </a:pPr>
            <a:r>
              <a:rPr sz="1500">
                <a:solidFill>
                  <a:srgbClr val="C084FC"/>
                </a:solidFill>
              </a:rPr>
              <a:t>‣ </a:t>
            </a:r>
            <a:r>
              <a:rPr sz="1500" b="0">
                <a:solidFill>
                  <a:srgbClr val="FFFFFF"/>
                </a:solidFill>
              </a:rPr>
              <a:t>Sans-Serif</a:t>
            </a:r>
          </a:p>
          <a:p>
            <a:pPr lvl="1">
              <a:spcAft>
                <a:spcPts val="800"/>
              </a:spcAft>
            </a:pPr>
            <a:r>
              <a:rPr sz="1500">
                <a:solidFill>
                  <a:srgbClr val="C084FC"/>
                </a:solidFill>
              </a:rPr>
              <a:t>‣ </a:t>
            </a:r>
            <a:r>
              <a:rPr sz="1500" b="0">
                <a:solidFill>
                  <a:srgbClr val="FFFFFF"/>
                </a:solidFill>
              </a:rPr>
              <a:t>Script / Italic</a:t>
            </a:r>
          </a:p>
          <a:p>
            <a:pPr lvl="1">
              <a:spcAft>
                <a:spcPts val="800"/>
              </a:spcAft>
            </a:pPr>
            <a:r>
              <a:rPr sz="1500">
                <a:solidFill>
                  <a:srgbClr val="C084FC"/>
                </a:solidFill>
              </a:rPr>
              <a:t>‣ </a:t>
            </a:r>
            <a:r>
              <a:rPr sz="1500" b="0">
                <a:solidFill>
                  <a:srgbClr val="FFFFFF"/>
                </a:solidFill>
              </a:rPr>
              <a:t>DISPLAY</a:t>
            </a:r>
          </a:p>
          <a:p>
            <a:pPr lvl="1">
              <a:spcAft>
                <a:spcPts val="800"/>
              </a:spcAft>
            </a:pPr>
            <a:r>
              <a:rPr sz="1500">
                <a:solidFill>
                  <a:srgbClr val="C084FC"/>
                </a:solidFill>
              </a:rPr>
              <a:t>‣ </a:t>
            </a:r>
            <a:r>
              <a:rPr sz="1500" b="0">
                <a:solidFill>
                  <a:srgbClr val="FFFFFF"/>
                </a:solidFill>
              </a:rPr>
              <a:t>Type classification covered in Typography unit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C084FC"/>
                </a:solidFill>
              </a:rPr>
              <a:t>EXAM TECHNIQUE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85800"/>
            <a:ext cx="110642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1">
                <a:solidFill>
                  <a:srgbClr val="FFFFFF"/>
                </a:solidFill>
              </a:rPr>
              <a:t>How to Analyse Elements in the Exam 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965960"/>
            <a:ext cx="11064240" cy="5669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2">
              <a:spcAft>
                <a:spcPts val="800"/>
              </a:spcAft>
            </a:pPr>
            <a:r>
              <a:rPr sz="1400">
                <a:solidFill>
                  <a:srgbClr val="C084FC"/>
                </a:solidFill>
              </a:rPr>
              <a:t>– </a:t>
            </a:r>
            <a:r>
              <a:rPr sz="1400" b="0">
                <a:solidFill>
                  <a:srgbClr val="FFFFFF"/>
                </a:solidFill>
              </a:rPr>
              <a:t>Element → Use → Effect</a:t>
            </a:r>
          </a:p>
          <a:p>
            <a:pPr lvl="3">
              <a:spcAft>
                <a:spcPts val="800"/>
              </a:spcAft>
            </a:pPr>
            <a:r>
              <a:rPr sz="1300">
                <a:solidFill>
                  <a:srgbClr val="C084FC"/>
                </a:solidFill>
              </a:rPr>
              <a:t>- </a:t>
            </a:r>
            <a:r>
              <a:rPr sz="1300" b="0">
                <a:solidFill>
                  <a:srgbClr val="FFFFFF"/>
                </a:solidFill>
              </a:rPr>
              <a:t>1. Name the specific element and its type</a:t>
            </a:r>
          </a:p>
          <a:p>
            <a:pPr lvl="3">
              <a:spcAft>
                <a:spcPts val="800"/>
              </a:spcAft>
            </a:pPr>
            <a:r>
              <a:rPr sz="1300">
                <a:solidFill>
                  <a:srgbClr val="C084FC"/>
                </a:solidFill>
              </a:rPr>
              <a:t>- </a:t>
            </a:r>
            <a:r>
              <a:rPr sz="1300" b="0">
                <a:solidFill>
                  <a:srgbClr val="FFFFFF"/>
                </a:solidFill>
              </a:rPr>
              <a:t>2. Describe exactly how it is used</a:t>
            </a:r>
          </a:p>
          <a:p>
            <a:pPr lvl="3">
              <a:spcAft>
                <a:spcPts val="800"/>
              </a:spcAft>
            </a:pPr>
            <a:r>
              <a:rPr sz="1300">
                <a:solidFill>
                  <a:srgbClr val="C084FC"/>
                </a:solidFill>
              </a:rPr>
              <a:t>- </a:t>
            </a:r>
            <a:r>
              <a:rPr sz="1300" b="0">
                <a:solidFill>
                  <a:srgbClr val="FFFFFF"/>
                </a:solidFill>
              </a:rPr>
              <a:t>3. Explain the effect on the target audience</a:t>
            </a:r>
          </a:p>
          <a:p>
            <a:pPr lvl="2">
              <a:spcAft>
                <a:spcPts val="800"/>
              </a:spcAft>
            </a:pPr>
            <a:r>
              <a:rPr sz="1400">
                <a:solidFill>
                  <a:srgbClr val="C084FC"/>
                </a:solidFill>
              </a:rPr>
              <a:t>– </a:t>
            </a:r>
            <a:r>
              <a:rPr sz="1400" b="0">
                <a:solidFill>
                  <a:srgbClr val="FFFFFF"/>
                </a:solidFill>
              </a:rPr>
              <a:t>❌ Weak answer:</a:t>
            </a:r>
          </a:p>
          <a:p>
            <a:pPr lvl="2">
              <a:spcAft>
                <a:spcPts val="800"/>
              </a:spcAft>
            </a:pPr>
            <a:r>
              <a:rPr sz="1400">
                <a:solidFill>
                  <a:srgbClr val="C084FC"/>
                </a:solidFill>
              </a:rPr>
              <a:t>– </a:t>
            </a:r>
            <a:r>
              <a:rPr sz="1400" b="0">
                <a:solidFill>
                  <a:srgbClr val="FFFFFF"/>
                </a:solidFill>
              </a:rPr>
              <a:t>"The line is interesting and makes the design look good."</a:t>
            </a:r>
          </a:p>
          <a:p>
            <a:pPr lvl="2">
              <a:spcAft>
                <a:spcPts val="800"/>
              </a:spcAft>
            </a:pPr>
            <a:r>
              <a:rPr sz="1400">
                <a:solidFill>
                  <a:srgbClr val="C084FC"/>
                </a:solidFill>
              </a:rPr>
              <a:t>– </a:t>
            </a:r>
            <a:r>
              <a:rPr sz="1400" b="0">
                <a:solidFill>
                  <a:srgbClr val="FFFFFF"/>
                </a:solidFill>
              </a:rPr>
              <a:t>✓ Strong answer:</a:t>
            </a:r>
          </a:p>
          <a:p>
            <a:pPr lvl="2">
              <a:spcAft>
                <a:spcPts val="800"/>
              </a:spcAft>
            </a:pPr>
            <a:r>
              <a:rPr sz="1400">
                <a:solidFill>
                  <a:srgbClr val="C084FC"/>
                </a:solidFill>
              </a:rPr>
              <a:t>– </a:t>
            </a:r>
            <a:r>
              <a:rPr sz="1400" b="0">
                <a:solidFill>
                  <a:srgbClr val="FFFFFF"/>
                </a:solidFill>
              </a:rPr>
              <a:t>"The bold diagonal line creates a sense of urgency and movement, directing the viewer's eye towards the call-to-action and conveying the campaign's dynamic energy."</a:t>
            </a:r>
          </a:p>
          <a:p>
            <a:pPr lvl="1">
              <a:spcAft>
                <a:spcPts val="800"/>
              </a:spcAft>
            </a:pPr>
            <a:r>
              <a:rPr sz="1500">
                <a:solidFill>
                  <a:srgbClr val="C084FC"/>
                </a:solidFill>
              </a:rPr>
              <a:t>‣ </a:t>
            </a:r>
            <a:r>
              <a:rPr sz="1500" b="0">
                <a:solidFill>
                  <a:srgbClr val="FFFFFF"/>
                </a:solidFill>
              </a:rPr>
              <a:t>Sentence Starters</a:t>
            </a:r>
          </a:p>
          <a:p>
            <a:pPr lvl="2">
              <a:spcAft>
                <a:spcPts val="800"/>
              </a:spcAft>
            </a:pPr>
            <a:r>
              <a:rPr sz="1400">
                <a:solidFill>
                  <a:srgbClr val="C084FC"/>
                </a:solidFill>
              </a:rPr>
              <a:t>– </a:t>
            </a:r>
            <a:r>
              <a:rPr sz="1400" b="0">
                <a:solidFill>
                  <a:srgbClr val="FFFFFF"/>
                </a:solidFill>
              </a:rPr>
              <a:t>"The use of [diagonal lines] creates..."</a:t>
            </a:r>
          </a:p>
          <a:p>
            <a:pPr lvl="2">
              <a:spcAft>
                <a:spcPts val="800"/>
              </a:spcAft>
            </a:pPr>
            <a:r>
              <a:rPr sz="1400">
                <a:solidFill>
                  <a:srgbClr val="C084FC"/>
                </a:solidFill>
              </a:rPr>
              <a:t>– </a:t>
            </a:r>
            <a:r>
              <a:rPr sz="1400" b="0">
                <a:solidFill>
                  <a:srgbClr val="FFFFFF"/>
                </a:solidFill>
              </a:rPr>
              <a:t>"The [complementary colour scheme] of [X and Y] produces..."</a:t>
            </a:r>
          </a:p>
          <a:p>
            <a:pPr lvl="2">
              <a:spcAft>
                <a:spcPts val="800"/>
              </a:spcAft>
            </a:pPr>
            <a:r>
              <a:rPr sz="1400">
                <a:solidFill>
                  <a:srgbClr val="C084FC"/>
                </a:solidFill>
              </a:rPr>
              <a:t>– </a:t>
            </a:r>
            <a:r>
              <a:rPr sz="1400" b="0">
                <a:solidFill>
                  <a:srgbClr val="FFFFFF"/>
                </a:solidFill>
              </a:rPr>
              <a:t>"Through the use of [low-key tonal values], the designer..."</a:t>
            </a:r>
          </a:p>
          <a:p>
            <a:pPr lvl="2">
              <a:spcAft>
                <a:spcPts val="800"/>
              </a:spcAft>
            </a:pPr>
            <a:r>
              <a:rPr sz="1400">
                <a:solidFill>
                  <a:srgbClr val="C084FC"/>
                </a:solidFill>
              </a:rPr>
              <a:t>– </a:t>
            </a:r>
            <a:r>
              <a:rPr sz="1400" b="0">
                <a:solidFill>
                  <a:srgbClr val="FFFFFF"/>
                </a:solidFill>
              </a:rPr>
              <a:t>"The [organic shapes] suggest [nature/warmth] and convey..."</a:t>
            </a:r>
          </a:p>
          <a:p>
            <a:pPr lvl="2">
              <a:spcAft>
                <a:spcPts val="800"/>
              </a:spcAft>
            </a:pPr>
            <a:r>
              <a:rPr sz="1400">
                <a:solidFill>
                  <a:srgbClr val="C084FC"/>
                </a:solidFill>
              </a:rPr>
              <a:t>– </a:t>
            </a:r>
            <a:r>
              <a:rPr sz="1400" b="0">
                <a:solidFill>
                  <a:srgbClr val="FFFFFF"/>
                </a:solidFill>
              </a:rPr>
              <a:t>"A [rough, tactile texture] communicates [authenticity] to the target audience of..."</a:t>
            </a:r>
          </a:p>
          <a:p>
            <a:pPr lvl="2">
              <a:spcAft>
                <a:spcPts val="800"/>
              </a:spcAft>
            </a:pPr>
            <a:r>
              <a:rPr sz="1400">
                <a:solidFill>
                  <a:srgbClr val="C084FC"/>
                </a:solidFill>
              </a:rPr>
              <a:t>– </a:t>
            </a:r>
            <a:r>
              <a:rPr sz="1400" b="0">
                <a:solidFill>
                  <a:srgbClr val="FFFFFF"/>
                </a:solidFill>
              </a:rPr>
              <a:t>"The [high tonal contrast] between [X] and [Y] draws immediate attention to..."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C084FC"/>
                </a:solidFill>
              </a:rPr>
              <a:t>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85800"/>
            <a:ext cx="110642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1">
                <a:solidFill>
                  <a:srgbClr val="FFFFFF"/>
                </a:solidFill>
              </a:rPr>
              <a:t>All 8 Elements — Quick Reference 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965960"/>
            <a:ext cx="11064240" cy="5669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spcAft>
                <a:spcPts val="800"/>
              </a:spcAft>
            </a:pPr>
            <a:r>
              <a:rPr sz="1500">
                <a:solidFill>
                  <a:srgbClr val="C084FC"/>
                </a:solidFill>
              </a:rPr>
              <a:t>‣ </a:t>
            </a:r>
            <a:r>
              <a:rPr sz="1500" b="0">
                <a:solidFill>
                  <a:srgbClr val="FFFFFF"/>
                </a:solidFill>
              </a:rPr>
              <a:t>Line</a:t>
            </a:r>
          </a:p>
          <a:p>
            <a:pPr lvl="1">
              <a:spcAft>
                <a:spcPts val="800"/>
              </a:spcAft>
            </a:pPr>
            <a:r>
              <a:rPr sz="1500">
                <a:solidFill>
                  <a:srgbClr val="C084FC"/>
                </a:solidFill>
              </a:rPr>
              <a:t>‣ </a:t>
            </a:r>
            <a:r>
              <a:rPr sz="1500" b="0">
                <a:solidFill>
                  <a:srgbClr val="FFFFFF"/>
                </a:solidFill>
              </a:rPr>
              <a:t>Mark by a moving point. Horizontal, vertical, diagonal, curved, implied.</a:t>
            </a:r>
          </a:p>
          <a:p>
            <a:pPr lvl="1">
              <a:spcAft>
                <a:spcPts val="800"/>
              </a:spcAft>
            </a:pPr>
            <a:r>
              <a:rPr sz="1500">
                <a:solidFill>
                  <a:srgbClr val="C084FC"/>
                </a:solidFill>
              </a:rPr>
              <a:t>‣ </a:t>
            </a:r>
            <a:r>
              <a:rPr sz="1500" b="0">
                <a:solidFill>
                  <a:srgbClr val="FFFFFF"/>
                </a:solidFill>
              </a:rPr>
              <a:t>Shape</a:t>
            </a:r>
          </a:p>
          <a:p>
            <a:pPr lvl="1">
              <a:spcAft>
                <a:spcPts val="800"/>
              </a:spcAft>
            </a:pPr>
            <a:r>
              <a:rPr sz="1500">
                <a:solidFill>
                  <a:srgbClr val="C084FC"/>
                </a:solidFill>
              </a:rPr>
              <a:t>‣ </a:t>
            </a:r>
            <a:r>
              <a:rPr sz="1500" b="0">
                <a:solidFill>
                  <a:srgbClr val="FFFFFF"/>
                </a:solidFill>
              </a:rPr>
              <a:t>2D enclosed area. Geometric or organic. Positive and negative.</a:t>
            </a:r>
          </a:p>
          <a:p>
            <a:pPr lvl="1">
              <a:spcAft>
                <a:spcPts val="800"/>
              </a:spcAft>
            </a:pPr>
            <a:r>
              <a:rPr sz="1500">
                <a:solidFill>
                  <a:srgbClr val="C084FC"/>
                </a:solidFill>
              </a:rPr>
              <a:t>‣ </a:t>
            </a:r>
            <a:r>
              <a:rPr sz="1500" b="0">
                <a:solidFill>
                  <a:srgbClr val="FFFFFF"/>
                </a:solidFill>
              </a:rPr>
              <a:t>Colour</a:t>
            </a:r>
          </a:p>
          <a:p>
            <a:pPr lvl="1">
              <a:spcAft>
                <a:spcPts val="800"/>
              </a:spcAft>
            </a:pPr>
            <a:r>
              <a:rPr sz="1500">
                <a:solidFill>
                  <a:srgbClr val="C084FC"/>
                </a:solidFill>
              </a:rPr>
              <a:t>‣ </a:t>
            </a:r>
            <a:r>
              <a:rPr sz="1500" b="0">
                <a:solidFill>
                  <a:srgbClr val="FFFFFF"/>
                </a:solidFill>
              </a:rPr>
              <a:t>Hue, saturation, value. Warm/cool. Colour schemes: complementary, analogous, triadic.</a:t>
            </a:r>
          </a:p>
          <a:p>
            <a:pPr lvl="1">
              <a:spcAft>
                <a:spcPts val="800"/>
              </a:spcAft>
            </a:pPr>
            <a:r>
              <a:rPr sz="1500">
                <a:solidFill>
                  <a:srgbClr val="C084FC"/>
                </a:solidFill>
              </a:rPr>
              <a:t>‣ </a:t>
            </a:r>
            <a:r>
              <a:rPr sz="1500" b="0">
                <a:solidFill>
                  <a:srgbClr val="FFFFFF"/>
                </a:solidFill>
              </a:rPr>
              <a:t>Tone</a:t>
            </a:r>
          </a:p>
          <a:p>
            <a:pPr lvl="1">
              <a:spcAft>
                <a:spcPts val="800"/>
              </a:spcAft>
            </a:pPr>
            <a:r>
              <a:rPr sz="1500">
                <a:solidFill>
                  <a:srgbClr val="C084FC"/>
                </a:solidFill>
              </a:rPr>
              <a:t>‣ </a:t>
            </a:r>
            <a:r>
              <a:rPr sz="1500" b="0">
                <a:solidFill>
                  <a:srgbClr val="FFFFFF"/>
                </a:solidFill>
              </a:rPr>
              <a:t>Light to dark. Highlight, midtone, shadow. Creates depth and volume.</a:t>
            </a:r>
          </a:p>
          <a:p>
            <a:pPr lvl="1">
              <a:spcAft>
                <a:spcPts val="800"/>
              </a:spcAft>
            </a:pPr>
            <a:r>
              <a:rPr sz="1500">
                <a:solidFill>
                  <a:srgbClr val="C084FC"/>
                </a:solidFill>
              </a:rPr>
              <a:t>‣ </a:t>
            </a:r>
            <a:r>
              <a:rPr sz="1500" b="0">
                <a:solidFill>
                  <a:srgbClr val="FFFFFF"/>
                </a:solidFill>
              </a:rPr>
              <a:t>Texture</a:t>
            </a:r>
          </a:p>
          <a:p>
            <a:pPr lvl="1">
              <a:spcAft>
                <a:spcPts val="800"/>
              </a:spcAft>
            </a:pPr>
            <a:r>
              <a:rPr sz="1500">
                <a:solidFill>
                  <a:srgbClr val="C084FC"/>
                </a:solidFill>
              </a:rPr>
              <a:t>‣ </a:t>
            </a:r>
            <a:r>
              <a:rPr sz="1500" b="0">
                <a:solidFill>
                  <a:srgbClr val="FFFFFF"/>
                </a:solidFill>
              </a:rPr>
              <a:t>Actual (tactile) or visual (simulated). Communicates cultural meaning.</a:t>
            </a:r>
          </a:p>
          <a:p>
            <a:pPr lvl="1">
              <a:spcAft>
                <a:spcPts val="800"/>
              </a:spcAft>
            </a:pPr>
            <a:r>
              <a:rPr sz="1500">
                <a:solidFill>
                  <a:srgbClr val="C084FC"/>
                </a:solidFill>
              </a:rPr>
              <a:t>‣ </a:t>
            </a:r>
            <a:r>
              <a:rPr sz="1500" b="0">
                <a:solidFill>
                  <a:srgbClr val="FFFFFF"/>
                </a:solidFill>
              </a:rPr>
              <a:t>Form</a:t>
            </a:r>
          </a:p>
          <a:p>
            <a:pPr lvl="1">
              <a:spcAft>
                <a:spcPts val="800"/>
              </a:spcAft>
            </a:pPr>
            <a:r>
              <a:rPr sz="1500">
                <a:solidFill>
                  <a:srgbClr val="C084FC"/>
                </a:solidFill>
              </a:rPr>
              <a:t>‣ </a:t>
            </a:r>
            <a:r>
              <a:rPr sz="1500" b="0">
                <a:solidFill>
                  <a:srgbClr val="FFFFFF"/>
                </a:solidFill>
              </a:rPr>
              <a:t>3D volume or illusion of it. Created by tone, line and perspective.</a:t>
            </a:r>
          </a:p>
          <a:p>
            <a:pPr lvl="1">
              <a:spcAft>
                <a:spcPts val="800"/>
              </a:spcAft>
            </a:pPr>
            <a:r>
              <a:rPr sz="1500">
                <a:solidFill>
                  <a:srgbClr val="C084FC"/>
                </a:solidFill>
              </a:rPr>
              <a:t>‣ </a:t>
            </a:r>
            <a:r>
              <a:rPr sz="1500" b="0">
                <a:solidFill>
                  <a:srgbClr val="FFFFFF"/>
                </a:solidFill>
              </a:rPr>
              <a:t>Point</a:t>
            </a:r>
          </a:p>
          <a:p>
            <a:pPr lvl="1">
              <a:spcAft>
                <a:spcPts val="800"/>
              </a:spcAft>
            </a:pPr>
            <a:r>
              <a:rPr sz="1500">
                <a:solidFill>
                  <a:srgbClr val="C084FC"/>
                </a:solidFill>
              </a:rPr>
              <a:t>‣ </a:t>
            </a:r>
            <a:r>
              <a:rPr sz="1500" b="0">
                <a:solidFill>
                  <a:srgbClr val="FFFFFF"/>
                </a:solidFill>
              </a:rPr>
              <a:t>Smallest visual unit. Creates focal point, texture, pattern through repetition.</a:t>
            </a:r>
          </a:p>
          <a:p>
            <a:pPr lvl="1">
              <a:spcAft>
                <a:spcPts val="800"/>
              </a:spcAft>
            </a:pPr>
            <a:r>
              <a:rPr sz="1500">
                <a:solidFill>
                  <a:srgbClr val="C084FC"/>
                </a:solidFill>
              </a:rPr>
              <a:t>‣ </a:t>
            </a:r>
            <a:r>
              <a:rPr sz="1500" b="0">
                <a:solidFill>
                  <a:srgbClr val="FFFFFF"/>
                </a:solidFill>
              </a:rPr>
              <a:t>Type</a:t>
            </a:r>
          </a:p>
          <a:p>
            <a:pPr lvl="1">
              <a:spcAft>
                <a:spcPts val="800"/>
              </a:spcAft>
            </a:pPr>
            <a:r>
              <a:rPr sz="1500">
                <a:solidFill>
                  <a:srgbClr val="C084FC"/>
                </a:solidFill>
              </a:rPr>
              <a:t>‣ </a:t>
            </a:r>
            <a:r>
              <a:rPr sz="1500" b="0">
                <a:solidFill>
                  <a:srgbClr val="FFFFFF"/>
                </a:solidFill>
              </a:rPr>
              <a:t>Letterforms as visual element. Communicates personality, hierarchy, brand.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C084FC"/>
                </a:solidFill>
              </a:rPr>
              <a:t>● </a:t>
            </a:r>
            <a:r>
              <a:rPr sz="1600" b="0">
                <a:solidFill>
                  <a:srgbClr val="FFFFFF"/>
                </a:solidFill>
              </a:rPr>
              <a:t> Always:  </a:t>
            </a:r>
            <a:r>
              <a:rPr sz="1600" b="1">
                <a:solidFill>
                  <a:srgbClr val="C084FC"/>
                </a:solidFill>
              </a:rPr>
              <a:t>Name the element → Describe how it's used → Explain the effect on the audience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