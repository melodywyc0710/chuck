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21420000">
            <a:off x="-1188720" y="-1005840"/>
            <a:ext cx="7863840" cy="6766560"/>
          </a:xfrm>
          <a:prstGeom prst="roundRect">
            <a:avLst>
              <a:gd name="adj" fmla="val 32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640080"/>
            <a:ext cx="2194560" cy="219456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" y="5623560"/>
            <a:ext cx="1371600" cy="1371600"/>
          </a:xfrm>
          <a:prstGeom prst="ellipse">
            <a:avLst/>
          </a:prstGeom>
          <a:solidFill>
            <a:srgbClr val="D98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3566160"/>
            <a:ext cx="3291840" cy="3108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0" b="1" i="0">
                <a:solidFill>
                  <a:srgbClr val="E7D9DD"/>
                </a:solidFill>
                <a:latin typeface="Cambria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50" b="1">
                <a:solidFill>
                  <a:srgbClr val="7A2E43"/>
                </a:solidFill>
                <a:latin typeface="Calibri"/>
              </a:rPr>
              <a:t>VCE VISUAL COMMUNICATION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Unit 2: Design Contexts and Connections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F1EAEC"/>
                </a:solidFill>
                <a:latin typeface="Calibri"/>
              </a:rPr>
              <a:t>VCE Visual Communication Design — Year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A2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BC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BC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AB813B"/>
                </a:solidFill>
                <a:latin typeface="Calibri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B5893E"/>
                </a:solidFill>
                <a:latin typeface="Cambria"/>
              </a:rPr>
              <a:t>Trends in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1 - Trends in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What is a Design Trend?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 design trend is a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general direction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in which design styles, materials or ideas are developing at a particular time.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Trends emerge across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all four design fields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— communication, environmental, industrial and interaction design — often at the same time, driven by shared cultural forces.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1" i="0">
                <a:solidFill>
                  <a:srgbClr val="672738"/>
                </a:solidFill>
                <a:latin typeface="Calibri"/>
              </a:rPr>
              <a:t>Trend vs Fad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— a trend develops over a longer period and reflects deeper shifts; a fad is short-lived and often stylistic only.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Why Study Trends?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Understand the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context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a design was created in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Predict future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audience expectations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Position your own folio work within current practice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Analyse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why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a design looks the way it does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Factors that Drive Trends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0" i="0">
                <a:solidFill>
                  <a:srgbClr val="2A1A1F"/>
                </a:solidFill>
                <a:latin typeface="Calibri"/>
              </a:rPr>
              <a:t>Trends don't appear from nowhere — they are shaped by broader forces acting on society. When analysing a trend, always link it back to one or more of these factors.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Social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changing lifestyles, values, demographics (e.g. remote work reshaping office design)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Cultural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shifting attitudes, identity, heritage, globalisation of style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Economic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cost of materials, market demand, recession vs growth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Technological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new tools, materials and manufacturing methods (3D printing, AI, AR/VR)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sustainability pressures, climate concern, resource scarcity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Sustainability &amp; Eco-Design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A shift toward materials, processes and forms that minimise environmental impact — driven largely by </a:t>
            </a:r>
            <a:r>
              <a:rPr sz="13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and </a:t>
            </a:r>
            <a:r>
              <a:rPr sz="1350" b="1" i="0">
                <a:solidFill>
                  <a:srgbClr val="672738"/>
                </a:solidFill>
                <a:latin typeface="Calibri"/>
              </a:rPr>
              <a:t>social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factors.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Across the 4 Fields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Communication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recycled paper stock, reduced ink use, digital-first campaigns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passive solar buildings, green roofs, reclaimed materials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Industrial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biodegradable packaging, modular/repairable products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Interaction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dark-mode UI to reduce energy use, low-carbon web design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Digital &amp; AI-Driven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The rise of AI tools, generative design and immersive technology — driven by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technological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factors and shifting audience expectations.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Across the 4 Fields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Communication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AI-generated imagery, motion graphics, personalised content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parametric/generative architectural forms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Industrial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generative product design optimised by software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Interaction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AR/VR interfaces, voice UI, adaptive apps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Analysis Tip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When discussing this trend in the exam, name the </a:t>
            </a:r>
            <a:r>
              <a:rPr sz="1400" b="1" i="0">
                <a:solidFill>
                  <a:srgbClr val="B87786"/>
                </a:solidFill>
                <a:latin typeface="Calibri"/>
              </a:rPr>
              <a:t>specific technology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(e.g. generative AI, parametric modelling) rather than saying "modern design" — vague language earns fewer marks.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Nostalgia &amp; Retro Revival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 return to visual styles from past decades — driven by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cultural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and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social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factors such as comfort-seeking during uncertain times.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Across the 4 Fields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Communication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90s/Y2K typography and colour palettes returning in branding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mid-century modern interiors revived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Industrial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retro-styled appliances and vehicles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Interaction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skeuomorphic UI elements referencing physical objects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Trend Cycles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Trends are often </a:t>
            </a:r>
            <a:r>
              <a:rPr sz="1400" b="1" i="0">
                <a:solidFill>
                  <a:srgbClr val="B87786"/>
                </a:solidFill>
                <a:latin typeface="Calibri"/>
              </a:rPr>
              <a:t>cyclical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— styles from 20–30 years ago frequently resurface, reinterpreted with current technology and values.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Analysing a Trend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Trend → Factor(s) → Field Examples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1. Name the trend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2. Identify the driving factor(s)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3. Give evidence from at least two design fields</a:t>
            </a:r>
          </a:p>
          <a:p>
            <a:pPr>
              <a:spcAft>
                <a:spcPts val="900"/>
              </a:spcAft>
              <a:buNone/>
            </a:pPr>
            <a:r>
              <a:rPr sz="1250" b="1" i="1">
                <a:solidFill>
                  <a:srgbClr val="672738"/>
                </a:solidFill>
                <a:latin typeface="Calibri"/>
              </a:rPr>
              <a:t>Exam vocab:</a:t>
            </a:r>
            <a:r>
              <a:rPr sz="1250" b="0" i="1">
                <a:solidFill>
                  <a:srgbClr val="2A1A1F"/>
                </a:solidFill>
                <a:latin typeface="Calibri"/>
              </a:rPr>
              <a:t> emerging, established, resurgence, driven by, reflects, in response to, across fields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A1A1F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"This trend is driven primarily by [factor] because..."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"In communication design, this trend manifests as..."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"Compared to [past trend], this reflects a shift toward..."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"This trend is likely to continue/fade because..."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Trends in Design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Social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Lifestyle &amp; demographic shifts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B813B"/>
                </a:solidFill>
                <a:latin typeface="Calibri"/>
              </a:rPr>
              <a:t>Cultural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Values, identity, heritage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707E"/>
                </a:solidFill>
                <a:latin typeface="Calibri"/>
              </a:rPr>
              <a:t>Economic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Cost, demand, market conditions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Technological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New tools, materials, 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30167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B813B"/>
                </a:solidFill>
                <a:latin typeface="Calibri"/>
              </a:rPr>
              <a:t>Environmental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Sustainability, resource pressure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431535"/>
            <a:ext cx="10607040" cy="1106425"/>
          </a:xfrm>
          <a:prstGeom prst="roundRect">
            <a:avLst>
              <a:gd name="adj" fmla="val 10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6A24A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A1A1F"/>
                </a:solidFill>
                <a:latin typeface="Calibri"/>
              </a:rPr>
              <a:t> Reminder: always link a trend to </a:t>
            </a:r>
            <a:r>
              <a:rPr sz="1200" b="1" i="0">
                <a:solidFill>
                  <a:srgbClr val="B5893E"/>
                </a:solidFill>
                <a:latin typeface="Calibri"/>
              </a:rPr>
              <a:t>at least two design fields</a:t>
            </a:r>
            <a:r>
              <a:rPr sz="1200" b="0" i="0">
                <a:solidFill>
                  <a:srgbClr val="2A1A1F"/>
                </a:solidFill>
                <a:latin typeface="Calibri"/>
              </a:rPr>
              <a:t> and name the </a:t>
            </a:r>
            <a:r>
              <a:rPr sz="1200" b="1" i="0">
                <a:solidFill>
                  <a:srgbClr val="B5893E"/>
                </a:solidFill>
                <a:latin typeface="Calibri"/>
              </a:rPr>
              <a:t>driving factor</a:t>
            </a:r>
            <a:r>
              <a:rPr sz="1200" b="0" i="0">
                <a:solidFill>
                  <a:srgbClr val="2A1A1F"/>
                </a:solidFill>
                <a:latin typeface="Calibri"/>
              </a:rPr>
              <a:t> in exam responses.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E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6B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6B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612435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672738"/>
                </a:solidFill>
                <a:latin typeface="Cambria"/>
              </a:rPr>
              <a:t>Design &amp; Industry Connections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2 - Design and Industry Connections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Design Fields Overlap &amp; 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Real design projects rarely sit inside a single field. A single product often requires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multiple design fields working together.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Example: launching a café involves communication design (branding), environmental design (fit-out), industrial design (furniture) and interaction design (ordering app) — often coordinated by different specialists.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Why This Matters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Designers must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collaborate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across disciplines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Understand how their design fits a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bigger production system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Work within industry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standards, ethics and IP law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Collaboration in Industry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Designers rarely work in isolation. They collaborate with other professionals and tradespeople to bring a design from concept to reality.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Who Designers Collaborate With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Clients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provide the brief, approve directions, fund the project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Manufacturers / builders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turn designs into physical reality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Other designers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e.g. a graphic designer working with a UX designer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Marketing / printers / developers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deliver the design to its final audience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Why Collaboration Matters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No single designer has expertise in every stage — from materials science to code to construction. Good collaboration keeps the design's original intent intact as it moves through production.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Factors Shaping Industry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Sustainability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Materials, energy use, waste and end-of-life disposal are now standard client requirements.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B813B"/>
                </a:solidFill>
                <a:latin typeface="Calibri"/>
              </a:rPr>
              <a:t>Technology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New software, materials and manufacturing (3D printing, AI tools) change what's possible and expected.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707E"/>
                </a:solidFill>
                <a:latin typeface="Calibri"/>
              </a:rPr>
              <a:t>Ethics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Fair labour, honest advertising, accessibility and inclusive design are professional expectations.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© Intellectual Property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Copyright, trademarks and licensing protect original design work from unauthorised copying.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6A24A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A1A1F"/>
                </a:solidFill>
                <a:latin typeface="Calibri"/>
              </a:rPr>
              <a:t> These factors don't just affect big companies — they shape </a:t>
            </a:r>
            <a:r>
              <a:rPr sz="1200" b="1" i="0">
                <a:solidFill>
                  <a:srgbClr val="B5893E"/>
                </a:solidFill>
                <a:latin typeface="Calibri"/>
              </a:rPr>
              <a:t>every</a:t>
            </a:r>
            <a:r>
              <a:rPr sz="1200" b="0" i="0">
                <a:solidFill>
                  <a:srgbClr val="2A1A1F"/>
                </a:solidFill>
                <a:latin typeface="Calibri"/>
              </a:rPr>
              <a:t> design decision, from the materials in your VCD folio model to the fonts you're licensed to use.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Intellectual Property (IP)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Intellectual property law protects original creative and design work from being copied or used without permission.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Types Relevant to Designers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Copyright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automatically protects original creative works (images, layouts, text)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Trademark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protects brand names, logos and slogans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Design registration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protects the visual appearance of a manufactured product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Patent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protects a new invention or functional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Why It Matters to You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In your own folio, always use your own photography/imagery or correctly licensed stock and fonts — using copyrighted material without permission is a real industry issue, not just a school rule.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Answering Industry Connection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Connection → Roles → Factor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1. Identify which design fields/roles are connected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2. Explain how they collaborate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3. Link to a factor (sustainability, technology, ethics, IP)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A1A1F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"This project connects [field A] and [field B] because..."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"The designer collaborated with [role] to..."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"This decision reflects growing industry concern for [factor]..."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"Without protection of [IP type], this design could be..."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Design &amp; Industry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Overlap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Design fields rarely work alone on real projects.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B813B"/>
                </a:solidFill>
                <a:latin typeface="Calibri"/>
              </a:rPr>
              <a:t>Collaboration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Clients, manufacturers, other designers, developers.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707E"/>
                </a:solidFill>
                <a:latin typeface="Calibri"/>
              </a:rPr>
              <a:t>Industry Factors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Sustainability, technology, ethics, 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IP Types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Copyright, trademark, design registration, patent.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6A24A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A1A1F"/>
                </a:solidFill>
                <a:latin typeface="Calibri"/>
              </a:rPr>
              <a:t> Reminder: always name the </a:t>
            </a:r>
            <a:r>
              <a:rPr sz="1200" b="1" i="0">
                <a:solidFill>
                  <a:srgbClr val="B5893E"/>
                </a:solidFill>
                <a:latin typeface="Calibri"/>
              </a:rPr>
              <a:t>specific roles or IP type</a:t>
            </a:r>
            <a:r>
              <a:rPr sz="1200" b="0" i="0">
                <a:solidFill>
                  <a:srgbClr val="2A1A1F"/>
                </a:solidFill>
                <a:latin typeface="Calibri"/>
              </a:rPr>
              <a:t> involved — general statements about "teamwork" earn few marks.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E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4114800"/>
            <a:ext cx="3108960" cy="3108960"/>
          </a:xfrm>
          <a:prstGeom prst="ellipse">
            <a:avLst/>
          </a:prstGeom>
          <a:solidFill>
            <a:srgbClr val="6B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1188720"/>
            <a:ext cx="2743200" cy="27432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920240" y="2286000"/>
            <a:ext cx="8321040" cy="23774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3000">
                <a:solidFill>
                  <a:srgbClr val="7A2E43"/>
                </a:solidFill>
                <a:latin typeface="Cambria"/>
              </a:rPr>
              <a:t>End of Unit 2</a:t>
            </a:r>
          </a:p>
          <a:p>
            <a:pPr algn="ctr"/>
            <a:r>
              <a:rPr sz="1400">
                <a:solidFill>
                  <a:srgbClr val="595959"/>
                </a:solidFill>
              </a:rPr>
              <a:t>Review the matching workbook to consolidate what you have learnt.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