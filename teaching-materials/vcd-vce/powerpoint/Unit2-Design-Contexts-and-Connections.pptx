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420000">
            <a:off x="-1188720" y="-1005840"/>
            <a:ext cx="7863840" cy="6766560"/>
          </a:xfrm>
          <a:prstGeom prst="roundRect">
            <a:avLst>
              <a:gd name="adj" fmla="val 32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640080"/>
            <a:ext cx="2194560" cy="2194560"/>
          </a:xfrm>
          <a:prstGeom prst="ellipse">
            <a:avLst/>
          </a:prstGeom>
          <a:solidFill>
            <a:srgbClr val="D6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623560"/>
            <a:ext cx="1371600" cy="1371600"/>
          </a:xfrm>
          <a:prstGeom prst="ellipse">
            <a:avLst/>
          </a:prstGeom>
          <a:solidFill>
            <a:srgbClr val="D9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3566160"/>
            <a:ext cx="3291840" cy="3108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0" b="1" i="0">
                <a:solidFill>
                  <a:srgbClr val="E7D9DD"/>
                </a:solidFill>
                <a:latin typeface="Cambria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6400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50" b="1">
                <a:solidFill>
                  <a:srgbClr val="7A2E43"/>
                </a:solidFill>
                <a:latin typeface="Calibri"/>
              </a:rPr>
              <a:t>VCE VISUAL COMMUNICATION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669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Unit 2: Design Contexts and Connections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1EAEC"/>
                </a:solidFill>
                <a:latin typeface="Calibri"/>
              </a:rPr>
              <a:t>VCE Visual Communication Design — Year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A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BC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377440" cy="2377440"/>
          </a:xfrm>
          <a:prstGeom prst="ellipse">
            <a:avLst/>
          </a:prstGeom>
          <a:solidFill>
            <a:srgbClr val="BC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400" b="1">
                <a:solidFill>
                  <a:srgbClr val="AB813B"/>
                </a:solidFill>
                <a:latin typeface="Calibri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2834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B5893E"/>
                </a:solidFill>
                <a:latin typeface="Cambria"/>
              </a:rPr>
              <a:t>Trends in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AOS 1 - Trends in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TRENDS IN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What is a Design Trend?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A design trend is a </a:t>
            </a:r>
            <a:r>
              <a:rPr sz="1400" b="1" i="0">
                <a:solidFill>
                  <a:srgbClr val="672738"/>
                </a:solidFill>
                <a:latin typeface="Calibri"/>
              </a:rPr>
              <a:t>general direction</a:t>
            </a:r>
            <a:r>
              <a:rPr sz="1400" b="0" i="0">
                <a:solidFill>
                  <a:srgbClr val="2A1A1F"/>
                </a:solidFill>
                <a:latin typeface="Calibri"/>
              </a:rPr>
              <a:t> in which design styles, materials or ideas are developing at a particular time.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Trends emerge across </a:t>
            </a:r>
            <a:r>
              <a:rPr sz="1400" b="1" i="0">
                <a:solidFill>
                  <a:srgbClr val="672738"/>
                </a:solidFill>
                <a:latin typeface="Calibri"/>
              </a:rPr>
              <a:t>all four design fields</a:t>
            </a:r>
            <a:r>
              <a:rPr sz="1400" b="0" i="0">
                <a:solidFill>
                  <a:srgbClr val="2A1A1F"/>
                </a:solidFill>
                <a:latin typeface="Calibri"/>
              </a:rPr>
              <a:t> — communication, environmental, industrial and interaction design — often at the same time, driven by shared cultural forces.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400" b="1" i="0">
                <a:solidFill>
                  <a:srgbClr val="672738"/>
                </a:solidFill>
                <a:latin typeface="Calibri"/>
              </a:rPr>
              <a:t>Trend vs Fad</a:t>
            </a:r>
            <a:r>
              <a:rPr sz="1400" b="0" i="0">
                <a:solidFill>
                  <a:srgbClr val="2A1A1F"/>
                </a:solidFill>
                <a:latin typeface="Calibri"/>
              </a:rPr>
              <a:t> — a trend develops over a longer period and reflects deeper shifts; a fad is short-lived and often stylistic only.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F4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Why Study Trends?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Understand the </a:t>
            </a:r>
            <a:r>
              <a:rPr sz="1250" b="1" i="0">
                <a:solidFill>
                  <a:srgbClr val="B87786"/>
                </a:solidFill>
                <a:latin typeface="Calibri"/>
              </a:rPr>
              <a:t>context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a design was created in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Predict future </a:t>
            </a:r>
            <a:r>
              <a:rPr sz="1250" b="1" i="0">
                <a:solidFill>
                  <a:srgbClr val="B87786"/>
                </a:solidFill>
                <a:latin typeface="Calibri"/>
              </a:rPr>
              <a:t>audience expectations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Position your own folio work within current practice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Analyse </a:t>
            </a:r>
            <a:r>
              <a:rPr sz="1250" b="1" i="0">
                <a:solidFill>
                  <a:srgbClr val="B87786"/>
                </a:solidFill>
                <a:latin typeface="Calibri"/>
              </a:rPr>
              <a:t>why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a design looks the way it does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6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TRENDS IN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Factors that Drive Trends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F1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0" i="0">
                <a:solidFill>
                  <a:srgbClr val="2A1A1F"/>
                </a:solidFill>
                <a:latin typeface="Calibri"/>
              </a:rPr>
              <a:t>Trends don't appear from nowhere — they are shaped by broader forces acting on society. When analysing a trend, always link it back to one or more of these factors.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1" i="0">
                <a:solidFill>
                  <a:srgbClr val="672738"/>
                </a:solidFill>
                <a:latin typeface="Calibri"/>
              </a:rPr>
              <a:t>Social</a:t>
            </a:r>
            <a:r>
              <a:rPr sz="1350" b="0" i="0">
                <a:solidFill>
                  <a:srgbClr val="2A1A1F"/>
                </a:solidFill>
                <a:latin typeface="Calibri"/>
              </a:rPr>
              <a:t> — changing lifestyles, values, demographics (e.g. remote work reshaping office design)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1" i="0">
                <a:solidFill>
                  <a:srgbClr val="672738"/>
                </a:solidFill>
                <a:latin typeface="Calibri"/>
              </a:rPr>
              <a:t>Cultural</a:t>
            </a:r>
            <a:r>
              <a:rPr sz="1350" b="0" i="0">
                <a:solidFill>
                  <a:srgbClr val="2A1A1F"/>
                </a:solidFill>
                <a:latin typeface="Calibri"/>
              </a:rPr>
              <a:t> — shifting attitudes, identity, heritage, globalisation of style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1" i="0">
                <a:solidFill>
                  <a:srgbClr val="672738"/>
                </a:solidFill>
                <a:latin typeface="Calibri"/>
              </a:rPr>
              <a:t>Economic</a:t>
            </a:r>
            <a:r>
              <a:rPr sz="1350" b="0" i="0">
                <a:solidFill>
                  <a:srgbClr val="2A1A1F"/>
                </a:solidFill>
                <a:latin typeface="Calibri"/>
              </a:rPr>
              <a:t> — cost of materials, market demand, recession vs growth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1" i="0">
                <a:solidFill>
                  <a:srgbClr val="672738"/>
                </a:solidFill>
                <a:latin typeface="Calibri"/>
              </a:rPr>
              <a:t>Technological</a:t>
            </a:r>
            <a:r>
              <a:rPr sz="1350" b="0" i="0">
                <a:solidFill>
                  <a:srgbClr val="2A1A1F"/>
                </a:solidFill>
                <a:latin typeface="Calibri"/>
              </a:rPr>
              <a:t> — new tools, materials and manufacturing methods (3D printing, AI, AR/VR)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1" i="0">
                <a:solidFill>
                  <a:srgbClr val="672738"/>
                </a:solidFill>
                <a:latin typeface="Calibri"/>
              </a:rPr>
              <a:t>Environmental</a:t>
            </a:r>
            <a:r>
              <a:rPr sz="1350" b="0" i="0">
                <a:solidFill>
                  <a:srgbClr val="2A1A1F"/>
                </a:solidFill>
                <a:latin typeface="Calibri"/>
              </a:rPr>
              <a:t> — sustainability pressures, climate concern, resource scarcity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DC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TRENDS IN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Sustainability &amp; Eco-Design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F1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A shift toward materials, processes and forms that minimise environmental impact — driven largely by </a:t>
            </a:r>
            <a:r>
              <a:rPr sz="1350" b="1" i="0">
                <a:solidFill>
                  <a:srgbClr val="672738"/>
                </a:solidFill>
                <a:latin typeface="Calibri"/>
              </a:rPr>
              <a:t>environmental</a:t>
            </a:r>
            <a:r>
              <a:rPr sz="1350" b="0" i="0">
                <a:solidFill>
                  <a:srgbClr val="2A1A1F"/>
                </a:solidFill>
                <a:latin typeface="Calibri"/>
              </a:rPr>
              <a:t> and </a:t>
            </a:r>
            <a:r>
              <a:rPr sz="1350" b="1" i="0">
                <a:solidFill>
                  <a:srgbClr val="672738"/>
                </a:solidFill>
                <a:latin typeface="Calibri"/>
              </a:rPr>
              <a:t>social</a:t>
            </a:r>
            <a:r>
              <a:rPr sz="1350" b="0" i="0">
                <a:solidFill>
                  <a:srgbClr val="2A1A1F"/>
                </a:solidFill>
                <a:latin typeface="Calibri"/>
              </a:rPr>
              <a:t> factors.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Across the 4 Fields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1" i="0">
                <a:solidFill>
                  <a:srgbClr val="672738"/>
                </a:solidFill>
                <a:latin typeface="Calibri"/>
              </a:rPr>
              <a:t>Communication</a:t>
            </a:r>
            <a:r>
              <a:rPr sz="1350" b="0" i="0">
                <a:solidFill>
                  <a:srgbClr val="2A1A1F"/>
                </a:solidFill>
                <a:latin typeface="Calibri"/>
              </a:rPr>
              <a:t> — recycled paper stock, reduced ink use, digital-first campaigns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1" i="0">
                <a:solidFill>
                  <a:srgbClr val="672738"/>
                </a:solidFill>
                <a:latin typeface="Calibri"/>
              </a:rPr>
              <a:t>Environmental</a:t>
            </a:r>
            <a:r>
              <a:rPr sz="1350" b="0" i="0">
                <a:solidFill>
                  <a:srgbClr val="2A1A1F"/>
                </a:solidFill>
                <a:latin typeface="Calibri"/>
              </a:rPr>
              <a:t> — passive solar buildings, green roofs, reclaimed materials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1" i="0">
                <a:solidFill>
                  <a:srgbClr val="672738"/>
                </a:solidFill>
                <a:latin typeface="Calibri"/>
              </a:rPr>
              <a:t>Industrial</a:t>
            </a:r>
            <a:r>
              <a:rPr sz="1350" b="0" i="0">
                <a:solidFill>
                  <a:srgbClr val="2A1A1F"/>
                </a:solidFill>
                <a:latin typeface="Calibri"/>
              </a:rPr>
              <a:t> — biodegradable packaging, modular/repairable products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1" i="0">
                <a:solidFill>
                  <a:srgbClr val="672738"/>
                </a:solidFill>
                <a:latin typeface="Calibri"/>
              </a:rPr>
              <a:t>Interaction</a:t>
            </a:r>
            <a:r>
              <a:rPr sz="1350" b="0" i="0">
                <a:solidFill>
                  <a:srgbClr val="2A1A1F"/>
                </a:solidFill>
                <a:latin typeface="Calibri"/>
              </a:rPr>
              <a:t> — dark-mode UI to reduce energy use, low-carbon web design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DC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TRENDS IN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Digital &amp; AI-Driven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The rise of AI tools, generative design and immersive technology — driven by </a:t>
            </a:r>
            <a:r>
              <a:rPr sz="1400" b="1" i="0">
                <a:solidFill>
                  <a:srgbClr val="672738"/>
                </a:solidFill>
                <a:latin typeface="Calibri"/>
              </a:rPr>
              <a:t>technological</a:t>
            </a:r>
            <a:r>
              <a:rPr sz="1400" b="0" i="0">
                <a:solidFill>
                  <a:srgbClr val="2A1A1F"/>
                </a:solidFill>
                <a:latin typeface="Calibri"/>
              </a:rPr>
              <a:t> factors and shifting audience expectations.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Across the 4 Fields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Communication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AI-generated imagery, motion graphics, personalised content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Environmental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parametric/generative architectural forms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Industrial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generative product design optimised by software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Interaction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AR/VR interfaces, voice UI, adaptive apps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F4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Analysis Tip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When discussing this trend in the exam, name the </a:t>
            </a:r>
            <a:r>
              <a:rPr sz="1400" b="1" i="0">
                <a:solidFill>
                  <a:srgbClr val="B87786"/>
                </a:solidFill>
                <a:latin typeface="Calibri"/>
              </a:rPr>
              <a:t>specific technology</a:t>
            </a:r>
            <a:r>
              <a:rPr sz="1400" b="0" i="0">
                <a:solidFill>
                  <a:srgbClr val="2A1A1F"/>
                </a:solidFill>
                <a:latin typeface="Calibri"/>
              </a:rPr>
              <a:t> (e.g. generative AI, parametric modelling) rather than saying "modern design" — vague language earns fewer marks.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6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TRENDS IN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Nostalgia &amp; Retro Revival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A return to visual styles from past decades — driven by </a:t>
            </a:r>
            <a:r>
              <a:rPr sz="1400" b="1" i="0">
                <a:solidFill>
                  <a:srgbClr val="672738"/>
                </a:solidFill>
                <a:latin typeface="Calibri"/>
              </a:rPr>
              <a:t>cultural</a:t>
            </a:r>
            <a:r>
              <a:rPr sz="1400" b="0" i="0">
                <a:solidFill>
                  <a:srgbClr val="2A1A1F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672738"/>
                </a:solidFill>
                <a:latin typeface="Calibri"/>
              </a:rPr>
              <a:t>social</a:t>
            </a:r>
            <a:r>
              <a:rPr sz="1400" b="0" i="0">
                <a:solidFill>
                  <a:srgbClr val="2A1A1F"/>
                </a:solidFill>
                <a:latin typeface="Calibri"/>
              </a:rPr>
              <a:t> factors such as comfort-seeking during uncertain times.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Across the 4 Fields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Communication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90s/Y2K typography and colour palettes returning in branding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Environmental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mid-century modern interiors revived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Industrial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retro-styled appliances and vehicles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Interaction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skeuomorphic UI elements referencing physical objects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F4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Trend Cycles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Trends are often </a:t>
            </a:r>
            <a:r>
              <a:rPr sz="1400" b="1" i="0">
                <a:solidFill>
                  <a:srgbClr val="B87786"/>
                </a:solidFill>
                <a:latin typeface="Calibri"/>
              </a:rPr>
              <a:t>cyclical</a:t>
            </a:r>
            <a:r>
              <a:rPr sz="1400" b="0" i="0">
                <a:solidFill>
                  <a:srgbClr val="2A1A1F"/>
                </a:solidFill>
                <a:latin typeface="Calibri"/>
              </a:rPr>
              <a:t> — styles from 20–30 years ago frequently resurface, reinterpreted with current technology and values.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6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TRENDS IN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Analysing a Trend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Trend → Factor(s) → Field Examples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1. Name the trend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2. Identify the driving factor(s)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3. Give evidence from at least two design fields</a:t>
            </a:r>
          </a:p>
          <a:p>
            <a:pPr>
              <a:spcAft>
                <a:spcPts val="900"/>
              </a:spcAft>
              <a:buNone/>
            </a:pPr>
            <a:r>
              <a:rPr sz="1250" b="1" i="1">
                <a:solidFill>
                  <a:srgbClr val="672738"/>
                </a:solidFill>
                <a:latin typeface="Calibri"/>
              </a:rPr>
              <a:t>Exam vocab:</a:t>
            </a:r>
            <a:r>
              <a:rPr sz="1250" b="0" i="1">
                <a:solidFill>
                  <a:srgbClr val="2A1A1F"/>
                </a:solidFill>
                <a:latin typeface="Calibri"/>
              </a:rPr>
              <a:t> emerging, established, resurgence, driven by, reflects, in response to, across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F4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>
              <a:spcAft>
                <a:spcPts val="900"/>
              </a:spcAft>
              <a:buNone/>
            </a:pPr>
            <a:r>
              <a:rPr sz="1250" b="0" i="1">
                <a:solidFill>
                  <a:srgbClr val="2A1A1F"/>
                </a:solidFill>
                <a:latin typeface="Calibri"/>
              </a:rPr>
              <a:t>Sentence Starters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"This trend is driven primarily by [factor] because..."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"In communication design, this trend manifests as..."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"Compared to [past trend], this reflects a shift toward..."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"This trend is likely to continue/fade because..."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6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TRENDS IN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Trends in Design — 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EBD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612435"/>
                </a:solidFill>
                <a:latin typeface="Calibri"/>
              </a:rPr>
              <a:t>Social</a:t>
            </a:r>
          </a:p>
          <a:p>
            <a:r>
              <a:rPr sz="1050">
                <a:solidFill>
                  <a:srgbClr val="2A1A1F"/>
                </a:solidFill>
                <a:latin typeface="Calibri"/>
              </a:rPr>
              <a:t>Lifestyle &amp; demographic shifts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7852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8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B813B"/>
                </a:solidFill>
                <a:latin typeface="Calibri"/>
              </a:rPr>
              <a:t>Cultural</a:t>
            </a:r>
          </a:p>
          <a:p>
            <a:r>
              <a:rPr sz="1050">
                <a:solidFill>
                  <a:srgbClr val="2A1A1F"/>
                </a:solidFill>
                <a:latin typeface="Calibri"/>
              </a:rPr>
              <a:t>Values, identity, heritage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9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D707E"/>
                </a:solidFill>
                <a:latin typeface="Calibri"/>
              </a:rPr>
              <a:t>Economic</a:t>
            </a:r>
          </a:p>
          <a:p>
            <a:r>
              <a:rPr sz="1050">
                <a:solidFill>
                  <a:srgbClr val="2A1A1F"/>
                </a:solidFill>
                <a:latin typeface="Calibri"/>
              </a:rPr>
              <a:t>Cost, demand, market 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91956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EBD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612435"/>
                </a:solidFill>
                <a:latin typeface="Calibri"/>
              </a:rPr>
              <a:t>Technological</a:t>
            </a:r>
          </a:p>
          <a:p>
            <a:r>
              <a:rPr sz="1050">
                <a:solidFill>
                  <a:srgbClr val="2A1A1F"/>
                </a:solidFill>
                <a:latin typeface="Calibri"/>
              </a:rPr>
              <a:t>New tools, materials, 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30167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8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B813B"/>
                </a:solidFill>
                <a:latin typeface="Calibri"/>
              </a:rPr>
              <a:t>Environmental</a:t>
            </a:r>
          </a:p>
          <a:p>
            <a:r>
              <a:rPr sz="1050">
                <a:solidFill>
                  <a:srgbClr val="2A1A1F"/>
                </a:solidFill>
                <a:latin typeface="Calibri"/>
              </a:rPr>
              <a:t>Sustainability, resource pressure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431535"/>
            <a:ext cx="10607040" cy="1106425"/>
          </a:xfrm>
          <a:prstGeom prst="roundRect">
            <a:avLst>
              <a:gd name="adj" fmla="val 10000"/>
            </a:avLst>
          </a:prstGeom>
          <a:solidFill>
            <a:srgbClr val="F8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01600" bIns="101600" wrap="square"/>
          <a:lstStyle/>
          <a:p>
            <a:pPr algn="ctr" indent="-203200" marL="203200">
              <a:spcAft>
                <a:spcPts val="900"/>
              </a:spcAft>
              <a:buClr>
                <a:srgbClr val="D6A24A"/>
              </a:buClr>
              <a:buSzPct val="90000"/>
              <a:buFont typeface="Arial"/>
              <a:buChar char="●"/>
            </a:pPr>
            <a:r>
              <a:rPr sz="1200" b="0" i="0">
                <a:solidFill>
                  <a:srgbClr val="2A1A1F"/>
                </a:solidFill>
                <a:latin typeface="Calibri"/>
              </a:rPr>
              <a:t> Reminder: always link a trend to </a:t>
            </a:r>
            <a:r>
              <a:rPr sz="1200" b="1" i="0">
                <a:solidFill>
                  <a:srgbClr val="B5893E"/>
                </a:solidFill>
                <a:latin typeface="Calibri"/>
              </a:rPr>
              <a:t>at least two design fields</a:t>
            </a:r>
            <a:r>
              <a:rPr sz="1200" b="0" i="0">
                <a:solidFill>
                  <a:srgbClr val="2A1A1F"/>
                </a:solidFill>
                <a:latin typeface="Calibri"/>
              </a:rPr>
              <a:t> and name the </a:t>
            </a:r>
            <a:r>
              <a:rPr sz="1200" b="1" i="0">
                <a:solidFill>
                  <a:srgbClr val="B5893E"/>
                </a:solidFill>
                <a:latin typeface="Calibri"/>
              </a:rPr>
              <a:t>driving factor</a:t>
            </a:r>
            <a:r>
              <a:rPr sz="1200" b="0" i="0">
                <a:solidFill>
                  <a:srgbClr val="2A1A1F"/>
                </a:solidFill>
                <a:latin typeface="Calibri"/>
              </a:rPr>
              <a:t> in exam responses.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8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103120" cy="2103120"/>
          </a:xfrm>
          <a:prstGeom prst="ellipse">
            <a:avLst/>
          </a:prstGeom>
          <a:solidFill>
            <a:srgbClr val="BE7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852160"/>
            <a:ext cx="1737360" cy="1737360"/>
          </a:xfrm>
          <a:prstGeom prst="ellipse">
            <a:avLst/>
          </a:prstGeom>
          <a:solidFill>
            <a:srgbClr val="BE7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1033271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8D5B66"/>
                </a:solidFill>
                <a:latin typeface="Calibri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Trend or Fad?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A26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2148840"/>
            <a:ext cx="1563624" cy="411480"/>
          </a:xfrm>
          <a:prstGeom prst="roundRect">
            <a:avLst>
              <a:gd name="adj" fmla="val 50000"/>
            </a:avLst>
          </a:prstGeom>
          <a:solidFill>
            <a:srgbClr val="A26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WHOLE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106070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203200" bIns="203200" wrap="square"/>
          <a:lstStyle/>
          <a:p>
            <a:pPr algn="ctr"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Teacher shows 5 example scenarios (a product, style or campaign).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Students vote "trend" or "fad" for each by show of hands.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Discuss the reasoning behind each vote before revealing the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179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Calibri"/>
              </a:rPr>
              <a:t>Debrief: What made the fads different from the genuine trends?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8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103120" cy="2103120"/>
          </a:xfrm>
          <a:prstGeom prst="ellipse">
            <a:avLst/>
          </a:prstGeom>
          <a:solidFill>
            <a:srgbClr val="BE7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852160"/>
            <a:ext cx="1737360" cy="1737360"/>
          </a:xfrm>
          <a:prstGeom prst="ellipse">
            <a:avLst/>
          </a:prstGeom>
          <a:solidFill>
            <a:srgbClr val="BE7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1696212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8D5B66"/>
                </a:solidFill>
                <a:latin typeface="Calibri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Spot the Trend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A26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8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2148840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A26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106070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203200" bIns="203200" wrap="square"/>
          <a:lstStyle/>
          <a:p>
            <a:pPr algn="ctr"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Given a magazine, ad or product image, identify one visible design trend.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Name the factor (social, cultural, economic, technological, environmental) driving it.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Be ready to justify your answer with specific visual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179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Calibri"/>
              </a:rPr>
              <a:t>Debrief: Share your trend and factor with another pair — do they agree?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E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6B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377440" cy="2377440"/>
          </a:xfrm>
          <a:prstGeom prst="ellipse">
            <a:avLst/>
          </a:prstGeom>
          <a:solidFill>
            <a:srgbClr val="6B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400" b="1">
                <a:solidFill>
                  <a:srgbClr val="612435"/>
                </a:solidFill>
                <a:latin typeface="Calibr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2834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672738"/>
                </a:solidFill>
                <a:latin typeface="Cambria"/>
              </a:rPr>
              <a:t>Design &amp; Industry Connections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AOS 2 - Design and Industry Connections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DESIGN &amp; INDUSTRY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Design Fields Overlap &amp; Connect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Real design projects rarely sit inside a single field. A single product often requires </a:t>
            </a:r>
            <a:r>
              <a:rPr sz="1400" b="1" i="0">
                <a:solidFill>
                  <a:srgbClr val="672738"/>
                </a:solidFill>
                <a:latin typeface="Calibri"/>
              </a:rPr>
              <a:t>multiple design fields working together.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Example: launching a café involves communication design (branding), environmental design (fit-out), industrial design (furniture) and interaction design (ordering app) — often coordinated by different specialists.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F4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Why This Matters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Designers must </a:t>
            </a:r>
            <a:r>
              <a:rPr sz="1250" b="1" i="0">
                <a:solidFill>
                  <a:srgbClr val="B87786"/>
                </a:solidFill>
                <a:latin typeface="Calibri"/>
              </a:rPr>
              <a:t>collaborate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across disciplines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Understand how their design fits a </a:t>
            </a:r>
            <a:r>
              <a:rPr sz="1250" b="1" i="0">
                <a:solidFill>
                  <a:srgbClr val="B87786"/>
                </a:solidFill>
                <a:latin typeface="Calibri"/>
              </a:rPr>
              <a:t>bigger production system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Work within industry </a:t>
            </a:r>
            <a:r>
              <a:rPr sz="1250" b="1" i="0">
                <a:solidFill>
                  <a:srgbClr val="B87786"/>
                </a:solidFill>
                <a:latin typeface="Calibri"/>
              </a:rPr>
              <a:t>standards, ethics and IP law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6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DESIGN &amp; INDUSTRY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Collaboration in Industry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Designers rarely work in isolation. They collaborate with other professionals and tradespeople to bring a design from concept to reality.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Who Designers Collaborate With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Clients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provide the brief, approve directions, fund the project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Manufacturers / builders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turn designs into physical reality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Other designers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e.g. a graphic designer working with a UX designer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Marketing / printers / developers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deliver the design to its final audience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F4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Why Collaboration Matters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No single designer has expertise in every stage — from materials science to code to construction. Good collaboration keeps the design's original intent intact as it moves through production.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6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DESIGN &amp; INDUSTRY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Factors Shaping Industry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EBD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612435"/>
                </a:solidFill>
                <a:latin typeface="Calibri"/>
              </a:rPr>
              <a:t>Sustainability</a:t>
            </a:r>
          </a:p>
          <a:p>
            <a:r>
              <a:rPr sz="1050">
                <a:solidFill>
                  <a:srgbClr val="2A1A1F"/>
                </a:solidFill>
                <a:latin typeface="Calibri"/>
              </a:rPr>
              <a:t>Materials, energy use, waste and end-of-life disposal are now standard client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7852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8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B813B"/>
                </a:solidFill>
                <a:latin typeface="Calibri"/>
              </a:rPr>
              <a:t>Technology</a:t>
            </a:r>
          </a:p>
          <a:p>
            <a:r>
              <a:rPr sz="1050">
                <a:solidFill>
                  <a:srgbClr val="2A1A1F"/>
                </a:solidFill>
                <a:latin typeface="Calibri"/>
              </a:rPr>
              <a:t>New software, materials and manufacturing (3D printing, AI tools) change what's possible and expected.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9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D707E"/>
                </a:solidFill>
                <a:latin typeface="Calibri"/>
              </a:rPr>
              <a:t>Ethics</a:t>
            </a:r>
          </a:p>
          <a:p>
            <a:r>
              <a:rPr sz="1050">
                <a:solidFill>
                  <a:srgbClr val="2A1A1F"/>
                </a:solidFill>
                <a:latin typeface="Calibri"/>
              </a:rPr>
              <a:t>Fair labour, honest advertising, accessibility and inclusive design are professional expectations.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91956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EBD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612435"/>
                </a:solidFill>
                <a:latin typeface="Calibri"/>
              </a:rPr>
              <a:t>© Intellectual Property</a:t>
            </a:r>
          </a:p>
          <a:p>
            <a:r>
              <a:rPr sz="1050">
                <a:solidFill>
                  <a:srgbClr val="2A1A1F"/>
                </a:solidFill>
                <a:latin typeface="Calibri"/>
              </a:rPr>
              <a:t>Copyright, trademarks and licensing protect original design work from unauthorised copying.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75887"/>
            <a:ext cx="10607040" cy="2862073"/>
          </a:xfrm>
          <a:prstGeom prst="roundRect">
            <a:avLst>
              <a:gd name="adj" fmla="val 10000"/>
            </a:avLst>
          </a:prstGeom>
          <a:solidFill>
            <a:srgbClr val="F8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01600" bIns="101600" wrap="square"/>
          <a:lstStyle/>
          <a:p>
            <a:pPr algn="ctr" indent="-203200" marL="203200">
              <a:spcAft>
                <a:spcPts val="900"/>
              </a:spcAft>
              <a:buClr>
                <a:srgbClr val="D6A24A"/>
              </a:buClr>
              <a:buSzPct val="90000"/>
              <a:buFont typeface="Arial"/>
              <a:buChar char="●"/>
            </a:pPr>
            <a:r>
              <a:rPr sz="1200" b="0" i="0">
                <a:solidFill>
                  <a:srgbClr val="2A1A1F"/>
                </a:solidFill>
                <a:latin typeface="Calibri"/>
              </a:rPr>
              <a:t> These factors don't just affect big companies — they shape </a:t>
            </a:r>
            <a:r>
              <a:rPr sz="1200" b="1" i="0">
                <a:solidFill>
                  <a:srgbClr val="B5893E"/>
                </a:solidFill>
                <a:latin typeface="Calibri"/>
              </a:rPr>
              <a:t>every</a:t>
            </a:r>
            <a:r>
              <a:rPr sz="1200" b="0" i="0">
                <a:solidFill>
                  <a:srgbClr val="2A1A1F"/>
                </a:solidFill>
                <a:latin typeface="Calibri"/>
              </a:rPr>
              <a:t> design decision, from the materials in your VCD folio model to the fonts you're licensed to use.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DESIGN &amp; INDUSTRY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Intellectual Property (IP)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Intellectual property law protects original creative and design work from being copied or used without permission.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Types Relevant to Designers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Copyright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automatically protects original creative works (images, layouts, text)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Trademark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protects brand names, logos and slogans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Design registration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protects the visual appearance of a manufactured product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72738"/>
                </a:solidFill>
                <a:latin typeface="Calibri"/>
              </a:rPr>
              <a:t>Patent</a:t>
            </a:r>
            <a:r>
              <a:rPr sz="1250" b="0" i="0">
                <a:solidFill>
                  <a:srgbClr val="2A1A1F"/>
                </a:solidFill>
                <a:latin typeface="Calibri"/>
              </a:rPr>
              <a:t> — protects a new invention or functional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F4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Why It Matters to You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A1A1F"/>
                </a:solidFill>
                <a:latin typeface="Calibri"/>
              </a:rPr>
              <a:t>In your own folio, always use your own photography/imagery or correctly licensed stock and fonts — using copyrighted material without permission is a real industry issue, not just a school rule.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6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DESIGN &amp; INDUSTRY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Answering Industry Connection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Connection → Roles → Factor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1. Identify which design fields/roles are connected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2. Explain how they collaborate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3. Link to a factor (sustainability, technology, ethics, IP)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F4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>
              <a:spcAft>
                <a:spcPts val="900"/>
              </a:spcAft>
              <a:buNone/>
            </a:pPr>
            <a:r>
              <a:rPr sz="1250" b="0" i="1">
                <a:solidFill>
                  <a:srgbClr val="2A1A1F"/>
                </a:solidFill>
                <a:latin typeface="Calibri"/>
              </a:rPr>
              <a:t>Sentence Starters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"This project connects [field A] and [field B] because..."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"The designer collaborated with [role] to..."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"This decision reflects growing industry concern for [factor]..."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A1A1F"/>
                </a:solidFill>
                <a:latin typeface="Calibri"/>
              </a:rPr>
              <a:t>"Without protection of [IP type], this design could be..."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6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DESIGN &amp; INDUSTRY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Design &amp; Industry — 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EBD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612435"/>
                </a:solidFill>
                <a:latin typeface="Calibri"/>
              </a:rPr>
              <a:t>Overlap</a:t>
            </a:r>
          </a:p>
          <a:p>
            <a:r>
              <a:rPr sz="1050">
                <a:solidFill>
                  <a:srgbClr val="2A1A1F"/>
                </a:solidFill>
                <a:latin typeface="Calibri"/>
              </a:rPr>
              <a:t>Design fields rarely work alone on real projects.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7852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8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B813B"/>
                </a:solidFill>
                <a:latin typeface="Calibri"/>
              </a:rPr>
              <a:t>Collaboration</a:t>
            </a:r>
          </a:p>
          <a:p>
            <a:r>
              <a:rPr sz="1050">
                <a:solidFill>
                  <a:srgbClr val="2A1A1F"/>
                </a:solidFill>
                <a:latin typeface="Calibri"/>
              </a:rPr>
              <a:t>Clients, manufacturers, other designers, developers.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9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D707E"/>
                </a:solidFill>
                <a:latin typeface="Calibri"/>
              </a:rPr>
              <a:t>Industry Factors</a:t>
            </a:r>
          </a:p>
          <a:p>
            <a:r>
              <a:rPr sz="1050">
                <a:solidFill>
                  <a:srgbClr val="2A1A1F"/>
                </a:solidFill>
                <a:latin typeface="Calibri"/>
              </a:rPr>
              <a:t>Sustainability, technology, ethics, 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91956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EBD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612435"/>
                </a:solidFill>
                <a:latin typeface="Calibri"/>
              </a:rPr>
              <a:t>IP Types</a:t>
            </a:r>
          </a:p>
          <a:p>
            <a:r>
              <a:rPr sz="1050">
                <a:solidFill>
                  <a:srgbClr val="2A1A1F"/>
                </a:solidFill>
                <a:latin typeface="Calibri"/>
              </a:rPr>
              <a:t>Copyright, trademark, design registration, patent.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75887"/>
            <a:ext cx="10607040" cy="2862073"/>
          </a:xfrm>
          <a:prstGeom prst="roundRect">
            <a:avLst>
              <a:gd name="adj" fmla="val 10000"/>
            </a:avLst>
          </a:prstGeom>
          <a:solidFill>
            <a:srgbClr val="F8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01600" bIns="101600" wrap="square"/>
          <a:lstStyle/>
          <a:p>
            <a:pPr algn="ctr" indent="-203200" marL="203200">
              <a:spcAft>
                <a:spcPts val="900"/>
              </a:spcAft>
              <a:buClr>
                <a:srgbClr val="D6A24A"/>
              </a:buClr>
              <a:buSzPct val="90000"/>
              <a:buFont typeface="Arial"/>
              <a:buChar char="●"/>
            </a:pPr>
            <a:r>
              <a:rPr sz="1200" b="0" i="0">
                <a:solidFill>
                  <a:srgbClr val="2A1A1F"/>
                </a:solidFill>
                <a:latin typeface="Calibri"/>
              </a:rPr>
              <a:t> Reminder: always name the </a:t>
            </a:r>
            <a:r>
              <a:rPr sz="1200" b="1" i="0">
                <a:solidFill>
                  <a:srgbClr val="B5893E"/>
                </a:solidFill>
                <a:latin typeface="Calibri"/>
              </a:rPr>
              <a:t>specific roles or IP type</a:t>
            </a:r>
            <a:r>
              <a:rPr sz="1200" b="0" i="0">
                <a:solidFill>
                  <a:srgbClr val="2A1A1F"/>
                </a:solidFill>
                <a:latin typeface="Calibri"/>
              </a:rPr>
              <a:t> involved — general statements about "teamwork" earn few marks.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8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103120" cy="2103120"/>
          </a:xfrm>
          <a:prstGeom prst="ellipse">
            <a:avLst/>
          </a:prstGeom>
          <a:solidFill>
            <a:srgbClr val="BE7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852160"/>
            <a:ext cx="1737360" cy="1737360"/>
          </a:xfrm>
          <a:prstGeom prst="ellipse">
            <a:avLst/>
          </a:prstGeom>
          <a:solidFill>
            <a:srgbClr val="BE7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1033271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8D5B66"/>
                </a:solidFill>
                <a:latin typeface="Calibri"/>
              </a:rPr>
              <a:t>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Who Does What?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A26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8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2148840"/>
            <a:ext cx="1664208" cy="411480"/>
          </a:xfrm>
          <a:prstGeom prst="roundRect">
            <a:avLst>
              <a:gd name="adj" fmla="val 50000"/>
            </a:avLst>
          </a:prstGeom>
          <a:solidFill>
            <a:srgbClr val="A26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SMALL GROUPS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106070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203200" bIns="203200" wrap="square"/>
          <a:lstStyle/>
          <a:p>
            <a:pPr algn="ctr"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Match role cards (client, manufacturer, other designer, marketing/developer) to task-description cards.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First group to correctly match all four wins.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179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Calibri"/>
              </a:rPr>
              <a:t>Debrief: Which role did you find hardest to place, and why?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8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103120" cy="2103120"/>
          </a:xfrm>
          <a:prstGeom prst="ellipse">
            <a:avLst/>
          </a:prstGeom>
          <a:solidFill>
            <a:srgbClr val="BE7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852160"/>
            <a:ext cx="1737360" cy="1737360"/>
          </a:xfrm>
          <a:prstGeom prst="ellipse">
            <a:avLst/>
          </a:prstGeom>
          <a:solidFill>
            <a:srgbClr val="BE7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1033271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8D5B66"/>
                </a:solidFill>
                <a:latin typeface="Calibri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IP or Not?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A26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2148840"/>
            <a:ext cx="1563624" cy="411480"/>
          </a:xfrm>
          <a:prstGeom prst="roundRect">
            <a:avLst>
              <a:gd name="adj" fmla="val 50000"/>
            </a:avLst>
          </a:prstGeom>
          <a:solidFill>
            <a:srgbClr val="A26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WHOLE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106070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203200" bIns="203200" wrap="square"/>
          <a:lstStyle/>
          <a:p>
            <a:pPr algn="ctr"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"A logo can be protected by trademark."  (True)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"Copyright must be formally registered before it applies."  (False - automatic)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"A patent protects the visual appearance of a product."  (False - that's design registration)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"Design registration protects a new invention."  (False - that's a patent)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179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Calibri"/>
              </a:rPr>
              <a:t>Debrief: Correct the false statements as a class.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A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BC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377440" cy="2377440"/>
          </a:xfrm>
          <a:prstGeom prst="ellipse">
            <a:avLst/>
          </a:prstGeom>
          <a:solidFill>
            <a:srgbClr val="BC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400" b="1">
                <a:solidFill>
                  <a:srgbClr val="AB813B"/>
                </a:solidFill>
                <a:latin typeface="Calibri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2834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B5893E"/>
                </a:solidFill>
                <a:latin typeface="Cambria"/>
              </a:rPr>
              <a:t>Extended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Beyond the study design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More Design Movements and Trends in History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F1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672738"/>
                </a:solidFill>
                <a:latin typeface="Calibri"/>
              </a:rPr>
              <a:t>Movements not covered in Unit 1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Arts and Crafts (late 1800s) — reaction against industrialisation, craftsmanship, William Morris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Art Nouveau (1890s-1910s) — organic, flowing lines inspired by nature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Constructivism (1920s Russia) — geometric abstraction in service of social/political ideas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De Stijl (1917 onward) — primary colours, grids, Piet Mondrian and Theo van Doesburg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Memphis Group (1980s) — bold colour, clashing patterns, postmodern furniture and product design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Minimalism — reduction to essential form, 'less is more'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Brutalism — raw, unornamented forms in both architecture and web/graphic design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672738"/>
                </a:solidFill>
                <a:latin typeface="Calibri"/>
              </a:rPr>
              <a:t>Contemporary considerations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Y2K aesthetic revival, AI-generated imagery and the ethical questions it raises around authorship and originality, and the growing influence of motion/interactive design as screens become the primary medium for communication design.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DC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Sustainable and Circular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F1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672738"/>
                </a:solidFill>
                <a:latin typeface="Calibri"/>
              </a:rPr>
              <a:t>Key concepts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Cradle-to-cradle design — products designed so materials can be fully recycled or biodegraded at end of life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Biomimicry — solving design problems by learning from natural systems and forms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Design for disassembly — products engineered to be easily taken apart for repair or recycling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DC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Branding and Identity Theory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F1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672738"/>
                </a:solidFill>
                <a:latin typeface="Calibri"/>
              </a:rPr>
              <a:t>Core concepts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Brand architecture — how a company organises and relates multiple sub-brands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Tone of voice — the consistent personality expressed through language and visuals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Brand guidelines — documented rules for logo use, colour, type and imagery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672738"/>
                </a:solidFill>
                <a:latin typeface="Calibri"/>
              </a:rPr>
              <a:t>Worth researching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Case studies of how major brands have evolved their logos over decades (simplification for digital screens is a common contemporary driver) make strong exam and folio examples.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DC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UX/UI and Service Design Basics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F1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>
              <a:spcAft>
                <a:spcPts val="900"/>
              </a:spcAft>
              <a:buNone/>
            </a:pPr>
            <a:r>
              <a:rPr sz="1350" b="1" i="1">
                <a:solidFill>
                  <a:srgbClr val="672738"/>
                </a:solidFill>
                <a:latin typeface="Calibri"/>
              </a:rPr>
              <a:t>Key terms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User persona — a fictional profile representing a target user segment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User journey map — a visualisation of the steps a user takes to complete a task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Wireframe — a low-fidelity structural sketch of an interface, before visual design is applied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Service design — designing the end-to-end experience of a service, not just a single artefact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DC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Design Ethics and Responsibility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F1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672738"/>
                </a:solidFill>
                <a:latin typeface="Calibri"/>
              </a:rPr>
              <a:t>Issues to be aware of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Dark patterns — interface designs that deliberately trick users into unintended actions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Greenwashing — packaging/branding that overstates environmental credentials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Cultural appropriation vs appreciation — using cultural motifs respectfully and with context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Inclusive design — designing for the widest possible range of users, including disability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DC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Designer Case Studies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F1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672738"/>
                </a:solidFill>
                <a:latin typeface="Calibri"/>
              </a:rPr>
              <a:t>Figures worth knowing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Paula Scher — bold typographic identity work (Citibank, The Public Theater)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Massimo Vignelli — Swiss-influenced systems design (New York City subway map)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Dieter Rams — 10 principles of good design, Braun product design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Saul Bass — pioneering film title sequences and corporate logos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DC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8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103120" cy="2103120"/>
          </a:xfrm>
          <a:prstGeom prst="ellipse">
            <a:avLst/>
          </a:prstGeom>
          <a:solidFill>
            <a:srgbClr val="BE7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852160"/>
            <a:ext cx="1737360" cy="1737360"/>
          </a:xfrm>
          <a:prstGeom prst="ellipse">
            <a:avLst/>
          </a:prstGeom>
          <a:solidFill>
            <a:srgbClr val="BE7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1033271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8D5B66"/>
                </a:solidFill>
                <a:latin typeface="Calibri"/>
              </a:rPr>
              <a:t>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Design Thinking Frameworks Match-Up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A26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6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2148840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A26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106070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203200" bIns="203200" wrap="square"/>
          <a:lstStyle/>
          <a:p>
            <a:pPr algn="ctr"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Match each framework name (Double Diamond, IDEO model, Design Sprint) to its correct stages.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Then match each framework to which VCAA design process stage(s) it most closely overlaps with.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179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Calibri"/>
              </a:rPr>
              <a:t>Debrief: Which framework would you personally find most useful for your folio work?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E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6B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377440" cy="2377440"/>
          </a:xfrm>
          <a:prstGeom prst="ellipse">
            <a:avLst/>
          </a:prstGeom>
          <a:solidFill>
            <a:srgbClr val="6B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400" b="1">
                <a:solidFill>
                  <a:srgbClr val="612435"/>
                </a:solidFill>
                <a:latin typeface="Calibri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2834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672738"/>
                </a:solidFill>
                <a:latin typeface="Cambria"/>
              </a:rPr>
              <a:t>SAC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Draft — confirm against your school’s SAC schedule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SAC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Outcome 1 (AOS 1) — Trends in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F1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672738"/>
                </a:solidFill>
                <a:latin typeface="Calibri"/>
              </a:rPr>
              <a:t>Task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Select a current design trend. Analyse how it manifests across at least two design fields, identifying the factor(s) driving it. Respond as a structured written report or exam-style short-answer responses.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672738"/>
                </a:solidFill>
                <a:latin typeface="Calibri"/>
              </a:rPr>
              <a:t>Conditions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Completed in class over 1-2 periods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Notes permitted; no internet access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Individual, supervised work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672738"/>
                </a:solidFill>
                <a:latin typeface="Calibri"/>
              </a:rPr>
              <a:t>Assessment Criteria (/30)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Identification of trend and driving factor(s) — 5 marks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Analysis across 2+ design fields with specific evidence — 15 marks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Use of accurate vocabulary — 5 marks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Written expression — 5 marks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DC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SAC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A1A1F"/>
                </a:solidFill>
                <a:latin typeface="Cambria"/>
              </a:rPr>
              <a:t>Outcome 2 (AOS 2) — Design and Industry Connections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F1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672738"/>
                </a:solidFill>
                <a:latin typeface="Calibri"/>
              </a:rPr>
              <a:t>Task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Respond to a brief requiring industry awareness: produce a visual communication in one design field, while documenting at least one industry connection (a collaboration role, an intellectual property consideration, or an industry factor) relevant to the project.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672738"/>
                </a:solidFill>
                <a:latin typeface="Calibri"/>
              </a:rPr>
              <a:t>Conditions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Completed over approximately 3-4 weeks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Folio submission combining process work and final piece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Individual work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672738"/>
                </a:solidFill>
                <a:latin typeface="Calibri"/>
              </a:rPr>
              <a:t>Assessment Criteria (/50)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Response to the brief — 15 marks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Evidence of the design process — 15 marks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Discussion of industry connection(s) — 10 marks</a:t>
            </a:r>
          </a:p>
          <a:p>
            <a:pPr indent="-203200" marL="203200">
              <a:spcAft>
                <a:spcPts val="900"/>
              </a:spcAft>
              <a:buClr>
                <a:srgbClr val="7A2E4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A1A1F"/>
                </a:solidFill>
                <a:latin typeface="Calibri"/>
              </a:rPr>
              <a:t>Quality of final presentation — 10 marks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DC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8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103120" cy="2103120"/>
          </a:xfrm>
          <a:prstGeom prst="ellipse">
            <a:avLst/>
          </a:prstGeom>
          <a:solidFill>
            <a:srgbClr val="BE7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852160"/>
            <a:ext cx="1737360" cy="1737360"/>
          </a:xfrm>
          <a:prstGeom prst="ellipse">
            <a:avLst/>
          </a:prstGeom>
          <a:solidFill>
            <a:srgbClr val="BE7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1696212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8D5B66"/>
                </a:solidFill>
                <a:latin typeface="Calibri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Mock SAC Speed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A26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6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214884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A26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INDIVIDUAL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106070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203200" bIns="203200" wrap="square"/>
          <a:lstStyle/>
          <a:p>
            <a:pPr algn="ctr"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Answer one exam-style short-answer question on trends or industry connections, under timed conditions.</a:t>
            </a:r>
          </a:p>
          <a:p>
            <a:pPr indent="-203200" marL="203200">
              <a:spcAft>
                <a:spcPts val="900"/>
              </a:spcAft>
              <a:buClr>
                <a:srgbClr val="D98C9E"/>
              </a:buClr>
              <a:buSzPct val="90000"/>
              <a:buFont typeface="Arial"/>
              <a:buChar char="●"/>
            </a:pPr>
            <a:r>
              <a:rPr sz="1450" b="0" i="0">
                <a:solidFill>
                  <a:srgbClr val="2A1A1F"/>
                </a:solidFill>
                <a:latin typeface="Calibri"/>
              </a:rPr>
              <a:t>Swap with a partner and check against the marking criteria discussed.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179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Calibri"/>
              </a:rPr>
              <a:t>Debrief: Where did you lose the most marks, and why?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E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4114800"/>
            <a:ext cx="3108960" cy="3108960"/>
          </a:xfrm>
          <a:prstGeom prst="ellipse">
            <a:avLst/>
          </a:prstGeom>
          <a:solidFill>
            <a:srgbClr val="6B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188720"/>
            <a:ext cx="2743200" cy="2743200"/>
          </a:xfrm>
          <a:prstGeom prst="ellipse">
            <a:avLst/>
          </a:prstGeom>
          <a:solidFill>
            <a:srgbClr val="D6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920240" y="2286000"/>
            <a:ext cx="8321040" cy="23774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000">
                <a:solidFill>
                  <a:srgbClr val="7A2E43"/>
                </a:solidFill>
                <a:latin typeface="Cambria"/>
              </a:rPr>
              <a:t>End of Unit 2</a:t>
            </a:r>
          </a:p>
          <a:p>
            <a:pPr algn="ctr"/>
            <a:r>
              <a:rPr sz="1400">
                <a:solidFill>
                  <a:srgbClr val="595959"/>
                </a:solidFill>
              </a:rPr>
              <a:t>Review the matching workbook to consolidate what you have learnt.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