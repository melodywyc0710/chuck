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b="1">
                <a:solidFill>
                  <a:srgbClr val="1F4B3F"/>
                </a:solidFill>
                <a:latin typeface="Cambria"/>
              </a:rPr>
              <a:t>Unit 3: Reconceptualisation and Reinvention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>
                <a:solidFill>
                  <a:srgbClr val="595959"/>
                </a:solidFill>
                <a:latin typeface="Calibri"/>
              </a:rPr>
              <a:t>VCE Visual Communication Design — Year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063240"/>
            <a:ext cx="1645920" cy="38100"/>
          </a:xfrm>
          <a:prstGeom prst="rect">
            <a:avLst/>
          </a:prstGeom>
          <a:solidFill>
            <a:srgbClr val="1F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B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Analysis &amp; Reinterpretation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>
                <a:solidFill>
                  <a:srgbClr val="E5E5E5"/>
                </a:solidFill>
                <a:latin typeface="Calibri"/>
              </a:rPr>
              <a:t>AOS 1 · Analysis and Practice in Context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1F4B3F"/>
                </a:solidFill>
                <a:latin typeface="Cambria"/>
              </a:rPr>
              <a:t>Analysing &amp; Reinterpreting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In Unit 3, you select an </a:t>
            </a:r>
            <a:r>
              <a:rPr sz="2000" b="1" i="0">
                <a:solidFill>
                  <a:srgbClr val="1F4B3F"/>
                </a:solidFill>
                <a:latin typeface="Calibri"/>
              </a:rPr>
              <a:t>existing design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from one of the four design fields, analyse it in depth, then reinterpret it for a </a:t>
            </a:r>
            <a:r>
              <a:rPr sz="2000" b="1" i="0">
                <a:solidFill>
                  <a:srgbClr val="1F4B3F"/>
                </a:solidFill>
                <a:latin typeface="Calibri"/>
              </a:rPr>
              <a:t>new context, audience or purpose.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This process forms the foundation for your folio — the analysis and reinterpretation informs the two concepts you will develop across Units 3 and 4.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The Two Stages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1F4B3F"/>
                </a:solidFill>
                <a:latin typeface="Calibri"/>
              </a:rPr>
              <a:t>1. Analysis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understanding the original design in depth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1F4B3F"/>
                </a:solidFill>
                <a:latin typeface="Calibri"/>
              </a:rPr>
              <a:t>2. Reinterpretation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reimagining it for a different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1F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1F4B3F"/>
                </a:solidFill>
                <a:latin typeface="Cambria"/>
              </a:rPr>
              <a:t>A Framework for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A thorough analysis considers more than just appearance — it examines the design's full context of creation and use.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1F4B3F"/>
                </a:solidFill>
                <a:latin typeface="Calibri"/>
              </a:rPr>
              <a:t>Purpose &amp; audience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who was it made for, and why?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1F4B3F"/>
                </a:solidFill>
                <a:latin typeface="Calibri"/>
              </a:rPr>
              <a:t>Elements &amp; principles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what visual language is used, and to what effect?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1F4B3F"/>
                </a:solidFill>
                <a:latin typeface="Calibri"/>
              </a:rPr>
              <a:t>Materials &amp; methods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how was it made or produced?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1F4B3F"/>
                </a:solidFill>
                <a:latin typeface="Calibri"/>
              </a:rPr>
              <a:t>Context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when/where was it created; what design field and movement does it belong to?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Exam Tip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Always support analysis with </a:t>
            </a:r>
            <a:r>
              <a:rPr sz="2000" b="1" i="0">
                <a:solidFill>
                  <a:srgbClr val="1F4B3F"/>
                </a:solidFill>
                <a:latin typeface="Calibri"/>
              </a:rPr>
              <a:t>specific visual evidence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from the design — not general impressions. Use the Name → Evidence → Effect formula.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1F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1F4B3F"/>
                </a:solidFill>
                <a:latin typeface="Cambria"/>
              </a:rPr>
              <a:t>Reconceptualisation vs Reinvention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Reconceptualisation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Changing the design for a </a:t>
            </a:r>
            <a:r>
              <a:rPr sz="2000" b="1" i="0">
                <a:solidFill>
                  <a:srgbClr val="1F4B3F"/>
                </a:solidFill>
                <a:latin typeface="Calibri"/>
              </a:rPr>
              <a:t>new audience, purpose or context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while keeping its core visual identity recognisable.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e.g. redesigning a children's brand identity for an adult luxury market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Reinvention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A more </a:t>
            </a:r>
            <a:r>
              <a:rPr sz="2000" b="1" i="0">
                <a:solidFill>
                  <a:srgbClr val="1F4B3F"/>
                </a:solidFill>
                <a:latin typeface="Calibri"/>
              </a:rPr>
              <a:t>radical transformation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taking the underlying idea or function of a design and expressing it in an entirely new visual form or medium.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e.g. reinventing a print poster campaign as an interactive app 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1F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1F4B3F"/>
                </a:solidFill>
                <a:latin typeface="Cambria"/>
              </a:rPr>
              <a:t>Ways to Reinterpret a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Change Audience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Redesign for a different age group, culture, or market segment.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Change Field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Move a concept from one design field to another (e.g. a logo to a spatial installation).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Change Era/Style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Reimagine a historical design using a contemporary visual style, or vice versa.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Change Medium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Translate a static design into digital, interactive or 3D form.</a:t>
            </a:r>
          </a:p>
          <a:p>
            <a:pPr>
              <a:spcAft>
                <a:spcPts val="1000"/>
              </a:spcAft>
            </a:pPr>
            <a:r>
              <a:rPr sz="1800" b="1" i="1">
                <a:solidFill>
                  <a:srgbClr val="1F4B3F"/>
                </a:solidFill>
                <a:latin typeface="Calibri"/>
              </a:rPr>
              <a:t>Exam vocab:</a:t>
            </a:r>
            <a:r>
              <a:rPr sz="1800" b="0" i="1">
                <a:solidFill>
                  <a:srgbClr val="333333"/>
                </a:solidFill>
                <a:latin typeface="Calibri"/>
              </a:rPr>
              <a:t> reconceptualise, reinvent, reinterpret, contemporary context, target audience shift, visual identity, transform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1F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1F4B3F"/>
                </a:solidFill>
                <a:latin typeface="Cambria"/>
              </a:rPr>
              <a:t>Answering Analysis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Feature → Evidence → Effect → Context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1. Name a visual feature (element/principle)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2. Describe specific evidence in the design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3. Explain the effect on the audience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4. Link to the design's context or purpose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1800" b="0" i="1">
                <a:solidFill>
                  <a:srgbClr val="333333"/>
                </a:solidFill>
                <a:latin typeface="Calibri"/>
              </a:rPr>
              <a:t>Sentence Starters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"The original design uses [element/principle] to..."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"If reconceptualised for [new audience], this could..."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"Reinventing this in [new field/medium] would require..."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1F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1F4B3F"/>
                </a:solidFill>
                <a:latin typeface="Cambria"/>
              </a:rPr>
              <a:t>Analysis &amp; Reinterpretation — Quick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Analysis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Purpose, audience, elements/principles, materials, context.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Reconceptualise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Same core identity, new audience/purpose.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Reinvent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Radical transformation of form/medium.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Justify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Always explain why the change suits the new context.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 Reminder: this analysis directly feeds into the </a:t>
            </a:r>
            <a:r>
              <a:rPr sz="2000" b="1" i="0">
                <a:solidFill>
                  <a:srgbClr val="1F4B3F"/>
                </a:solidFill>
                <a:latin typeface="Calibri"/>
              </a:rPr>
              <a:t>brief you write for your own folio work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 AOS 2. 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1F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4B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The Brief &amp; Ideation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>
                <a:solidFill>
                  <a:srgbClr val="E5E5E5"/>
                </a:solidFill>
                <a:latin typeface="Calibri"/>
              </a:rPr>
              <a:t>AOS 2 · Design Industry Practice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1F4B3F"/>
                </a:solidFill>
                <a:latin typeface="Cambria"/>
              </a:rPr>
              <a:t>Writing Your Own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Using your Unit 3 AOS 1 analysis and reinterpretation, you write a </a:t>
            </a:r>
            <a:r>
              <a:rPr sz="2000" b="1" i="0">
                <a:solidFill>
                  <a:srgbClr val="1F4B3F"/>
                </a:solidFill>
                <a:latin typeface="Calibri"/>
              </a:rPr>
              <a:t>design brief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that will guide your folio work across Units 3 and 4.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This brief must be specific enough to guide two distinct concepts, but open enough to allow genuine creative exploration.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Your Brief Must State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Client / context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Target audience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Purpose &amp; communication objectives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Constraints (time, materials, format)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Two (2) obligatory design fields/outcomes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1F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1F4B3F"/>
                </a:solidFill>
                <a:latin typeface="Cambria"/>
              </a:rPr>
              <a:t>Deconstructing a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Before generating ideas, break the brief into its component parts to ensure nothing is missed.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1F4B3F"/>
                </a:solidFill>
                <a:latin typeface="Calibri"/>
              </a:rPr>
              <a:t>Who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the target audience and their needs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1F4B3F"/>
                </a:solidFill>
                <a:latin typeface="Calibri"/>
              </a:rPr>
              <a:t>What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the required outcomes (obligatory design fields)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1F4B3F"/>
                </a:solidFill>
                <a:latin typeface="Calibri"/>
              </a:rPr>
              <a:t>Why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the purpose and desired effect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1F4B3F"/>
                </a:solidFill>
                <a:latin typeface="Calibri"/>
              </a:rPr>
              <a:t>Constraints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what limits the possible solutions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Exam Tip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Exam questions often ask you to identify a </a:t>
            </a:r>
            <a:r>
              <a:rPr sz="2000" b="1" i="0">
                <a:solidFill>
                  <a:srgbClr val="1F4B3F"/>
                </a:solidFill>
                <a:latin typeface="Calibri"/>
              </a:rPr>
              <a:t>missing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or </a:t>
            </a:r>
            <a:r>
              <a:rPr sz="2000" b="1" i="0">
                <a:solidFill>
                  <a:srgbClr val="1F4B3F"/>
                </a:solidFill>
                <a:latin typeface="Calibri"/>
              </a:rPr>
              <a:t>unclear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part of a given brief — practice spotting gaps in audience, purpose or constraints.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1F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1F4B3F"/>
                </a:solidFill>
                <a:latin typeface="Cambria"/>
              </a:rPr>
              <a:t>Generating Two Distinct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Your folio must show a genuine range of ideas — leading to </a:t>
            </a:r>
            <a:r>
              <a:rPr sz="2000" b="1" i="0">
                <a:solidFill>
                  <a:srgbClr val="1F4B3F"/>
                </a:solidFill>
                <a:latin typeface="Calibri"/>
              </a:rPr>
              <a:t>two distinctly different concepts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that will each be developed and refined in Unit 4.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What Makes Concepts "Distinct"?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Different visual approach (not just colour changes)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Different treatment of elements/principles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Different overall style or design field emphasis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Ideation Methods (recap)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Brainstorming, mind mapping, thumbnail sketches, mood boards, SCAMPER — see the Unit 1 AOS 2 Design Process materials for a full recap of these methods.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1F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1F4B3F"/>
                </a:solidFill>
                <a:latin typeface="Cambria"/>
              </a:rPr>
              <a:t>Research to Support Ideation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Targeted research ensures your ideas are grounded in the brief's real audience and context, not just personal preference.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1F4B3F"/>
                </a:solidFill>
                <a:latin typeface="Calibri"/>
              </a:rPr>
              <a:t>Audience research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interviews, surveys of the target group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1F4B3F"/>
                </a:solidFill>
                <a:latin typeface="Calibri"/>
              </a:rPr>
              <a:t>Visual research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mood boards, existing designs in the same field</a:t>
            </a:r>
          </a:p>
          <a:p>
            <a:pPr lvl="1">
              <a:spcAft>
                <a:spcPts val="1000"/>
              </a:spcAft>
            </a:pPr>
            <a:r>
              <a:rPr sz="1800" b="1" i="0">
                <a:solidFill>
                  <a:srgbClr val="1F4B3F"/>
                </a:solidFill>
                <a:latin typeface="Calibri"/>
              </a:rPr>
              <a:t>Contextual research</a:t>
            </a:r>
            <a:r>
              <a:rPr sz="1800" b="0" i="0">
                <a:solidFill>
                  <a:srgbClr val="333333"/>
                </a:solidFill>
                <a:latin typeface="Calibri"/>
              </a:rPr>
              <a:t> — relevant trends, industry practice, materials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Link your research directly back to </a:t>
            </a:r>
            <a:r>
              <a:rPr sz="2000" b="1" i="0">
                <a:solidFill>
                  <a:srgbClr val="1F4B3F"/>
                </a:solidFill>
                <a:latin typeface="Calibri"/>
              </a:rPr>
              <a:t>Unit 2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concepts — current trends and industry connections should inform your ideas.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1F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1F4B3F"/>
                </a:solidFill>
                <a:latin typeface="Cambria"/>
              </a:rPr>
              <a:t>Answering Brief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Identify → Explain → Suggest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1. Identify the missing/unclear brief element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2. Explain why it matters for the design outcome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3. Suggest what information should be added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1000"/>
              </a:spcAft>
            </a:pPr>
            <a:r>
              <a:rPr sz="1800" b="0" i="1">
                <a:solidFill>
                  <a:srgbClr val="333333"/>
                </a:solidFill>
                <a:latin typeface="Calibri"/>
              </a:rPr>
              <a:t>Sentence Starters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"The brief does not specify [element], which is important because..."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"To generate ideas, [method] could be used to..."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"These two concepts differ in that..."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1F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200" b="1">
                <a:solidFill>
                  <a:srgbClr val="1F4B3F"/>
                </a:solidFill>
                <a:latin typeface="Cambria"/>
              </a:rPr>
              <a:t>Brief &amp; Ideation — Quick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Brief Elements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Client, audience, purpose, constraints, obligatory fields.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Deconstruct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Who, what, why, constraints.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Two Concepts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Must be genuinely distinct, not colour variants.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Research</a:t>
            </a:r>
          </a:p>
          <a:p>
            <a:pPr lvl="1">
              <a:spcAft>
                <a:spcPts val="1000"/>
              </a:spcAft>
            </a:pPr>
            <a:r>
              <a:rPr sz="1800" b="0" i="0">
                <a:solidFill>
                  <a:srgbClr val="333333"/>
                </a:solidFill>
                <a:latin typeface="Calibri"/>
              </a:rPr>
              <a:t>Audience, visual, contextual — links to Unit 2 trends.</a:t>
            </a:r>
          </a:p>
          <a:p>
            <a:pPr>
              <a:spcAft>
                <a:spcPts val="10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 Reminder: these two concepts carry forward into </a:t>
            </a:r>
            <a:r>
              <a:rPr sz="2000" b="1" i="0">
                <a:solidFill>
                  <a:srgbClr val="1F4B3F"/>
                </a:solidFill>
                <a:latin typeface="Calibri"/>
              </a:rPr>
              <a:t>Unit 4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where you develop and refine them. 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1463040" cy="38100"/>
          </a:xfrm>
          <a:prstGeom prst="rect">
            <a:avLst/>
          </a:prstGeom>
          <a:solidFill>
            <a:srgbClr val="1F4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