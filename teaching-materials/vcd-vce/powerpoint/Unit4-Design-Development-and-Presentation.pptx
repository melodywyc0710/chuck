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3B2F4A"/>
                </a:solidFill>
                <a:latin typeface="Cambria"/>
              </a:rPr>
              <a:t>Unit 4: Design, Development and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95959"/>
                </a:solidFill>
                <a:latin typeface="Calibri"/>
              </a:rPr>
              <a:t>VCE Visual Communication Design — Year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164592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Development &amp; Resolution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1 · Development and Resolution of Designs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Developing Your Two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In Unit 4, you take the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two distinct concepts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generated in Unit 3 and develop each one further through testing, refinement and feedback.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One concept is ultimately selected and resolved into a final presentation — but both must show visible development.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Development Shows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Testing of options (type, colour, material)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Annotated decision-making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Response to feedback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Progress toward a resolved final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Methods of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Type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Testing typefaces, weights and sizes for the strongest hierarchy and tone.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Colour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Testing palettes for mood, contrast and audience appropriateness.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Material/Scale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Testing physical materials, surface finishes or scale relationships.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Layout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Testing composition, grid structure and hierarchy arrangements.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Every trial should be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annotated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explain why an option was chosen or rejected, referencing the brief.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Feedback &amp; Testing Against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Development is not just personal preference — it is an iterative process of testing ideas against the brief and gathering feedback.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Peer feedback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classmates critique clarity and effectiveness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Teacher feedback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checks against assessment criteria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Self-testing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does it meet the audience, purpose and constraints?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Tip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When describing development, always show the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before → feedback/testing → after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sequence, not just the final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Selecting a Direction to Resolve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After development, one concept is chosen to be resolved into the final design. This decision must be justified against the brief.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Which concept best meets the </a:t>
            </a:r>
            <a:r>
              <a:rPr sz="1800" b="1" i="0">
                <a:solidFill>
                  <a:srgbClr val="3B2F4A"/>
                </a:solidFill>
                <a:latin typeface="Calibri"/>
              </a:rPr>
              <a:t>audience &amp; purpose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Which received the strongest </a:t>
            </a:r>
            <a:r>
              <a:rPr sz="1800" b="1" i="0">
                <a:solidFill>
                  <a:srgbClr val="3B2F4A"/>
                </a:solidFill>
                <a:latin typeface="Calibri"/>
              </a:rPr>
              <a:t>feedback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Which is most </a:t>
            </a:r>
            <a:r>
              <a:rPr sz="1800" b="1" i="0">
                <a:solidFill>
                  <a:srgbClr val="3B2F4A"/>
                </a:solidFill>
                <a:latin typeface="Calibri"/>
              </a:rPr>
              <a:t>achievable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within constraints (time, materials)?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The rejected concept is not wasted — it still demonstrates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breadth of development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and is assessed as part of your folio.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Answering Development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Method → Change → Justification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Name the development method used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Describe what changed between versions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Justify the change against the brief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"A colour trial was conducted to test..."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"Following feedback, the [feature] was changed to..."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concept was selected for resolution because..."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Development &amp; Resolution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Type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 typeface, weight, hierarchy.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Colour Trials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Test palette for mood &amp; audience.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Feedback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Peer, teacher, self-testing against brief.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Selection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Justify the chosen concept against the brief.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the resolved concept moves into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Unit 4 AOS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for final presentation and evaluation.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Evaluation &amp; Presentation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2 · Evaluation, Refinement and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From Resolution to Final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Once a concept is resolved, it undergoes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final refinement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small, precise adjustments — before being presented to a professional standard.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The finished design is then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evaluated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against the original brief to determine its success.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This AOS Covers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Final refinement techniques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Presentation drawing standards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Folio layout and clarity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Evaluating against the 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Presentation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The final design must be presented using an appropriate method to a professional standard, clearly communicating the resolved concept.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Accuracy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correct use of orthogonal, isometric or perspective methods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Rendering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colour, tone and material communicated clearly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Context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mockups or environment shown where relevant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Craftsmanship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clean linework, consistent scale, legible annotation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See the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Technical Drawing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and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Visualisation Drawing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handouts (Unit 1 AOS 2) for a full recap of drawing methods.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Evaluating Against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Purpose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Does the design achieve its communication objective?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Audience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Is it appropriate and effective for the target audience?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Constraints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Were the stated constraints respected (materials, time, format)?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Obligatory Fields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Were all required design outcomes delivered?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A strong evaluation is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specific and balanced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identify genuine strengths and any limitations, not just praise.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Folio Layout &amp;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How your folio is organised affects how clearly your design thinking can be assessed.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Sequence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brief → research → generation → development → resolution → evaluation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Labelling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clearly label the brief, each concept, and final design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3B2F4A"/>
                </a:solidFill>
                <a:latin typeface="Calibri"/>
              </a:rPr>
              <a:t>Consistency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consistent visual presentation across pages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Tip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questions may show a folio excerpt and ask you to identify which stage of the process it represents — know the full sequence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Writing an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Criterion → Evidence → Judgement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State the brief criterion being evaluated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Give evidence from the final design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Judge whether it succeeds, with reasoning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"The brief required [X]; the final design achieves this by..."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"This effectively meets the needs of [audience] because..."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"One limitation of the final design is..."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3B2F4A"/>
                </a:solidFill>
                <a:latin typeface="Cambria"/>
              </a:rPr>
              <a:t>Evaluation &amp; Presentation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Refinement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Small, precise final adjustments.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Presentation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Accurate, rendered, professional standard.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Evaluation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Purpose, audience, constraints, obligatory fields.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Folio Layout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Clear sequence and consistent presentation.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a strong evaluation is </a:t>
            </a:r>
            <a:r>
              <a:rPr sz="2000" b="1" i="0">
                <a:solidFill>
                  <a:srgbClr val="3B2F4A"/>
                </a:solidFill>
                <a:latin typeface="Calibri"/>
              </a:rPr>
              <a:t>specific and balanced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not just "the design looks good."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3B2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