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 rot="21420000">
            <a:off x="-1188720" y="-1005840"/>
            <a:ext cx="7863840" cy="6766560"/>
          </a:xfrm>
          <a:prstGeom prst="roundRect">
            <a:avLst>
              <a:gd name="adj" fmla="val 32000"/>
            </a:avLst>
          </a:prstGeom>
          <a:solidFill>
            <a:srgbClr val="2F5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332720" y="-640080"/>
            <a:ext cx="2194560" cy="2194560"/>
          </a:xfrm>
          <a:prstGeom prst="ellipse">
            <a:avLst/>
          </a:prstGeom>
          <a:solidFill>
            <a:srgbClr val="C97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65760" y="5623560"/>
            <a:ext cx="1371600" cy="1371600"/>
          </a:xfrm>
          <a:prstGeom prst="ellipse">
            <a:avLst/>
          </a:prstGeom>
          <a:solidFill>
            <a:srgbClr val="7FA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03920" y="3566160"/>
            <a:ext cx="3291840" cy="310896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2000" b="1" i="0">
                <a:solidFill>
                  <a:srgbClr val="D9DFDA"/>
                </a:solidFill>
                <a:latin typeface="Cambria"/>
              </a:rP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640080"/>
            <a:ext cx="411480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ctr"/>
            <a:r>
              <a:rPr sz="1150" b="1">
                <a:solidFill>
                  <a:srgbClr val="2F5233"/>
                </a:solidFill>
                <a:latin typeface="Calibri"/>
              </a:rPr>
              <a:t>VCE VISUAL COMMUNICATION DESIGN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17320"/>
            <a:ext cx="566928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mbria"/>
              </a:rPr>
              <a:t>Unit 3: Reconceptualisation and Reinvention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794760"/>
            <a:ext cx="5486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0">
                <a:solidFill>
                  <a:srgbClr val="EAEDEA"/>
                </a:solidFill>
                <a:latin typeface="Calibri"/>
              </a:rPr>
              <a:t>VCE Visual Communication Design — Year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74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92640" y="-914400"/>
            <a:ext cx="2926080" cy="2926080"/>
          </a:xfrm>
          <a:prstGeom prst="ellipse">
            <a:avLst/>
          </a:prstGeom>
          <a:solidFill>
            <a:srgbClr val="B066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914400" y="4937760"/>
            <a:ext cx="2377440" cy="2377440"/>
          </a:xfrm>
          <a:prstGeom prst="ellipse">
            <a:avLst/>
          </a:prstGeom>
          <a:solidFill>
            <a:srgbClr val="B066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051560"/>
            <a:ext cx="118872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ctr"/>
            <a:r>
              <a:rPr sz="1400" b="1">
                <a:solidFill>
                  <a:srgbClr val="A05C30"/>
                </a:solidFill>
                <a:latin typeface="Calibri"/>
              </a:rPr>
              <a:t>01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011680"/>
            <a:ext cx="10515600" cy="2834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697480"/>
            <a:ext cx="9601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 i="0">
                <a:solidFill>
                  <a:srgbClr val="AA6233"/>
                </a:solidFill>
                <a:latin typeface="Cambria"/>
              </a:rPr>
              <a:t>Analysis &amp; Reinterpretation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657600"/>
            <a:ext cx="9601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>
                <a:solidFill>
                  <a:srgbClr val="6B6B6B"/>
                </a:solidFill>
                <a:latin typeface="Calibri"/>
              </a:rPr>
              <a:t>AOS 1 - Analysis and Practice in Context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85800" y="502920"/>
            <a:ext cx="3291840" cy="457200"/>
          </a:xfrm>
          <a:prstGeom prst="roundRect">
            <a:avLst>
              <a:gd name="adj" fmla="val 50000"/>
            </a:avLst>
          </a:prstGeom>
          <a:solidFill>
            <a:srgbClr val="2F5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ANALYSIS &amp; REINTERPRETATION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20291F"/>
                </a:solidFill>
                <a:latin typeface="Cambria"/>
              </a:rPr>
              <a:t>Analysing &amp; Reinterpreting Designs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74519"/>
            <a:ext cx="5166360" cy="4526280"/>
          </a:xfrm>
          <a:prstGeom prst="roundRect">
            <a:avLst>
              <a:gd name="adj" fmla="val 6000"/>
            </a:avLst>
          </a:prstGeom>
          <a:solidFill>
            <a:srgbClr val="E6E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9400" rIns="279400" tIns="228600" bIns="228600" wrap="square"/>
          <a:lstStyle/>
          <a:p>
            <a:pPr algn="ctr" indent="-203200" marL="203200">
              <a:spcAft>
                <a:spcPts val="900"/>
              </a:spcAft>
              <a:buClr>
                <a:srgbClr val="2F5233"/>
              </a:buClr>
              <a:buSzPct val="90000"/>
              <a:buFont typeface="Arial"/>
              <a:buChar char="●"/>
            </a:pPr>
            <a:r>
              <a:rPr sz="1400" b="0" i="0">
                <a:solidFill>
                  <a:srgbClr val="20291F"/>
                </a:solidFill>
                <a:latin typeface="Calibri"/>
              </a:rPr>
              <a:t>In Unit 3, you select an </a:t>
            </a:r>
            <a:r>
              <a:rPr sz="1400" b="1" i="0">
                <a:solidFill>
                  <a:srgbClr val="27452B"/>
                </a:solidFill>
                <a:latin typeface="Calibri"/>
              </a:rPr>
              <a:t>existing design</a:t>
            </a:r>
            <a:r>
              <a:rPr sz="1400" b="0" i="0">
                <a:solidFill>
                  <a:srgbClr val="20291F"/>
                </a:solidFill>
                <a:latin typeface="Calibri"/>
              </a:rPr>
              <a:t> from one of the four design fields, analyse it in depth, then reinterpret it for a </a:t>
            </a:r>
            <a:r>
              <a:rPr sz="1400" b="1" i="0">
                <a:solidFill>
                  <a:srgbClr val="27452B"/>
                </a:solidFill>
                <a:latin typeface="Calibri"/>
              </a:rPr>
              <a:t>new context, audience or purpose.</a:t>
            </a:r>
          </a:p>
          <a:p>
            <a:pPr indent="-203200" marL="203200">
              <a:spcAft>
                <a:spcPts val="900"/>
              </a:spcAft>
              <a:buClr>
                <a:srgbClr val="2F5233"/>
              </a:buClr>
              <a:buSzPct val="90000"/>
              <a:buFont typeface="Arial"/>
              <a:buChar char="●"/>
            </a:pPr>
            <a:r>
              <a:rPr sz="1400" b="0" i="0">
                <a:solidFill>
                  <a:srgbClr val="20291F"/>
                </a:solidFill>
                <a:latin typeface="Calibri"/>
              </a:rPr>
              <a:t>This process forms the foundation for your folio — the analysis and reinterpretation informs the two concepts you will develop across Units 3 and 4.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80760" y="1874519"/>
            <a:ext cx="5166360" cy="4526280"/>
          </a:xfrm>
          <a:prstGeom prst="roundRect">
            <a:avLst>
              <a:gd name="adj" fmla="val 6000"/>
            </a:avLst>
          </a:prstGeom>
          <a:solidFill>
            <a:srgbClr val="DB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9400" rIns="279400" tIns="228600" bIns="228600" wrap="square"/>
          <a:lstStyle/>
          <a:p>
            <a:pPr algn="ctr" indent="-203200" marL="203200">
              <a:spcAft>
                <a:spcPts val="900"/>
              </a:spcAft>
              <a:buClr>
                <a:srgbClr val="7FA3B0"/>
              </a:buClr>
              <a:buSzPct val="90000"/>
              <a:buFont typeface="Arial"/>
              <a:buChar char="●"/>
            </a:pPr>
            <a:r>
              <a:rPr sz="1400" b="0" i="0">
                <a:solidFill>
                  <a:srgbClr val="20291F"/>
                </a:solidFill>
                <a:latin typeface="Calibri"/>
              </a:rPr>
              <a:t>The Two Stages</a:t>
            </a:r>
          </a:p>
          <a:p>
            <a:pPr indent="-203200" marL="203200">
              <a:spcAft>
                <a:spcPts val="900"/>
              </a:spcAft>
              <a:buClr>
                <a:srgbClr val="7FA3B0"/>
              </a:buClr>
              <a:buSzPct val="90000"/>
              <a:buFont typeface="Arial"/>
              <a:buChar char="–"/>
            </a:pPr>
            <a:r>
              <a:rPr sz="1250" b="1" i="0">
                <a:solidFill>
                  <a:srgbClr val="6B8A95"/>
                </a:solidFill>
                <a:latin typeface="Calibri"/>
              </a:rPr>
              <a:t>1. Analysis</a:t>
            </a:r>
            <a:r>
              <a:rPr sz="1250" b="0" i="0">
                <a:solidFill>
                  <a:srgbClr val="20291F"/>
                </a:solidFill>
                <a:latin typeface="Calibri"/>
              </a:rPr>
              <a:t> — understanding the original design in depth</a:t>
            </a:r>
          </a:p>
          <a:p>
            <a:pPr indent="-203200" marL="203200">
              <a:spcAft>
                <a:spcPts val="900"/>
              </a:spcAft>
              <a:buClr>
                <a:srgbClr val="7FA3B0"/>
              </a:buClr>
              <a:buSzPct val="90000"/>
              <a:buFont typeface="Arial"/>
              <a:buChar char="–"/>
            </a:pPr>
            <a:r>
              <a:rPr sz="1250" b="1" i="0">
                <a:solidFill>
                  <a:srgbClr val="6B8A95"/>
                </a:solidFill>
                <a:latin typeface="Calibri"/>
              </a:rPr>
              <a:t>2. Reinterpretation</a:t>
            </a:r>
            <a:r>
              <a:rPr sz="1250" b="0" i="0">
                <a:solidFill>
                  <a:srgbClr val="20291F"/>
                </a:solidFill>
                <a:latin typeface="Calibri"/>
              </a:rPr>
              <a:t> — reimagining it for a different context</a:t>
            </a:r>
          </a:p>
        </p:txBody>
      </p:sp>
      <p:sp>
        <p:nvSpPr>
          <p:cNvPr id="6" name="Oval 5"/>
          <p:cNvSpPr/>
          <p:nvPr/>
        </p:nvSpPr>
        <p:spPr>
          <a:xfrm>
            <a:off x="5532120" y="3840480"/>
            <a:ext cx="685800" cy="685800"/>
          </a:xfrm>
          <a:prstGeom prst="ellipse">
            <a:avLst/>
          </a:prstGeom>
          <a:solidFill>
            <a:srgbClr val="C97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85800" y="502920"/>
            <a:ext cx="3291840" cy="457200"/>
          </a:xfrm>
          <a:prstGeom prst="roundRect">
            <a:avLst>
              <a:gd name="adj" fmla="val 50000"/>
            </a:avLst>
          </a:prstGeom>
          <a:solidFill>
            <a:srgbClr val="2F5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ANALYSIS &amp; REINTERPRETATION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20291F"/>
                </a:solidFill>
                <a:latin typeface="Cambria"/>
              </a:rPr>
              <a:t>A Framework for Analysis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74519"/>
            <a:ext cx="5166360" cy="4526280"/>
          </a:xfrm>
          <a:prstGeom prst="roundRect">
            <a:avLst>
              <a:gd name="adj" fmla="val 6000"/>
            </a:avLst>
          </a:prstGeom>
          <a:solidFill>
            <a:srgbClr val="E6E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9400" rIns="279400" tIns="228600" bIns="228600" wrap="square"/>
          <a:lstStyle/>
          <a:p>
            <a:pPr algn="ctr" indent="-203200" marL="203200">
              <a:spcAft>
                <a:spcPts val="900"/>
              </a:spcAft>
              <a:buClr>
                <a:srgbClr val="2F5233"/>
              </a:buClr>
              <a:buSzPct val="90000"/>
              <a:buFont typeface="Arial"/>
              <a:buChar char="●"/>
            </a:pPr>
            <a:r>
              <a:rPr sz="1400" b="0" i="0">
                <a:solidFill>
                  <a:srgbClr val="20291F"/>
                </a:solidFill>
                <a:latin typeface="Calibri"/>
              </a:rPr>
              <a:t>A thorough analysis considers more than just appearance — it examines the design's full context of creation and use.</a:t>
            </a:r>
          </a:p>
          <a:p>
            <a:pPr indent="-203200" marL="203200">
              <a:spcAft>
                <a:spcPts val="900"/>
              </a:spcAft>
              <a:buClr>
                <a:srgbClr val="2F5233"/>
              </a:buClr>
              <a:buSzPct val="90000"/>
              <a:buFont typeface="Arial"/>
              <a:buChar char="–"/>
            </a:pPr>
            <a:r>
              <a:rPr sz="1250" b="1" i="0">
                <a:solidFill>
                  <a:srgbClr val="27452B"/>
                </a:solidFill>
                <a:latin typeface="Calibri"/>
              </a:rPr>
              <a:t>Purpose &amp; audience</a:t>
            </a:r>
            <a:r>
              <a:rPr sz="1250" b="0" i="0">
                <a:solidFill>
                  <a:srgbClr val="20291F"/>
                </a:solidFill>
                <a:latin typeface="Calibri"/>
              </a:rPr>
              <a:t> — who was it made for, and why?</a:t>
            </a:r>
          </a:p>
          <a:p>
            <a:pPr indent="-203200" marL="203200">
              <a:spcAft>
                <a:spcPts val="900"/>
              </a:spcAft>
              <a:buClr>
                <a:srgbClr val="2F5233"/>
              </a:buClr>
              <a:buSzPct val="90000"/>
              <a:buFont typeface="Arial"/>
              <a:buChar char="–"/>
            </a:pPr>
            <a:r>
              <a:rPr sz="1250" b="1" i="0">
                <a:solidFill>
                  <a:srgbClr val="27452B"/>
                </a:solidFill>
                <a:latin typeface="Calibri"/>
              </a:rPr>
              <a:t>Elements &amp; principles</a:t>
            </a:r>
            <a:r>
              <a:rPr sz="1250" b="0" i="0">
                <a:solidFill>
                  <a:srgbClr val="20291F"/>
                </a:solidFill>
                <a:latin typeface="Calibri"/>
              </a:rPr>
              <a:t> — what visual language is used, and to what effect?</a:t>
            </a:r>
          </a:p>
          <a:p>
            <a:pPr indent="-203200" marL="203200">
              <a:spcAft>
                <a:spcPts val="900"/>
              </a:spcAft>
              <a:buClr>
                <a:srgbClr val="2F5233"/>
              </a:buClr>
              <a:buSzPct val="90000"/>
              <a:buFont typeface="Arial"/>
              <a:buChar char="–"/>
            </a:pPr>
            <a:r>
              <a:rPr sz="1250" b="1" i="0">
                <a:solidFill>
                  <a:srgbClr val="27452B"/>
                </a:solidFill>
                <a:latin typeface="Calibri"/>
              </a:rPr>
              <a:t>Materials &amp; methods</a:t>
            </a:r>
            <a:r>
              <a:rPr sz="1250" b="0" i="0">
                <a:solidFill>
                  <a:srgbClr val="20291F"/>
                </a:solidFill>
                <a:latin typeface="Calibri"/>
              </a:rPr>
              <a:t> — how was it made or produced?</a:t>
            </a:r>
          </a:p>
          <a:p>
            <a:pPr indent="-203200" marL="203200">
              <a:spcAft>
                <a:spcPts val="900"/>
              </a:spcAft>
              <a:buClr>
                <a:srgbClr val="2F5233"/>
              </a:buClr>
              <a:buSzPct val="90000"/>
              <a:buFont typeface="Arial"/>
              <a:buChar char="–"/>
            </a:pPr>
            <a:r>
              <a:rPr sz="1250" b="1" i="0">
                <a:solidFill>
                  <a:srgbClr val="27452B"/>
                </a:solidFill>
                <a:latin typeface="Calibri"/>
              </a:rPr>
              <a:t>Context</a:t>
            </a:r>
            <a:r>
              <a:rPr sz="1250" b="0" i="0">
                <a:solidFill>
                  <a:srgbClr val="20291F"/>
                </a:solidFill>
                <a:latin typeface="Calibri"/>
              </a:rPr>
              <a:t> — when/where was it created; what design field and movement does it belong to?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80760" y="1874519"/>
            <a:ext cx="5166360" cy="4526280"/>
          </a:xfrm>
          <a:prstGeom prst="roundRect">
            <a:avLst>
              <a:gd name="adj" fmla="val 6000"/>
            </a:avLst>
          </a:prstGeom>
          <a:solidFill>
            <a:srgbClr val="DB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9400" rIns="279400" tIns="228600" bIns="228600" wrap="square"/>
          <a:lstStyle/>
          <a:p>
            <a:pPr algn="ctr" indent="-203200" marL="203200">
              <a:spcAft>
                <a:spcPts val="900"/>
              </a:spcAft>
              <a:buClr>
                <a:srgbClr val="7FA3B0"/>
              </a:buClr>
              <a:buSzPct val="90000"/>
              <a:buFont typeface="Arial"/>
              <a:buChar char="●"/>
            </a:pPr>
            <a:r>
              <a:rPr sz="1400" b="0" i="0">
                <a:solidFill>
                  <a:srgbClr val="20291F"/>
                </a:solidFill>
                <a:latin typeface="Calibri"/>
              </a:rPr>
              <a:t>Exam Tip</a:t>
            </a:r>
          </a:p>
          <a:p>
            <a:pPr indent="-203200" marL="203200">
              <a:spcAft>
                <a:spcPts val="900"/>
              </a:spcAft>
              <a:buClr>
                <a:srgbClr val="7FA3B0"/>
              </a:buClr>
              <a:buSzPct val="90000"/>
              <a:buFont typeface="Arial"/>
              <a:buChar char="●"/>
            </a:pPr>
            <a:r>
              <a:rPr sz="1400" b="0" i="0">
                <a:solidFill>
                  <a:srgbClr val="20291F"/>
                </a:solidFill>
                <a:latin typeface="Calibri"/>
              </a:rPr>
              <a:t>Always support analysis with </a:t>
            </a:r>
            <a:r>
              <a:rPr sz="1400" b="1" i="0">
                <a:solidFill>
                  <a:srgbClr val="6B8A95"/>
                </a:solidFill>
                <a:latin typeface="Calibri"/>
              </a:rPr>
              <a:t>specific visual evidence</a:t>
            </a:r>
            <a:r>
              <a:rPr sz="1400" b="0" i="0">
                <a:solidFill>
                  <a:srgbClr val="20291F"/>
                </a:solidFill>
                <a:latin typeface="Calibri"/>
              </a:rPr>
              <a:t> from the design — not general impressions. Use the Name → Evidence → Effect formula.</a:t>
            </a:r>
          </a:p>
        </p:txBody>
      </p:sp>
      <p:sp>
        <p:nvSpPr>
          <p:cNvPr id="6" name="Oval 5"/>
          <p:cNvSpPr/>
          <p:nvPr/>
        </p:nvSpPr>
        <p:spPr>
          <a:xfrm>
            <a:off x="5532120" y="3840480"/>
            <a:ext cx="685800" cy="685800"/>
          </a:xfrm>
          <a:prstGeom prst="ellipse">
            <a:avLst/>
          </a:prstGeom>
          <a:solidFill>
            <a:srgbClr val="C97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85800" y="502920"/>
            <a:ext cx="3291840" cy="457200"/>
          </a:xfrm>
          <a:prstGeom prst="roundRect">
            <a:avLst>
              <a:gd name="adj" fmla="val 50000"/>
            </a:avLst>
          </a:prstGeom>
          <a:solidFill>
            <a:srgbClr val="2F5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ANALYSIS &amp; REINTERPRETATION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20291F"/>
                </a:solidFill>
                <a:latin typeface="Cambria"/>
              </a:rPr>
              <a:t>Reconceptualisation vs Reinvention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74519"/>
            <a:ext cx="5166360" cy="4526280"/>
          </a:xfrm>
          <a:prstGeom prst="roundRect">
            <a:avLst>
              <a:gd name="adj" fmla="val 6000"/>
            </a:avLst>
          </a:prstGeom>
          <a:solidFill>
            <a:srgbClr val="E6E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9400" rIns="279400" tIns="228600" bIns="228600" wrap="square"/>
          <a:lstStyle/>
          <a:p>
            <a:pPr algn="ctr" indent="-203200" marL="203200">
              <a:spcAft>
                <a:spcPts val="900"/>
              </a:spcAft>
              <a:buClr>
                <a:srgbClr val="2F5233"/>
              </a:buClr>
              <a:buSzPct val="90000"/>
              <a:buFont typeface="Arial"/>
              <a:buChar char="●"/>
            </a:pPr>
            <a:r>
              <a:rPr sz="1400" b="0" i="0">
                <a:solidFill>
                  <a:srgbClr val="20291F"/>
                </a:solidFill>
                <a:latin typeface="Calibri"/>
              </a:rPr>
              <a:t>Reconceptualisation</a:t>
            </a:r>
          </a:p>
          <a:p>
            <a:pPr indent="-203200" marL="203200">
              <a:spcAft>
                <a:spcPts val="900"/>
              </a:spcAft>
              <a:buClr>
                <a:srgbClr val="2F5233"/>
              </a:buClr>
              <a:buSzPct val="90000"/>
              <a:buFont typeface="Arial"/>
              <a:buChar char="●"/>
            </a:pPr>
            <a:r>
              <a:rPr sz="1400" b="0" i="0">
                <a:solidFill>
                  <a:srgbClr val="20291F"/>
                </a:solidFill>
                <a:latin typeface="Calibri"/>
              </a:rPr>
              <a:t>Changing the design for a </a:t>
            </a:r>
            <a:r>
              <a:rPr sz="1400" b="1" i="0">
                <a:solidFill>
                  <a:srgbClr val="27452B"/>
                </a:solidFill>
                <a:latin typeface="Calibri"/>
              </a:rPr>
              <a:t>new audience, purpose or context</a:t>
            </a:r>
            <a:r>
              <a:rPr sz="1400" b="0" i="0">
                <a:solidFill>
                  <a:srgbClr val="20291F"/>
                </a:solidFill>
                <a:latin typeface="Calibri"/>
              </a:rPr>
              <a:t> while keeping its core visual identity recognisable.</a:t>
            </a:r>
          </a:p>
          <a:p>
            <a:pPr indent="-203200" marL="203200">
              <a:spcAft>
                <a:spcPts val="900"/>
              </a:spcAft>
              <a:buClr>
                <a:srgbClr val="2F5233"/>
              </a:buClr>
              <a:buSzPct val="90000"/>
              <a:buFont typeface="Arial"/>
              <a:buChar char="●"/>
            </a:pPr>
            <a:r>
              <a:rPr sz="1400" b="0" i="0">
                <a:solidFill>
                  <a:srgbClr val="20291F"/>
                </a:solidFill>
                <a:latin typeface="Calibri"/>
              </a:rPr>
              <a:t>e.g. redesigning a children's brand identity for an adult luxury market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80760" y="1874519"/>
            <a:ext cx="5166360" cy="4526280"/>
          </a:xfrm>
          <a:prstGeom prst="roundRect">
            <a:avLst>
              <a:gd name="adj" fmla="val 6000"/>
            </a:avLst>
          </a:prstGeom>
          <a:solidFill>
            <a:srgbClr val="DB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9400" rIns="279400" tIns="228600" bIns="228600" wrap="square"/>
          <a:lstStyle/>
          <a:p>
            <a:pPr algn="ctr" indent="-203200" marL="203200">
              <a:spcAft>
                <a:spcPts val="900"/>
              </a:spcAft>
              <a:buClr>
                <a:srgbClr val="7FA3B0"/>
              </a:buClr>
              <a:buSzPct val="90000"/>
              <a:buFont typeface="Arial"/>
              <a:buChar char="●"/>
            </a:pPr>
            <a:r>
              <a:rPr sz="1400" b="0" i="0">
                <a:solidFill>
                  <a:srgbClr val="20291F"/>
                </a:solidFill>
                <a:latin typeface="Calibri"/>
              </a:rPr>
              <a:t>Reinvention</a:t>
            </a:r>
          </a:p>
          <a:p>
            <a:pPr indent="-203200" marL="203200">
              <a:spcAft>
                <a:spcPts val="900"/>
              </a:spcAft>
              <a:buClr>
                <a:srgbClr val="7FA3B0"/>
              </a:buClr>
              <a:buSzPct val="90000"/>
              <a:buFont typeface="Arial"/>
              <a:buChar char="●"/>
            </a:pPr>
            <a:r>
              <a:rPr sz="1400" b="0" i="0">
                <a:solidFill>
                  <a:srgbClr val="20291F"/>
                </a:solidFill>
                <a:latin typeface="Calibri"/>
              </a:rPr>
              <a:t>A more </a:t>
            </a:r>
            <a:r>
              <a:rPr sz="1400" b="1" i="0">
                <a:solidFill>
                  <a:srgbClr val="6B8A95"/>
                </a:solidFill>
                <a:latin typeface="Calibri"/>
              </a:rPr>
              <a:t>radical transformation</a:t>
            </a:r>
            <a:r>
              <a:rPr sz="1400" b="0" i="0">
                <a:solidFill>
                  <a:srgbClr val="20291F"/>
                </a:solidFill>
                <a:latin typeface="Calibri"/>
              </a:rPr>
              <a:t> — taking the underlying idea or function of a design and expressing it in an entirely new visual form or medium.</a:t>
            </a:r>
          </a:p>
          <a:p>
            <a:pPr indent="-203200" marL="203200">
              <a:spcAft>
                <a:spcPts val="900"/>
              </a:spcAft>
              <a:buClr>
                <a:srgbClr val="7FA3B0"/>
              </a:buClr>
              <a:buSzPct val="90000"/>
              <a:buFont typeface="Arial"/>
              <a:buChar char="●"/>
            </a:pPr>
            <a:r>
              <a:rPr sz="1400" b="0" i="0">
                <a:solidFill>
                  <a:srgbClr val="20291F"/>
                </a:solidFill>
                <a:latin typeface="Calibri"/>
              </a:rPr>
              <a:t>e.g. reinventing a print poster campaign as an interactive app experience</a:t>
            </a:r>
          </a:p>
        </p:txBody>
      </p:sp>
      <p:sp>
        <p:nvSpPr>
          <p:cNvPr id="6" name="Oval 5"/>
          <p:cNvSpPr/>
          <p:nvPr/>
        </p:nvSpPr>
        <p:spPr>
          <a:xfrm>
            <a:off x="5532120" y="3840480"/>
            <a:ext cx="685800" cy="685800"/>
          </a:xfrm>
          <a:prstGeom prst="ellipse">
            <a:avLst/>
          </a:prstGeom>
          <a:solidFill>
            <a:srgbClr val="C97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85800" y="502920"/>
            <a:ext cx="3291840" cy="457200"/>
          </a:xfrm>
          <a:prstGeom prst="roundRect">
            <a:avLst>
              <a:gd name="adj" fmla="val 50000"/>
            </a:avLst>
          </a:prstGeom>
          <a:solidFill>
            <a:srgbClr val="2F5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ANALYSIS &amp; REINTERPRETATION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20291F"/>
                </a:solidFill>
                <a:latin typeface="Cambria"/>
              </a:rPr>
              <a:t>Ways to Reinterpret a Design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74519"/>
            <a:ext cx="2500884" cy="1554480"/>
          </a:xfrm>
          <a:prstGeom prst="roundRect">
            <a:avLst>
              <a:gd name="adj" fmla="val 12000"/>
            </a:avLst>
          </a:prstGeom>
          <a:solidFill>
            <a:srgbClr val="DFE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01600" bIns="101600"/>
          <a:lstStyle/>
          <a:p>
            <a:pPr algn="ctr"/>
            <a:r>
              <a:rPr b="1" sz="1300">
                <a:solidFill>
                  <a:srgbClr val="254128"/>
                </a:solidFill>
                <a:latin typeface="Calibri"/>
              </a:rPr>
              <a:t>Change Audience</a:t>
            </a:r>
          </a:p>
          <a:p>
            <a:r>
              <a:rPr sz="1050">
                <a:solidFill>
                  <a:srgbClr val="20291F"/>
                </a:solidFill>
                <a:latin typeface="Calibri"/>
              </a:rPr>
              <a:t>Redesign for a different age group, culture, or market segment.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87852" y="1874519"/>
            <a:ext cx="2500884" cy="1554480"/>
          </a:xfrm>
          <a:prstGeom prst="roundRect">
            <a:avLst>
              <a:gd name="adj" fmla="val 12000"/>
            </a:avLst>
          </a:prstGeom>
          <a:solidFill>
            <a:srgbClr val="F6E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01600" bIns="101600"/>
          <a:lstStyle/>
          <a:p>
            <a:pPr algn="ctr"/>
            <a:r>
              <a:rPr b="1" sz="1300">
                <a:solidFill>
                  <a:srgbClr val="A05C30"/>
                </a:solidFill>
                <a:latin typeface="Calibri"/>
              </a:rPr>
              <a:t>Change Field</a:t>
            </a:r>
          </a:p>
          <a:p>
            <a:r>
              <a:rPr sz="1050">
                <a:solidFill>
                  <a:srgbClr val="20291F"/>
                </a:solidFill>
                <a:latin typeface="Calibri"/>
              </a:rPr>
              <a:t>Move a concept from one design field to another (e.g. a logo to a spatial installation).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89904" y="1874519"/>
            <a:ext cx="2500884" cy="1554480"/>
          </a:xfrm>
          <a:prstGeom prst="roundRect">
            <a:avLst>
              <a:gd name="adj" fmla="val 12000"/>
            </a:avLst>
          </a:prstGeom>
          <a:solidFill>
            <a:srgbClr val="EB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01600" bIns="101600"/>
          <a:lstStyle/>
          <a:p>
            <a:pPr algn="ctr"/>
            <a:r>
              <a:rPr b="1" sz="1300">
                <a:solidFill>
                  <a:srgbClr val="65828C"/>
                </a:solidFill>
                <a:latin typeface="Calibri"/>
              </a:rPr>
              <a:t>Change Era/Style</a:t>
            </a:r>
          </a:p>
          <a:p>
            <a:r>
              <a:rPr sz="1050">
                <a:solidFill>
                  <a:srgbClr val="20291F"/>
                </a:solidFill>
                <a:latin typeface="Calibri"/>
              </a:rPr>
              <a:t>Reimagine a historical design using a contemporary visual style, or vice versa.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791956" y="1874519"/>
            <a:ext cx="2500884" cy="1554480"/>
          </a:xfrm>
          <a:prstGeom prst="roundRect">
            <a:avLst>
              <a:gd name="adj" fmla="val 12000"/>
            </a:avLst>
          </a:prstGeom>
          <a:solidFill>
            <a:srgbClr val="DFE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01600" bIns="101600"/>
          <a:lstStyle/>
          <a:p>
            <a:pPr algn="ctr"/>
            <a:r>
              <a:rPr b="1" sz="1300">
                <a:solidFill>
                  <a:srgbClr val="254128"/>
                </a:solidFill>
                <a:latin typeface="Calibri"/>
              </a:rPr>
              <a:t>Change Medium</a:t>
            </a:r>
          </a:p>
          <a:p>
            <a:r>
              <a:rPr sz="1050">
                <a:solidFill>
                  <a:srgbClr val="20291F"/>
                </a:solidFill>
                <a:latin typeface="Calibri"/>
              </a:rPr>
              <a:t>Translate a static design into digital, interactive or 3D form.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3675887"/>
            <a:ext cx="10607040" cy="2862073"/>
          </a:xfrm>
          <a:prstGeom prst="roundRect">
            <a:avLst>
              <a:gd name="adj" fmla="val 10000"/>
            </a:avLst>
          </a:prstGeom>
          <a:solidFill>
            <a:srgbClr val="F6E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3200" rIns="203200" tIns="101600" bIns="101600" wrap="square"/>
          <a:lstStyle/>
          <a:p>
            <a:pPr algn="ctr">
              <a:spcAft>
                <a:spcPts val="900"/>
              </a:spcAft>
              <a:buNone/>
            </a:pPr>
            <a:r>
              <a:rPr sz="1050" b="1" i="1">
                <a:solidFill>
                  <a:srgbClr val="AA6233"/>
                </a:solidFill>
                <a:latin typeface="Calibri"/>
              </a:rPr>
              <a:t>Exam vocab:</a:t>
            </a:r>
            <a:r>
              <a:rPr sz="1050" b="0" i="1">
                <a:solidFill>
                  <a:srgbClr val="20291F"/>
                </a:solidFill>
                <a:latin typeface="Calibri"/>
              </a:rPr>
              <a:t> reconceptualise, reinvent, reinterpret, contemporary context, target audience shift, visual identity, transform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85800" y="502920"/>
            <a:ext cx="3291840" cy="457200"/>
          </a:xfrm>
          <a:prstGeom prst="roundRect">
            <a:avLst>
              <a:gd name="adj" fmla="val 50000"/>
            </a:avLst>
          </a:prstGeom>
          <a:solidFill>
            <a:srgbClr val="2F5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ANALYSIS &amp; REINTERPRETATION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20291F"/>
                </a:solidFill>
                <a:latin typeface="Cambria"/>
              </a:rPr>
              <a:t>Answering Analysis Questions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74519"/>
            <a:ext cx="5166360" cy="4526280"/>
          </a:xfrm>
          <a:prstGeom prst="roundRect">
            <a:avLst>
              <a:gd name="adj" fmla="val 6000"/>
            </a:avLst>
          </a:prstGeom>
          <a:solidFill>
            <a:srgbClr val="E6E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9400" rIns="279400" tIns="228600" bIns="228600" wrap="square"/>
          <a:lstStyle/>
          <a:p>
            <a:pPr algn="ctr" indent="-203200" marL="203200">
              <a:spcAft>
                <a:spcPts val="900"/>
              </a:spcAft>
              <a:buClr>
                <a:srgbClr val="2F5233"/>
              </a:buClr>
              <a:buSzPct val="90000"/>
              <a:buFont typeface="Arial"/>
              <a:buChar char="–"/>
            </a:pPr>
            <a:r>
              <a:rPr sz="1250" b="0" i="0">
                <a:solidFill>
                  <a:srgbClr val="20291F"/>
                </a:solidFill>
                <a:latin typeface="Calibri"/>
              </a:rPr>
              <a:t>Feature → Evidence → Effect → Context</a:t>
            </a:r>
          </a:p>
          <a:p>
            <a:pPr indent="-203200" marL="203200">
              <a:spcAft>
                <a:spcPts val="900"/>
              </a:spcAft>
              <a:buClr>
                <a:srgbClr val="2F5233"/>
              </a:buClr>
              <a:buSzPct val="90000"/>
              <a:buFont typeface="Arial"/>
              <a:buChar char="–"/>
            </a:pPr>
            <a:r>
              <a:rPr sz="1250" b="0" i="0">
                <a:solidFill>
                  <a:srgbClr val="20291F"/>
                </a:solidFill>
                <a:latin typeface="Calibri"/>
              </a:rPr>
              <a:t>1. Name a visual feature (element/principle)</a:t>
            </a:r>
          </a:p>
          <a:p>
            <a:pPr indent="-203200" marL="203200">
              <a:spcAft>
                <a:spcPts val="900"/>
              </a:spcAft>
              <a:buClr>
                <a:srgbClr val="2F5233"/>
              </a:buClr>
              <a:buSzPct val="90000"/>
              <a:buFont typeface="Arial"/>
              <a:buChar char="–"/>
            </a:pPr>
            <a:r>
              <a:rPr sz="1250" b="0" i="0">
                <a:solidFill>
                  <a:srgbClr val="20291F"/>
                </a:solidFill>
                <a:latin typeface="Calibri"/>
              </a:rPr>
              <a:t>2. Describe specific evidence in the design</a:t>
            </a:r>
          </a:p>
          <a:p>
            <a:pPr indent="-203200" marL="203200">
              <a:spcAft>
                <a:spcPts val="900"/>
              </a:spcAft>
              <a:buClr>
                <a:srgbClr val="2F5233"/>
              </a:buClr>
              <a:buSzPct val="90000"/>
              <a:buFont typeface="Arial"/>
              <a:buChar char="–"/>
            </a:pPr>
            <a:r>
              <a:rPr sz="1250" b="0" i="0">
                <a:solidFill>
                  <a:srgbClr val="20291F"/>
                </a:solidFill>
                <a:latin typeface="Calibri"/>
              </a:rPr>
              <a:t>3. Explain the effect on the audience</a:t>
            </a:r>
          </a:p>
          <a:p>
            <a:pPr indent="-203200" marL="203200">
              <a:spcAft>
                <a:spcPts val="900"/>
              </a:spcAft>
              <a:buClr>
                <a:srgbClr val="2F5233"/>
              </a:buClr>
              <a:buSzPct val="90000"/>
              <a:buFont typeface="Arial"/>
              <a:buChar char="–"/>
            </a:pPr>
            <a:r>
              <a:rPr sz="1250" b="0" i="0">
                <a:solidFill>
                  <a:srgbClr val="20291F"/>
                </a:solidFill>
                <a:latin typeface="Calibri"/>
              </a:rPr>
              <a:t>4. Link to the design's context or purpose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80760" y="1874519"/>
            <a:ext cx="5166360" cy="4526280"/>
          </a:xfrm>
          <a:prstGeom prst="roundRect">
            <a:avLst>
              <a:gd name="adj" fmla="val 6000"/>
            </a:avLst>
          </a:prstGeom>
          <a:solidFill>
            <a:srgbClr val="DB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9400" rIns="279400" tIns="228600" bIns="228600" wrap="square"/>
          <a:lstStyle/>
          <a:p>
            <a:pPr algn="ctr">
              <a:spcAft>
                <a:spcPts val="900"/>
              </a:spcAft>
              <a:buNone/>
            </a:pPr>
            <a:r>
              <a:rPr sz="1250" b="0" i="1">
                <a:solidFill>
                  <a:srgbClr val="20291F"/>
                </a:solidFill>
                <a:latin typeface="Calibri"/>
              </a:rPr>
              <a:t>Sentence Starters</a:t>
            </a:r>
          </a:p>
          <a:p>
            <a:pPr indent="-203200" marL="203200">
              <a:spcAft>
                <a:spcPts val="900"/>
              </a:spcAft>
              <a:buClr>
                <a:srgbClr val="7FA3B0"/>
              </a:buClr>
              <a:buSzPct val="90000"/>
              <a:buFont typeface="Arial"/>
              <a:buChar char="–"/>
            </a:pPr>
            <a:r>
              <a:rPr sz="1250" b="0" i="0">
                <a:solidFill>
                  <a:srgbClr val="20291F"/>
                </a:solidFill>
                <a:latin typeface="Calibri"/>
              </a:rPr>
              <a:t>"The original design uses [element/principle] to..."</a:t>
            </a:r>
          </a:p>
          <a:p>
            <a:pPr indent="-203200" marL="203200">
              <a:spcAft>
                <a:spcPts val="900"/>
              </a:spcAft>
              <a:buClr>
                <a:srgbClr val="7FA3B0"/>
              </a:buClr>
              <a:buSzPct val="90000"/>
              <a:buFont typeface="Arial"/>
              <a:buChar char="–"/>
            </a:pPr>
            <a:r>
              <a:rPr sz="1250" b="0" i="0">
                <a:solidFill>
                  <a:srgbClr val="20291F"/>
                </a:solidFill>
                <a:latin typeface="Calibri"/>
              </a:rPr>
              <a:t>"If reconceptualised for [new audience], this could..."</a:t>
            </a:r>
          </a:p>
          <a:p>
            <a:pPr indent="-203200" marL="203200">
              <a:spcAft>
                <a:spcPts val="900"/>
              </a:spcAft>
              <a:buClr>
                <a:srgbClr val="7FA3B0"/>
              </a:buClr>
              <a:buSzPct val="90000"/>
              <a:buFont typeface="Arial"/>
              <a:buChar char="–"/>
            </a:pPr>
            <a:r>
              <a:rPr sz="1250" b="0" i="0">
                <a:solidFill>
                  <a:srgbClr val="20291F"/>
                </a:solidFill>
                <a:latin typeface="Calibri"/>
              </a:rPr>
              <a:t>"Reinventing this in [new field/medium] would require..."</a:t>
            </a:r>
          </a:p>
        </p:txBody>
      </p:sp>
      <p:sp>
        <p:nvSpPr>
          <p:cNvPr id="6" name="Oval 5"/>
          <p:cNvSpPr/>
          <p:nvPr/>
        </p:nvSpPr>
        <p:spPr>
          <a:xfrm>
            <a:off x="5532120" y="3840480"/>
            <a:ext cx="685800" cy="685800"/>
          </a:xfrm>
          <a:prstGeom prst="ellipse">
            <a:avLst/>
          </a:prstGeom>
          <a:solidFill>
            <a:srgbClr val="C97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85800" y="502920"/>
            <a:ext cx="3291840" cy="457200"/>
          </a:xfrm>
          <a:prstGeom prst="roundRect">
            <a:avLst>
              <a:gd name="adj" fmla="val 50000"/>
            </a:avLst>
          </a:prstGeom>
          <a:solidFill>
            <a:srgbClr val="2F5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ANALYSIS &amp; REINTERPRETATION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20291F"/>
                </a:solidFill>
                <a:latin typeface="Cambria"/>
              </a:rPr>
              <a:t>Analysis &amp; Reinterpretation — Quick Reference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74519"/>
            <a:ext cx="2500884" cy="1554480"/>
          </a:xfrm>
          <a:prstGeom prst="roundRect">
            <a:avLst>
              <a:gd name="adj" fmla="val 12000"/>
            </a:avLst>
          </a:prstGeom>
          <a:solidFill>
            <a:srgbClr val="DFE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01600" bIns="101600"/>
          <a:lstStyle/>
          <a:p>
            <a:pPr algn="ctr"/>
            <a:r>
              <a:rPr b="1" sz="1300">
                <a:solidFill>
                  <a:srgbClr val="254128"/>
                </a:solidFill>
                <a:latin typeface="Calibri"/>
              </a:rPr>
              <a:t>Analysis</a:t>
            </a:r>
          </a:p>
          <a:p>
            <a:r>
              <a:rPr sz="1050">
                <a:solidFill>
                  <a:srgbClr val="20291F"/>
                </a:solidFill>
                <a:latin typeface="Calibri"/>
              </a:rPr>
              <a:t>Purpose, audience, elements/principles, materials, context.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87852" y="1874519"/>
            <a:ext cx="2500884" cy="1554480"/>
          </a:xfrm>
          <a:prstGeom prst="roundRect">
            <a:avLst>
              <a:gd name="adj" fmla="val 12000"/>
            </a:avLst>
          </a:prstGeom>
          <a:solidFill>
            <a:srgbClr val="F6E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01600" bIns="101600"/>
          <a:lstStyle/>
          <a:p>
            <a:pPr algn="ctr"/>
            <a:r>
              <a:rPr b="1" sz="1300">
                <a:solidFill>
                  <a:srgbClr val="A05C30"/>
                </a:solidFill>
                <a:latin typeface="Calibri"/>
              </a:rPr>
              <a:t>Reconceptualise</a:t>
            </a:r>
          </a:p>
          <a:p>
            <a:r>
              <a:rPr sz="1050">
                <a:solidFill>
                  <a:srgbClr val="20291F"/>
                </a:solidFill>
                <a:latin typeface="Calibri"/>
              </a:rPr>
              <a:t>Same core identity, new audience/purpose.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89904" y="1874519"/>
            <a:ext cx="2500884" cy="1554480"/>
          </a:xfrm>
          <a:prstGeom prst="roundRect">
            <a:avLst>
              <a:gd name="adj" fmla="val 12000"/>
            </a:avLst>
          </a:prstGeom>
          <a:solidFill>
            <a:srgbClr val="EB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01600" bIns="101600"/>
          <a:lstStyle/>
          <a:p>
            <a:pPr algn="ctr"/>
            <a:r>
              <a:rPr b="1" sz="1300">
                <a:solidFill>
                  <a:srgbClr val="65828C"/>
                </a:solidFill>
                <a:latin typeface="Calibri"/>
              </a:rPr>
              <a:t>Reinvent</a:t>
            </a:r>
          </a:p>
          <a:p>
            <a:r>
              <a:rPr sz="1050">
                <a:solidFill>
                  <a:srgbClr val="20291F"/>
                </a:solidFill>
                <a:latin typeface="Calibri"/>
              </a:rPr>
              <a:t>Radical transformation of form/medium.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791956" y="1874519"/>
            <a:ext cx="2500884" cy="1554480"/>
          </a:xfrm>
          <a:prstGeom prst="roundRect">
            <a:avLst>
              <a:gd name="adj" fmla="val 12000"/>
            </a:avLst>
          </a:prstGeom>
          <a:solidFill>
            <a:srgbClr val="DFE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01600" bIns="101600"/>
          <a:lstStyle/>
          <a:p>
            <a:pPr algn="ctr"/>
            <a:r>
              <a:rPr b="1" sz="1300">
                <a:solidFill>
                  <a:srgbClr val="254128"/>
                </a:solidFill>
                <a:latin typeface="Calibri"/>
              </a:rPr>
              <a:t>Justify</a:t>
            </a:r>
          </a:p>
          <a:p>
            <a:r>
              <a:rPr sz="1050">
                <a:solidFill>
                  <a:srgbClr val="20291F"/>
                </a:solidFill>
                <a:latin typeface="Calibri"/>
              </a:rPr>
              <a:t>Always explain why the change suits the new context.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3675887"/>
            <a:ext cx="10607040" cy="2862073"/>
          </a:xfrm>
          <a:prstGeom prst="roundRect">
            <a:avLst>
              <a:gd name="adj" fmla="val 10000"/>
            </a:avLst>
          </a:prstGeom>
          <a:solidFill>
            <a:srgbClr val="F6E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3200" rIns="203200" tIns="101600" bIns="101600" wrap="square"/>
          <a:lstStyle/>
          <a:p>
            <a:pPr algn="ctr" indent="-203200" marL="203200">
              <a:spcAft>
                <a:spcPts val="900"/>
              </a:spcAft>
              <a:buClr>
                <a:srgbClr val="C9743D"/>
              </a:buClr>
              <a:buSzPct val="90000"/>
              <a:buFont typeface="Arial"/>
              <a:buChar char="●"/>
            </a:pPr>
            <a:r>
              <a:rPr sz="1200" b="0" i="0">
                <a:solidFill>
                  <a:srgbClr val="20291F"/>
                </a:solidFill>
                <a:latin typeface="Calibri"/>
              </a:rPr>
              <a:t> Reminder: this analysis directly feeds into the </a:t>
            </a:r>
            <a:r>
              <a:rPr sz="1200" b="1" i="0">
                <a:solidFill>
                  <a:srgbClr val="AA6233"/>
                </a:solidFill>
                <a:latin typeface="Calibri"/>
              </a:rPr>
              <a:t>brief you write for your own folio work</a:t>
            </a:r>
            <a:r>
              <a:rPr sz="1200" b="0" i="0">
                <a:solidFill>
                  <a:srgbClr val="20291F"/>
                </a:solidFill>
                <a:latin typeface="Calibri"/>
              </a:rPr>
              <a:t> in AOS 2. 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FA3B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914400" y="-914400"/>
            <a:ext cx="2103120" cy="2103120"/>
          </a:xfrm>
          <a:prstGeom prst="ellipse">
            <a:avLst/>
          </a:prstGeom>
          <a:solidFill>
            <a:srgbClr val="6F8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1064240" y="5852160"/>
            <a:ext cx="1737360" cy="1737360"/>
          </a:xfrm>
          <a:prstGeom prst="ellipse">
            <a:avLst/>
          </a:prstGeom>
          <a:solidFill>
            <a:srgbClr val="6F8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85800" y="457200"/>
            <a:ext cx="1696212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400">
                <a:solidFill>
                  <a:srgbClr val="526972"/>
                </a:solidFill>
                <a:latin typeface="Calibri"/>
              </a:rPr>
              <a:t>CHALLENGE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14300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mbria"/>
              </a:rPr>
              <a:t>4-Minute Analysis Sprint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48840"/>
            <a:ext cx="960120" cy="411480"/>
          </a:xfrm>
          <a:prstGeom prst="roundRect">
            <a:avLst>
              <a:gd name="adj" fmla="val 50000"/>
            </a:avLst>
          </a:prstGeom>
          <a:solidFill>
            <a:srgbClr val="5F7A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4 MIN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783080" y="2148840"/>
            <a:ext cx="1463040" cy="411480"/>
          </a:xfrm>
          <a:prstGeom prst="roundRect">
            <a:avLst>
              <a:gd name="adj" fmla="val 50000"/>
            </a:avLst>
          </a:prstGeom>
          <a:solidFill>
            <a:srgbClr val="5F7A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INDIVIDUAL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788920"/>
            <a:ext cx="10607040" cy="3246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04800" rIns="304800" tIns="203200" bIns="203200" wrap="square"/>
          <a:lstStyle/>
          <a:p>
            <a:pPr algn="ctr" indent="-203200" marL="203200">
              <a:spcAft>
                <a:spcPts val="900"/>
              </a:spcAft>
              <a:buClr>
                <a:srgbClr val="7FA3B0"/>
              </a:buClr>
              <a:buSzPct val="90000"/>
              <a:buFont typeface="Arial"/>
              <a:buChar char="●"/>
            </a:pPr>
            <a:r>
              <a:rPr sz="1450" b="0" i="0">
                <a:solidFill>
                  <a:srgbClr val="20291F"/>
                </a:solidFill>
                <a:latin typeface="Calibri"/>
              </a:rPr>
              <a:t>You are shown a mystery image for 4 minutes only.</a:t>
            </a:r>
          </a:p>
          <a:p>
            <a:pPr indent="-203200" marL="203200">
              <a:spcAft>
                <a:spcPts val="900"/>
              </a:spcAft>
              <a:buClr>
                <a:srgbClr val="7FA3B0"/>
              </a:buClr>
              <a:buSzPct val="90000"/>
              <a:buFont typeface="Arial"/>
              <a:buChar char="●"/>
            </a:pPr>
            <a:r>
              <a:rPr sz="1450" b="0" i="0">
                <a:solidFill>
                  <a:srgbClr val="20291F"/>
                </a:solidFill>
                <a:latin typeface="Calibri"/>
              </a:rPr>
              <a:t>Analyse it using the framework: purpose/audience, elements/principles, materials/methods, context.</a:t>
            </a:r>
          </a:p>
          <a:p>
            <a:pPr indent="-203200" marL="203200">
              <a:spcAft>
                <a:spcPts val="900"/>
              </a:spcAft>
              <a:buClr>
                <a:srgbClr val="7FA3B0"/>
              </a:buClr>
              <a:buSzPct val="90000"/>
              <a:buFont typeface="Arial"/>
              <a:buChar char="●"/>
            </a:pPr>
            <a:r>
              <a:rPr sz="1450" b="0" i="0">
                <a:solidFill>
                  <a:srgbClr val="20291F"/>
                </a:solidFill>
                <a:latin typeface="Calibri"/>
              </a:rPr>
              <a:t>Write down just one strong analysis sentence using Name -&gt; Evidence -&gt; Effect.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217920"/>
            <a:ext cx="106070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 i="1">
                <a:solidFill>
                  <a:srgbClr val="FFFFFF"/>
                </a:solidFill>
                <a:latin typeface="Calibri"/>
              </a:rPr>
              <a:t>Debrief: Read out your sentence — did others focus on different features?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FA3B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914400" y="-914400"/>
            <a:ext cx="2103120" cy="2103120"/>
          </a:xfrm>
          <a:prstGeom prst="ellipse">
            <a:avLst/>
          </a:prstGeom>
          <a:solidFill>
            <a:srgbClr val="6F8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1064240" y="5852160"/>
            <a:ext cx="1737360" cy="1737360"/>
          </a:xfrm>
          <a:prstGeom prst="ellipse">
            <a:avLst/>
          </a:prstGeom>
          <a:solidFill>
            <a:srgbClr val="6F8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85800" y="457200"/>
            <a:ext cx="1033271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400">
                <a:solidFill>
                  <a:srgbClr val="526972"/>
                </a:solidFill>
                <a:latin typeface="Calibri"/>
              </a:rPr>
              <a:t>GAME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14300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mbria"/>
              </a:rPr>
              <a:t>Reinvent This!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48840"/>
            <a:ext cx="960120" cy="411480"/>
          </a:xfrm>
          <a:prstGeom prst="roundRect">
            <a:avLst>
              <a:gd name="adj" fmla="val 50000"/>
            </a:avLst>
          </a:prstGeom>
          <a:solidFill>
            <a:srgbClr val="5F7A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5 MIN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783080" y="2148840"/>
            <a:ext cx="960120" cy="411480"/>
          </a:xfrm>
          <a:prstGeom prst="roundRect">
            <a:avLst>
              <a:gd name="adj" fmla="val 50000"/>
            </a:avLst>
          </a:prstGeom>
          <a:solidFill>
            <a:srgbClr val="5F7A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PAIRS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788920"/>
            <a:ext cx="10607040" cy="3246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04800" rIns="304800" tIns="203200" bIns="203200" wrap="square"/>
          <a:lstStyle/>
          <a:p>
            <a:pPr algn="ctr" indent="-203200" marL="203200">
              <a:spcAft>
                <a:spcPts val="900"/>
              </a:spcAft>
              <a:buClr>
                <a:srgbClr val="7FA3B0"/>
              </a:buClr>
              <a:buSzPct val="90000"/>
              <a:buFont typeface="Arial"/>
              <a:buChar char="●"/>
            </a:pPr>
            <a:r>
              <a:rPr sz="1450" b="0" i="0">
                <a:solidFill>
                  <a:srgbClr val="20291F"/>
                </a:solidFill>
                <a:latin typeface="Calibri"/>
              </a:rPr>
              <a:t>Pick any everyday object in the room.</a:t>
            </a:r>
          </a:p>
          <a:p>
            <a:pPr indent="-203200" marL="203200">
              <a:spcAft>
                <a:spcPts val="900"/>
              </a:spcAft>
              <a:buClr>
                <a:srgbClr val="7FA3B0"/>
              </a:buClr>
              <a:buSzPct val="90000"/>
              <a:buFont typeface="Arial"/>
              <a:buChar char="●"/>
            </a:pPr>
            <a:r>
              <a:rPr sz="1450" b="0" i="0">
                <a:solidFill>
                  <a:srgbClr val="20291F"/>
                </a:solidFill>
                <a:latin typeface="Calibri"/>
              </a:rPr>
              <a:t>In your pair, brainstorm one way you could reconceptualise it and one way you could reinvent it.</a:t>
            </a:r>
          </a:p>
          <a:p>
            <a:pPr indent="-203200" marL="203200">
              <a:spcAft>
                <a:spcPts val="900"/>
              </a:spcAft>
              <a:buClr>
                <a:srgbClr val="7FA3B0"/>
              </a:buClr>
              <a:buSzPct val="90000"/>
              <a:buFont typeface="Arial"/>
              <a:buChar char="●"/>
            </a:pPr>
            <a:r>
              <a:rPr sz="1450" b="0" i="0">
                <a:solidFill>
                  <a:srgbClr val="20291F"/>
                </a:solidFill>
                <a:latin typeface="Calibri"/>
              </a:rPr>
              <a:t>Be ready to explain the difference between your two ideas.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217920"/>
            <a:ext cx="106070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 i="1">
                <a:solidFill>
                  <a:srgbClr val="FFFFFF"/>
                </a:solidFill>
                <a:latin typeface="Calibri"/>
              </a:rPr>
              <a:t>Debrief: Which was harder to think of — the reconceptualisation or the reinvention?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F52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92640" y="-914400"/>
            <a:ext cx="2926080" cy="2926080"/>
          </a:xfrm>
          <a:prstGeom prst="ellipse">
            <a:avLst/>
          </a:prstGeom>
          <a:solidFill>
            <a:srgbClr val="294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914400" y="4937760"/>
            <a:ext cx="2377440" cy="2377440"/>
          </a:xfrm>
          <a:prstGeom prst="ellipse">
            <a:avLst/>
          </a:prstGeom>
          <a:solidFill>
            <a:srgbClr val="294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051560"/>
            <a:ext cx="118872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ctr"/>
            <a:r>
              <a:rPr sz="1400" b="1">
                <a:solidFill>
                  <a:srgbClr val="254128"/>
                </a:solidFill>
                <a:latin typeface="Calibri"/>
              </a:rPr>
              <a:t>02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011680"/>
            <a:ext cx="10515600" cy="2834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697480"/>
            <a:ext cx="9601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 i="0">
                <a:solidFill>
                  <a:srgbClr val="27452B"/>
                </a:solidFill>
                <a:latin typeface="Cambria"/>
              </a:rPr>
              <a:t>The Brief &amp; Ideation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657600"/>
            <a:ext cx="9601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>
                <a:solidFill>
                  <a:srgbClr val="6B6B6B"/>
                </a:solidFill>
                <a:latin typeface="Calibri"/>
              </a:rPr>
              <a:t>AOS 2 - Design Industry Practice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85800" y="502920"/>
            <a:ext cx="3291840" cy="457200"/>
          </a:xfrm>
          <a:prstGeom prst="roundRect">
            <a:avLst>
              <a:gd name="adj" fmla="val 50000"/>
            </a:avLst>
          </a:prstGeom>
          <a:solidFill>
            <a:srgbClr val="2F5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THE BRIEF &amp; IDEATION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20291F"/>
                </a:solidFill>
                <a:latin typeface="Cambria"/>
              </a:rPr>
              <a:t>Writing Your Own Brief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74519"/>
            <a:ext cx="5166360" cy="4526280"/>
          </a:xfrm>
          <a:prstGeom prst="roundRect">
            <a:avLst>
              <a:gd name="adj" fmla="val 6000"/>
            </a:avLst>
          </a:prstGeom>
          <a:solidFill>
            <a:srgbClr val="E6E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9400" rIns="279400" tIns="228600" bIns="228600" wrap="square"/>
          <a:lstStyle/>
          <a:p>
            <a:pPr algn="ctr" indent="-203200" marL="203200">
              <a:spcAft>
                <a:spcPts val="900"/>
              </a:spcAft>
              <a:buClr>
                <a:srgbClr val="2F5233"/>
              </a:buClr>
              <a:buSzPct val="90000"/>
              <a:buFont typeface="Arial"/>
              <a:buChar char="●"/>
            </a:pPr>
            <a:r>
              <a:rPr sz="1400" b="0" i="0">
                <a:solidFill>
                  <a:srgbClr val="20291F"/>
                </a:solidFill>
                <a:latin typeface="Calibri"/>
              </a:rPr>
              <a:t>Using your Unit 3 AOS 1 analysis and reinterpretation, you write a </a:t>
            </a:r>
            <a:r>
              <a:rPr sz="1400" b="1" i="0">
                <a:solidFill>
                  <a:srgbClr val="27452B"/>
                </a:solidFill>
                <a:latin typeface="Calibri"/>
              </a:rPr>
              <a:t>design brief</a:t>
            </a:r>
            <a:r>
              <a:rPr sz="1400" b="0" i="0">
                <a:solidFill>
                  <a:srgbClr val="20291F"/>
                </a:solidFill>
                <a:latin typeface="Calibri"/>
              </a:rPr>
              <a:t> that will guide your folio work across Units 3 and 4.</a:t>
            </a:r>
          </a:p>
          <a:p>
            <a:pPr indent="-203200" marL="203200">
              <a:spcAft>
                <a:spcPts val="900"/>
              </a:spcAft>
              <a:buClr>
                <a:srgbClr val="2F5233"/>
              </a:buClr>
              <a:buSzPct val="90000"/>
              <a:buFont typeface="Arial"/>
              <a:buChar char="●"/>
            </a:pPr>
            <a:r>
              <a:rPr sz="1400" b="0" i="0">
                <a:solidFill>
                  <a:srgbClr val="20291F"/>
                </a:solidFill>
                <a:latin typeface="Calibri"/>
              </a:rPr>
              <a:t>This brief must be specific enough to guide two distinct concepts, but open enough to allow genuine creative exploration.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80760" y="1874519"/>
            <a:ext cx="5166360" cy="4526280"/>
          </a:xfrm>
          <a:prstGeom prst="roundRect">
            <a:avLst>
              <a:gd name="adj" fmla="val 6000"/>
            </a:avLst>
          </a:prstGeom>
          <a:solidFill>
            <a:srgbClr val="DB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9400" rIns="279400" tIns="228600" bIns="228600" wrap="square"/>
          <a:lstStyle/>
          <a:p>
            <a:pPr algn="ctr" indent="-203200" marL="203200">
              <a:spcAft>
                <a:spcPts val="900"/>
              </a:spcAft>
              <a:buClr>
                <a:srgbClr val="7FA3B0"/>
              </a:buClr>
              <a:buSzPct val="90000"/>
              <a:buFont typeface="Arial"/>
              <a:buChar char="●"/>
            </a:pPr>
            <a:r>
              <a:rPr sz="1400" b="0" i="0">
                <a:solidFill>
                  <a:srgbClr val="20291F"/>
                </a:solidFill>
                <a:latin typeface="Calibri"/>
              </a:rPr>
              <a:t>Your Brief Must State</a:t>
            </a:r>
          </a:p>
          <a:p>
            <a:pPr indent="-203200" marL="203200">
              <a:spcAft>
                <a:spcPts val="900"/>
              </a:spcAft>
              <a:buClr>
                <a:srgbClr val="7FA3B0"/>
              </a:buClr>
              <a:buSzPct val="90000"/>
              <a:buFont typeface="Arial"/>
              <a:buChar char="–"/>
            </a:pPr>
            <a:r>
              <a:rPr sz="1250" b="0" i="0">
                <a:solidFill>
                  <a:srgbClr val="20291F"/>
                </a:solidFill>
                <a:latin typeface="Calibri"/>
              </a:rPr>
              <a:t>Client / context</a:t>
            </a:r>
          </a:p>
          <a:p>
            <a:pPr indent="-203200" marL="203200">
              <a:spcAft>
                <a:spcPts val="900"/>
              </a:spcAft>
              <a:buClr>
                <a:srgbClr val="7FA3B0"/>
              </a:buClr>
              <a:buSzPct val="90000"/>
              <a:buFont typeface="Arial"/>
              <a:buChar char="–"/>
            </a:pPr>
            <a:r>
              <a:rPr sz="1250" b="0" i="0">
                <a:solidFill>
                  <a:srgbClr val="20291F"/>
                </a:solidFill>
                <a:latin typeface="Calibri"/>
              </a:rPr>
              <a:t>Target audience</a:t>
            </a:r>
          </a:p>
          <a:p>
            <a:pPr indent="-203200" marL="203200">
              <a:spcAft>
                <a:spcPts val="900"/>
              </a:spcAft>
              <a:buClr>
                <a:srgbClr val="7FA3B0"/>
              </a:buClr>
              <a:buSzPct val="90000"/>
              <a:buFont typeface="Arial"/>
              <a:buChar char="–"/>
            </a:pPr>
            <a:r>
              <a:rPr sz="1250" b="0" i="0">
                <a:solidFill>
                  <a:srgbClr val="20291F"/>
                </a:solidFill>
                <a:latin typeface="Calibri"/>
              </a:rPr>
              <a:t>Purpose &amp; communication objectives</a:t>
            </a:r>
          </a:p>
          <a:p>
            <a:pPr indent="-203200" marL="203200">
              <a:spcAft>
                <a:spcPts val="900"/>
              </a:spcAft>
              <a:buClr>
                <a:srgbClr val="7FA3B0"/>
              </a:buClr>
              <a:buSzPct val="90000"/>
              <a:buFont typeface="Arial"/>
              <a:buChar char="–"/>
            </a:pPr>
            <a:r>
              <a:rPr sz="1250" b="0" i="0">
                <a:solidFill>
                  <a:srgbClr val="20291F"/>
                </a:solidFill>
                <a:latin typeface="Calibri"/>
              </a:rPr>
              <a:t>Constraints (time, materials, format)</a:t>
            </a:r>
          </a:p>
          <a:p>
            <a:pPr indent="-203200" marL="203200">
              <a:spcAft>
                <a:spcPts val="900"/>
              </a:spcAft>
              <a:buClr>
                <a:srgbClr val="7FA3B0"/>
              </a:buClr>
              <a:buSzPct val="90000"/>
              <a:buFont typeface="Arial"/>
              <a:buChar char="–"/>
            </a:pPr>
            <a:r>
              <a:rPr sz="1250" b="0" i="0">
                <a:solidFill>
                  <a:srgbClr val="20291F"/>
                </a:solidFill>
                <a:latin typeface="Calibri"/>
              </a:rPr>
              <a:t>Two (2) obligatory design fields/outcomes</a:t>
            </a:r>
          </a:p>
        </p:txBody>
      </p:sp>
      <p:sp>
        <p:nvSpPr>
          <p:cNvPr id="6" name="Oval 5"/>
          <p:cNvSpPr/>
          <p:nvPr/>
        </p:nvSpPr>
        <p:spPr>
          <a:xfrm>
            <a:off x="5532120" y="3840480"/>
            <a:ext cx="685800" cy="685800"/>
          </a:xfrm>
          <a:prstGeom prst="ellipse">
            <a:avLst/>
          </a:prstGeom>
          <a:solidFill>
            <a:srgbClr val="C97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85800" y="502920"/>
            <a:ext cx="3291840" cy="457200"/>
          </a:xfrm>
          <a:prstGeom prst="roundRect">
            <a:avLst>
              <a:gd name="adj" fmla="val 50000"/>
            </a:avLst>
          </a:prstGeom>
          <a:solidFill>
            <a:srgbClr val="2F5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THE BRIEF &amp; IDEATION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20291F"/>
                </a:solidFill>
                <a:latin typeface="Cambria"/>
              </a:rPr>
              <a:t>Deconstructing a Brief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74519"/>
            <a:ext cx="5166360" cy="4526280"/>
          </a:xfrm>
          <a:prstGeom prst="roundRect">
            <a:avLst>
              <a:gd name="adj" fmla="val 6000"/>
            </a:avLst>
          </a:prstGeom>
          <a:solidFill>
            <a:srgbClr val="E6E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9400" rIns="279400" tIns="228600" bIns="228600" wrap="square"/>
          <a:lstStyle/>
          <a:p>
            <a:pPr algn="ctr" indent="-203200" marL="203200">
              <a:spcAft>
                <a:spcPts val="900"/>
              </a:spcAft>
              <a:buClr>
                <a:srgbClr val="2F5233"/>
              </a:buClr>
              <a:buSzPct val="90000"/>
              <a:buFont typeface="Arial"/>
              <a:buChar char="●"/>
            </a:pPr>
            <a:r>
              <a:rPr sz="1400" b="0" i="0">
                <a:solidFill>
                  <a:srgbClr val="20291F"/>
                </a:solidFill>
                <a:latin typeface="Calibri"/>
              </a:rPr>
              <a:t>Before generating ideas, break the brief into its component parts to ensure nothing is missed.</a:t>
            </a:r>
          </a:p>
          <a:p>
            <a:pPr indent="-203200" marL="203200">
              <a:spcAft>
                <a:spcPts val="900"/>
              </a:spcAft>
              <a:buClr>
                <a:srgbClr val="2F5233"/>
              </a:buClr>
              <a:buSzPct val="90000"/>
              <a:buFont typeface="Arial"/>
              <a:buChar char="–"/>
            </a:pPr>
            <a:r>
              <a:rPr sz="1250" b="1" i="0">
                <a:solidFill>
                  <a:srgbClr val="27452B"/>
                </a:solidFill>
                <a:latin typeface="Calibri"/>
              </a:rPr>
              <a:t>Who</a:t>
            </a:r>
            <a:r>
              <a:rPr sz="1250" b="0" i="0">
                <a:solidFill>
                  <a:srgbClr val="20291F"/>
                </a:solidFill>
                <a:latin typeface="Calibri"/>
              </a:rPr>
              <a:t> — the target audience and their needs</a:t>
            </a:r>
          </a:p>
          <a:p>
            <a:pPr indent="-203200" marL="203200">
              <a:spcAft>
                <a:spcPts val="900"/>
              </a:spcAft>
              <a:buClr>
                <a:srgbClr val="2F5233"/>
              </a:buClr>
              <a:buSzPct val="90000"/>
              <a:buFont typeface="Arial"/>
              <a:buChar char="–"/>
            </a:pPr>
            <a:r>
              <a:rPr sz="1250" b="1" i="0">
                <a:solidFill>
                  <a:srgbClr val="27452B"/>
                </a:solidFill>
                <a:latin typeface="Calibri"/>
              </a:rPr>
              <a:t>What</a:t>
            </a:r>
            <a:r>
              <a:rPr sz="1250" b="0" i="0">
                <a:solidFill>
                  <a:srgbClr val="20291F"/>
                </a:solidFill>
                <a:latin typeface="Calibri"/>
              </a:rPr>
              <a:t> — the required outcomes (obligatory design fields)</a:t>
            </a:r>
          </a:p>
          <a:p>
            <a:pPr indent="-203200" marL="203200">
              <a:spcAft>
                <a:spcPts val="900"/>
              </a:spcAft>
              <a:buClr>
                <a:srgbClr val="2F5233"/>
              </a:buClr>
              <a:buSzPct val="90000"/>
              <a:buFont typeface="Arial"/>
              <a:buChar char="–"/>
            </a:pPr>
            <a:r>
              <a:rPr sz="1250" b="1" i="0">
                <a:solidFill>
                  <a:srgbClr val="27452B"/>
                </a:solidFill>
                <a:latin typeface="Calibri"/>
              </a:rPr>
              <a:t>Why</a:t>
            </a:r>
            <a:r>
              <a:rPr sz="1250" b="0" i="0">
                <a:solidFill>
                  <a:srgbClr val="20291F"/>
                </a:solidFill>
                <a:latin typeface="Calibri"/>
              </a:rPr>
              <a:t> — the purpose and desired effect</a:t>
            </a:r>
          </a:p>
          <a:p>
            <a:pPr indent="-203200" marL="203200">
              <a:spcAft>
                <a:spcPts val="900"/>
              </a:spcAft>
              <a:buClr>
                <a:srgbClr val="2F5233"/>
              </a:buClr>
              <a:buSzPct val="90000"/>
              <a:buFont typeface="Arial"/>
              <a:buChar char="–"/>
            </a:pPr>
            <a:r>
              <a:rPr sz="1250" b="1" i="0">
                <a:solidFill>
                  <a:srgbClr val="27452B"/>
                </a:solidFill>
                <a:latin typeface="Calibri"/>
              </a:rPr>
              <a:t>Constraints</a:t>
            </a:r>
            <a:r>
              <a:rPr sz="1250" b="0" i="0">
                <a:solidFill>
                  <a:srgbClr val="20291F"/>
                </a:solidFill>
                <a:latin typeface="Calibri"/>
              </a:rPr>
              <a:t> — what limits the possible solutions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80760" y="1874519"/>
            <a:ext cx="5166360" cy="4526280"/>
          </a:xfrm>
          <a:prstGeom prst="roundRect">
            <a:avLst>
              <a:gd name="adj" fmla="val 6000"/>
            </a:avLst>
          </a:prstGeom>
          <a:solidFill>
            <a:srgbClr val="DB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9400" rIns="279400" tIns="228600" bIns="228600" wrap="square"/>
          <a:lstStyle/>
          <a:p>
            <a:pPr algn="ctr" indent="-203200" marL="203200">
              <a:spcAft>
                <a:spcPts val="900"/>
              </a:spcAft>
              <a:buClr>
                <a:srgbClr val="7FA3B0"/>
              </a:buClr>
              <a:buSzPct val="90000"/>
              <a:buFont typeface="Arial"/>
              <a:buChar char="●"/>
            </a:pPr>
            <a:r>
              <a:rPr sz="1400" b="0" i="0">
                <a:solidFill>
                  <a:srgbClr val="20291F"/>
                </a:solidFill>
                <a:latin typeface="Calibri"/>
              </a:rPr>
              <a:t>Exam Tip</a:t>
            </a:r>
          </a:p>
          <a:p>
            <a:pPr indent="-203200" marL="203200">
              <a:spcAft>
                <a:spcPts val="900"/>
              </a:spcAft>
              <a:buClr>
                <a:srgbClr val="7FA3B0"/>
              </a:buClr>
              <a:buSzPct val="90000"/>
              <a:buFont typeface="Arial"/>
              <a:buChar char="●"/>
            </a:pPr>
            <a:r>
              <a:rPr sz="1400" b="0" i="0">
                <a:solidFill>
                  <a:srgbClr val="20291F"/>
                </a:solidFill>
                <a:latin typeface="Calibri"/>
              </a:rPr>
              <a:t>Exam questions often ask you to identify a </a:t>
            </a:r>
            <a:r>
              <a:rPr sz="1400" b="1" i="0">
                <a:solidFill>
                  <a:srgbClr val="6B8A95"/>
                </a:solidFill>
                <a:latin typeface="Calibri"/>
              </a:rPr>
              <a:t>missing</a:t>
            </a:r>
            <a:r>
              <a:rPr sz="1400" b="0" i="0">
                <a:solidFill>
                  <a:srgbClr val="20291F"/>
                </a:solidFill>
                <a:latin typeface="Calibri"/>
              </a:rPr>
              <a:t> or </a:t>
            </a:r>
            <a:r>
              <a:rPr sz="1400" b="1" i="0">
                <a:solidFill>
                  <a:srgbClr val="6B8A95"/>
                </a:solidFill>
                <a:latin typeface="Calibri"/>
              </a:rPr>
              <a:t>unclear</a:t>
            </a:r>
            <a:r>
              <a:rPr sz="1400" b="0" i="0">
                <a:solidFill>
                  <a:srgbClr val="20291F"/>
                </a:solidFill>
                <a:latin typeface="Calibri"/>
              </a:rPr>
              <a:t> part of a given brief — practice spotting gaps in audience, purpose or constraints.</a:t>
            </a:r>
          </a:p>
        </p:txBody>
      </p:sp>
      <p:sp>
        <p:nvSpPr>
          <p:cNvPr id="6" name="Oval 5"/>
          <p:cNvSpPr/>
          <p:nvPr/>
        </p:nvSpPr>
        <p:spPr>
          <a:xfrm>
            <a:off x="5532120" y="3840480"/>
            <a:ext cx="685800" cy="685800"/>
          </a:xfrm>
          <a:prstGeom prst="ellipse">
            <a:avLst/>
          </a:prstGeom>
          <a:solidFill>
            <a:srgbClr val="C97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85800" y="502920"/>
            <a:ext cx="3291840" cy="457200"/>
          </a:xfrm>
          <a:prstGeom prst="roundRect">
            <a:avLst>
              <a:gd name="adj" fmla="val 50000"/>
            </a:avLst>
          </a:prstGeom>
          <a:solidFill>
            <a:srgbClr val="2F5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THE BRIEF &amp; IDEATION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20291F"/>
                </a:solidFill>
                <a:latin typeface="Cambria"/>
              </a:rPr>
              <a:t>Generating Two Distinct Concepts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74519"/>
            <a:ext cx="5166360" cy="4526280"/>
          </a:xfrm>
          <a:prstGeom prst="roundRect">
            <a:avLst>
              <a:gd name="adj" fmla="val 6000"/>
            </a:avLst>
          </a:prstGeom>
          <a:solidFill>
            <a:srgbClr val="E6E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9400" rIns="279400" tIns="228600" bIns="228600" wrap="square"/>
          <a:lstStyle/>
          <a:p>
            <a:pPr algn="ctr" indent="-203200" marL="203200">
              <a:spcAft>
                <a:spcPts val="900"/>
              </a:spcAft>
              <a:buClr>
                <a:srgbClr val="2F5233"/>
              </a:buClr>
              <a:buSzPct val="90000"/>
              <a:buFont typeface="Arial"/>
              <a:buChar char="●"/>
            </a:pPr>
            <a:r>
              <a:rPr sz="1400" b="0" i="0">
                <a:solidFill>
                  <a:srgbClr val="20291F"/>
                </a:solidFill>
                <a:latin typeface="Calibri"/>
              </a:rPr>
              <a:t>Your folio must show a genuine range of ideas — leading to </a:t>
            </a:r>
            <a:r>
              <a:rPr sz="1400" b="1" i="0">
                <a:solidFill>
                  <a:srgbClr val="27452B"/>
                </a:solidFill>
                <a:latin typeface="Calibri"/>
              </a:rPr>
              <a:t>two distinctly different concepts</a:t>
            </a:r>
            <a:r>
              <a:rPr sz="1400" b="0" i="0">
                <a:solidFill>
                  <a:srgbClr val="20291F"/>
                </a:solidFill>
                <a:latin typeface="Calibri"/>
              </a:rPr>
              <a:t> that will each be developed and refined in Unit 4.</a:t>
            </a:r>
          </a:p>
          <a:p>
            <a:pPr indent="-203200" marL="203200">
              <a:spcAft>
                <a:spcPts val="900"/>
              </a:spcAft>
              <a:buClr>
                <a:srgbClr val="2F5233"/>
              </a:buClr>
              <a:buSzPct val="90000"/>
              <a:buFont typeface="Arial"/>
              <a:buChar char="●"/>
            </a:pPr>
            <a:r>
              <a:rPr sz="1400" b="0" i="0">
                <a:solidFill>
                  <a:srgbClr val="20291F"/>
                </a:solidFill>
                <a:latin typeface="Calibri"/>
              </a:rPr>
              <a:t>What Makes Concepts "Distinct"?</a:t>
            </a:r>
          </a:p>
          <a:p>
            <a:pPr indent="-203200" marL="203200">
              <a:spcAft>
                <a:spcPts val="900"/>
              </a:spcAft>
              <a:buClr>
                <a:srgbClr val="2F5233"/>
              </a:buClr>
              <a:buSzPct val="90000"/>
              <a:buFont typeface="Arial"/>
              <a:buChar char="–"/>
            </a:pPr>
            <a:r>
              <a:rPr sz="1250" b="0" i="0">
                <a:solidFill>
                  <a:srgbClr val="20291F"/>
                </a:solidFill>
                <a:latin typeface="Calibri"/>
              </a:rPr>
              <a:t>Different visual approach (not just colour changes)</a:t>
            </a:r>
          </a:p>
          <a:p>
            <a:pPr indent="-203200" marL="203200">
              <a:spcAft>
                <a:spcPts val="900"/>
              </a:spcAft>
              <a:buClr>
                <a:srgbClr val="2F5233"/>
              </a:buClr>
              <a:buSzPct val="90000"/>
              <a:buFont typeface="Arial"/>
              <a:buChar char="–"/>
            </a:pPr>
            <a:r>
              <a:rPr sz="1250" b="0" i="0">
                <a:solidFill>
                  <a:srgbClr val="20291F"/>
                </a:solidFill>
                <a:latin typeface="Calibri"/>
              </a:rPr>
              <a:t>Different treatment of elements/principles</a:t>
            </a:r>
          </a:p>
          <a:p>
            <a:pPr indent="-203200" marL="203200">
              <a:spcAft>
                <a:spcPts val="900"/>
              </a:spcAft>
              <a:buClr>
                <a:srgbClr val="2F5233"/>
              </a:buClr>
              <a:buSzPct val="90000"/>
              <a:buFont typeface="Arial"/>
              <a:buChar char="–"/>
            </a:pPr>
            <a:r>
              <a:rPr sz="1250" b="0" i="0">
                <a:solidFill>
                  <a:srgbClr val="20291F"/>
                </a:solidFill>
                <a:latin typeface="Calibri"/>
              </a:rPr>
              <a:t>Different overall style or design field emphasis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80760" y="1874519"/>
            <a:ext cx="5166360" cy="4526280"/>
          </a:xfrm>
          <a:prstGeom prst="roundRect">
            <a:avLst>
              <a:gd name="adj" fmla="val 6000"/>
            </a:avLst>
          </a:prstGeom>
          <a:solidFill>
            <a:srgbClr val="DB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9400" rIns="279400" tIns="228600" bIns="228600" wrap="square"/>
          <a:lstStyle/>
          <a:p>
            <a:pPr algn="ctr" indent="-203200" marL="203200">
              <a:spcAft>
                <a:spcPts val="900"/>
              </a:spcAft>
              <a:buClr>
                <a:srgbClr val="7FA3B0"/>
              </a:buClr>
              <a:buSzPct val="90000"/>
              <a:buFont typeface="Arial"/>
              <a:buChar char="●"/>
            </a:pPr>
            <a:r>
              <a:rPr sz="1400" b="0" i="0">
                <a:solidFill>
                  <a:srgbClr val="20291F"/>
                </a:solidFill>
                <a:latin typeface="Calibri"/>
              </a:rPr>
              <a:t>Ideation Methods (recap)</a:t>
            </a:r>
          </a:p>
          <a:p>
            <a:pPr indent="-203200" marL="203200">
              <a:spcAft>
                <a:spcPts val="900"/>
              </a:spcAft>
              <a:buClr>
                <a:srgbClr val="7FA3B0"/>
              </a:buClr>
              <a:buSzPct val="90000"/>
              <a:buFont typeface="Arial"/>
              <a:buChar char="●"/>
            </a:pPr>
            <a:r>
              <a:rPr sz="1400" b="0" i="0">
                <a:solidFill>
                  <a:srgbClr val="20291F"/>
                </a:solidFill>
                <a:latin typeface="Calibri"/>
              </a:rPr>
              <a:t>Brainstorming, mind mapping, thumbnail sketches, mood boards, SCAMPER — see the Unit 1 AOS 2 Design Process materials for a full recap of these methods.</a:t>
            </a:r>
          </a:p>
        </p:txBody>
      </p:sp>
      <p:sp>
        <p:nvSpPr>
          <p:cNvPr id="6" name="Oval 5"/>
          <p:cNvSpPr/>
          <p:nvPr/>
        </p:nvSpPr>
        <p:spPr>
          <a:xfrm>
            <a:off x="5532120" y="3840480"/>
            <a:ext cx="685800" cy="685800"/>
          </a:xfrm>
          <a:prstGeom prst="ellipse">
            <a:avLst/>
          </a:prstGeom>
          <a:solidFill>
            <a:srgbClr val="C97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85800" y="502920"/>
            <a:ext cx="3291840" cy="457200"/>
          </a:xfrm>
          <a:prstGeom prst="roundRect">
            <a:avLst>
              <a:gd name="adj" fmla="val 50000"/>
            </a:avLst>
          </a:prstGeom>
          <a:solidFill>
            <a:srgbClr val="2F5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THE BRIEF &amp; IDEATION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20291F"/>
                </a:solidFill>
                <a:latin typeface="Cambria"/>
              </a:rPr>
              <a:t>Research to Support Ideation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74519"/>
            <a:ext cx="5166360" cy="4526280"/>
          </a:xfrm>
          <a:prstGeom prst="roundRect">
            <a:avLst>
              <a:gd name="adj" fmla="val 6000"/>
            </a:avLst>
          </a:prstGeom>
          <a:solidFill>
            <a:srgbClr val="E6E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9400" rIns="279400" tIns="228600" bIns="228600" wrap="square"/>
          <a:lstStyle/>
          <a:p>
            <a:pPr algn="ctr" indent="-203200" marL="203200">
              <a:spcAft>
                <a:spcPts val="900"/>
              </a:spcAft>
              <a:buClr>
                <a:srgbClr val="2F5233"/>
              </a:buClr>
              <a:buSzPct val="90000"/>
              <a:buFont typeface="Arial"/>
              <a:buChar char="●"/>
            </a:pPr>
            <a:r>
              <a:rPr sz="1400" b="0" i="0">
                <a:solidFill>
                  <a:srgbClr val="20291F"/>
                </a:solidFill>
                <a:latin typeface="Calibri"/>
              </a:rPr>
              <a:t>Targeted research ensures your ideas are grounded in the brief's real audience and context, not just personal preference.</a:t>
            </a:r>
          </a:p>
          <a:p>
            <a:pPr indent="-203200" marL="203200">
              <a:spcAft>
                <a:spcPts val="900"/>
              </a:spcAft>
              <a:buClr>
                <a:srgbClr val="2F5233"/>
              </a:buClr>
              <a:buSzPct val="90000"/>
              <a:buFont typeface="Arial"/>
              <a:buChar char="–"/>
            </a:pPr>
            <a:r>
              <a:rPr sz="1250" b="1" i="0">
                <a:solidFill>
                  <a:srgbClr val="27452B"/>
                </a:solidFill>
                <a:latin typeface="Calibri"/>
              </a:rPr>
              <a:t>Audience research</a:t>
            </a:r>
            <a:r>
              <a:rPr sz="1250" b="0" i="0">
                <a:solidFill>
                  <a:srgbClr val="20291F"/>
                </a:solidFill>
                <a:latin typeface="Calibri"/>
              </a:rPr>
              <a:t> — interviews, surveys of the target group</a:t>
            </a:r>
          </a:p>
          <a:p>
            <a:pPr indent="-203200" marL="203200">
              <a:spcAft>
                <a:spcPts val="900"/>
              </a:spcAft>
              <a:buClr>
                <a:srgbClr val="2F5233"/>
              </a:buClr>
              <a:buSzPct val="90000"/>
              <a:buFont typeface="Arial"/>
              <a:buChar char="–"/>
            </a:pPr>
            <a:r>
              <a:rPr sz="1250" b="1" i="0">
                <a:solidFill>
                  <a:srgbClr val="27452B"/>
                </a:solidFill>
                <a:latin typeface="Calibri"/>
              </a:rPr>
              <a:t>Visual research</a:t>
            </a:r>
            <a:r>
              <a:rPr sz="1250" b="0" i="0">
                <a:solidFill>
                  <a:srgbClr val="20291F"/>
                </a:solidFill>
                <a:latin typeface="Calibri"/>
              </a:rPr>
              <a:t> — mood boards, existing designs in the same field</a:t>
            </a:r>
          </a:p>
          <a:p>
            <a:pPr indent="-203200" marL="203200">
              <a:spcAft>
                <a:spcPts val="900"/>
              </a:spcAft>
              <a:buClr>
                <a:srgbClr val="2F5233"/>
              </a:buClr>
              <a:buSzPct val="90000"/>
              <a:buFont typeface="Arial"/>
              <a:buChar char="–"/>
            </a:pPr>
            <a:r>
              <a:rPr sz="1250" b="1" i="0">
                <a:solidFill>
                  <a:srgbClr val="27452B"/>
                </a:solidFill>
                <a:latin typeface="Calibri"/>
              </a:rPr>
              <a:t>Contextual research</a:t>
            </a:r>
            <a:r>
              <a:rPr sz="1250" b="0" i="0">
                <a:solidFill>
                  <a:srgbClr val="20291F"/>
                </a:solidFill>
                <a:latin typeface="Calibri"/>
              </a:rPr>
              <a:t> — relevant trends, industry practice, materials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80760" y="1874519"/>
            <a:ext cx="5166360" cy="4526280"/>
          </a:xfrm>
          <a:prstGeom prst="roundRect">
            <a:avLst>
              <a:gd name="adj" fmla="val 6000"/>
            </a:avLst>
          </a:prstGeom>
          <a:solidFill>
            <a:srgbClr val="DB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9400" rIns="279400" tIns="228600" bIns="228600" wrap="square"/>
          <a:lstStyle/>
          <a:p>
            <a:pPr algn="ctr" indent="-203200" marL="203200">
              <a:spcAft>
                <a:spcPts val="900"/>
              </a:spcAft>
              <a:buClr>
                <a:srgbClr val="7FA3B0"/>
              </a:buClr>
              <a:buSzPct val="90000"/>
              <a:buFont typeface="Arial"/>
              <a:buChar char="●"/>
            </a:pPr>
            <a:r>
              <a:rPr sz="1400" b="0" i="0">
                <a:solidFill>
                  <a:srgbClr val="20291F"/>
                </a:solidFill>
                <a:latin typeface="Calibri"/>
              </a:rPr>
              <a:t>Link your research directly back to </a:t>
            </a:r>
            <a:r>
              <a:rPr sz="1400" b="1" i="0">
                <a:solidFill>
                  <a:srgbClr val="6B8A95"/>
                </a:solidFill>
                <a:latin typeface="Calibri"/>
              </a:rPr>
              <a:t>Unit 2</a:t>
            </a:r>
            <a:r>
              <a:rPr sz="1400" b="0" i="0">
                <a:solidFill>
                  <a:srgbClr val="20291F"/>
                </a:solidFill>
                <a:latin typeface="Calibri"/>
              </a:rPr>
              <a:t> concepts — current trends and industry connections should inform your ideas.</a:t>
            </a:r>
          </a:p>
        </p:txBody>
      </p:sp>
      <p:sp>
        <p:nvSpPr>
          <p:cNvPr id="6" name="Oval 5"/>
          <p:cNvSpPr/>
          <p:nvPr/>
        </p:nvSpPr>
        <p:spPr>
          <a:xfrm>
            <a:off x="5532120" y="3840480"/>
            <a:ext cx="685800" cy="685800"/>
          </a:xfrm>
          <a:prstGeom prst="ellipse">
            <a:avLst/>
          </a:prstGeom>
          <a:solidFill>
            <a:srgbClr val="C97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85800" y="502920"/>
            <a:ext cx="3291840" cy="457200"/>
          </a:xfrm>
          <a:prstGeom prst="roundRect">
            <a:avLst>
              <a:gd name="adj" fmla="val 50000"/>
            </a:avLst>
          </a:prstGeom>
          <a:solidFill>
            <a:srgbClr val="2F5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THE BRIEF &amp; IDEATION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20291F"/>
                </a:solidFill>
                <a:latin typeface="Cambria"/>
              </a:rPr>
              <a:t>Answering Brief Questions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74519"/>
            <a:ext cx="5166360" cy="4526280"/>
          </a:xfrm>
          <a:prstGeom prst="roundRect">
            <a:avLst>
              <a:gd name="adj" fmla="val 6000"/>
            </a:avLst>
          </a:prstGeom>
          <a:solidFill>
            <a:srgbClr val="E6EA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9400" rIns="279400" tIns="228600" bIns="228600" wrap="square"/>
          <a:lstStyle/>
          <a:p>
            <a:pPr algn="ctr" indent="-203200" marL="203200">
              <a:spcAft>
                <a:spcPts val="900"/>
              </a:spcAft>
              <a:buClr>
                <a:srgbClr val="2F5233"/>
              </a:buClr>
              <a:buSzPct val="90000"/>
              <a:buFont typeface="Arial"/>
              <a:buChar char="–"/>
            </a:pPr>
            <a:r>
              <a:rPr sz="1250" b="0" i="0">
                <a:solidFill>
                  <a:srgbClr val="20291F"/>
                </a:solidFill>
                <a:latin typeface="Calibri"/>
              </a:rPr>
              <a:t>Identify → Explain → Suggest</a:t>
            </a:r>
          </a:p>
          <a:p>
            <a:pPr indent="-203200" marL="203200">
              <a:spcAft>
                <a:spcPts val="900"/>
              </a:spcAft>
              <a:buClr>
                <a:srgbClr val="2F5233"/>
              </a:buClr>
              <a:buSzPct val="90000"/>
              <a:buFont typeface="Arial"/>
              <a:buChar char="–"/>
            </a:pPr>
            <a:r>
              <a:rPr sz="1250" b="0" i="0">
                <a:solidFill>
                  <a:srgbClr val="20291F"/>
                </a:solidFill>
                <a:latin typeface="Calibri"/>
              </a:rPr>
              <a:t>1. Identify the missing/unclear brief element</a:t>
            </a:r>
          </a:p>
          <a:p>
            <a:pPr indent="-203200" marL="203200">
              <a:spcAft>
                <a:spcPts val="900"/>
              </a:spcAft>
              <a:buClr>
                <a:srgbClr val="2F5233"/>
              </a:buClr>
              <a:buSzPct val="90000"/>
              <a:buFont typeface="Arial"/>
              <a:buChar char="–"/>
            </a:pPr>
            <a:r>
              <a:rPr sz="1250" b="0" i="0">
                <a:solidFill>
                  <a:srgbClr val="20291F"/>
                </a:solidFill>
                <a:latin typeface="Calibri"/>
              </a:rPr>
              <a:t>2. Explain why it matters for the design outcome</a:t>
            </a:r>
          </a:p>
          <a:p>
            <a:pPr indent="-203200" marL="203200">
              <a:spcAft>
                <a:spcPts val="900"/>
              </a:spcAft>
              <a:buClr>
                <a:srgbClr val="2F5233"/>
              </a:buClr>
              <a:buSzPct val="90000"/>
              <a:buFont typeface="Arial"/>
              <a:buChar char="–"/>
            </a:pPr>
            <a:r>
              <a:rPr sz="1250" b="0" i="0">
                <a:solidFill>
                  <a:srgbClr val="20291F"/>
                </a:solidFill>
                <a:latin typeface="Calibri"/>
              </a:rPr>
              <a:t>3. Suggest what information should be added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080760" y="1874519"/>
            <a:ext cx="5166360" cy="4526280"/>
          </a:xfrm>
          <a:prstGeom prst="roundRect">
            <a:avLst>
              <a:gd name="adj" fmla="val 6000"/>
            </a:avLst>
          </a:prstGeom>
          <a:solidFill>
            <a:srgbClr val="DBE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9400" rIns="279400" tIns="228600" bIns="228600" wrap="square"/>
          <a:lstStyle/>
          <a:p>
            <a:pPr algn="ctr">
              <a:spcAft>
                <a:spcPts val="900"/>
              </a:spcAft>
              <a:buNone/>
            </a:pPr>
            <a:r>
              <a:rPr sz="1250" b="0" i="1">
                <a:solidFill>
                  <a:srgbClr val="20291F"/>
                </a:solidFill>
                <a:latin typeface="Calibri"/>
              </a:rPr>
              <a:t>Sentence Starters</a:t>
            </a:r>
          </a:p>
          <a:p>
            <a:pPr indent="-203200" marL="203200">
              <a:spcAft>
                <a:spcPts val="900"/>
              </a:spcAft>
              <a:buClr>
                <a:srgbClr val="7FA3B0"/>
              </a:buClr>
              <a:buSzPct val="90000"/>
              <a:buFont typeface="Arial"/>
              <a:buChar char="–"/>
            </a:pPr>
            <a:r>
              <a:rPr sz="1250" b="0" i="0">
                <a:solidFill>
                  <a:srgbClr val="20291F"/>
                </a:solidFill>
                <a:latin typeface="Calibri"/>
              </a:rPr>
              <a:t>"The brief does not specify [element], which is important because..."</a:t>
            </a:r>
          </a:p>
          <a:p>
            <a:pPr indent="-203200" marL="203200">
              <a:spcAft>
                <a:spcPts val="900"/>
              </a:spcAft>
              <a:buClr>
                <a:srgbClr val="7FA3B0"/>
              </a:buClr>
              <a:buSzPct val="90000"/>
              <a:buFont typeface="Arial"/>
              <a:buChar char="–"/>
            </a:pPr>
            <a:r>
              <a:rPr sz="1250" b="0" i="0">
                <a:solidFill>
                  <a:srgbClr val="20291F"/>
                </a:solidFill>
                <a:latin typeface="Calibri"/>
              </a:rPr>
              <a:t>"To generate ideas, [method] could be used to..."</a:t>
            </a:r>
          </a:p>
          <a:p>
            <a:pPr indent="-203200" marL="203200">
              <a:spcAft>
                <a:spcPts val="900"/>
              </a:spcAft>
              <a:buClr>
                <a:srgbClr val="7FA3B0"/>
              </a:buClr>
              <a:buSzPct val="90000"/>
              <a:buFont typeface="Arial"/>
              <a:buChar char="–"/>
            </a:pPr>
            <a:r>
              <a:rPr sz="1250" b="0" i="0">
                <a:solidFill>
                  <a:srgbClr val="20291F"/>
                </a:solidFill>
                <a:latin typeface="Calibri"/>
              </a:rPr>
              <a:t>"These two concepts differ in that..."</a:t>
            </a:r>
          </a:p>
        </p:txBody>
      </p:sp>
      <p:sp>
        <p:nvSpPr>
          <p:cNvPr id="6" name="Oval 5"/>
          <p:cNvSpPr/>
          <p:nvPr/>
        </p:nvSpPr>
        <p:spPr>
          <a:xfrm>
            <a:off x="5532120" y="3840480"/>
            <a:ext cx="685800" cy="685800"/>
          </a:xfrm>
          <a:prstGeom prst="ellipse">
            <a:avLst/>
          </a:prstGeom>
          <a:solidFill>
            <a:srgbClr val="C97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85800" y="502920"/>
            <a:ext cx="3291840" cy="457200"/>
          </a:xfrm>
          <a:prstGeom prst="roundRect">
            <a:avLst>
              <a:gd name="adj" fmla="val 50000"/>
            </a:avLst>
          </a:prstGeom>
          <a:solidFill>
            <a:srgbClr val="2F5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THE BRIEF &amp; IDEATION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20291F"/>
                </a:solidFill>
                <a:latin typeface="Cambria"/>
              </a:rPr>
              <a:t>Brief &amp; Ideation — Quick Reference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74519"/>
            <a:ext cx="2500884" cy="1554480"/>
          </a:xfrm>
          <a:prstGeom prst="roundRect">
            <a:avLst>
              <a:gd name="adj" fmla="val 12000"/>
            </a:avLst>
          </a:prstGeom>
          <a:solidFill>
            <a:srgbClr val="DFE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01600" bIns="101600"/>
          <a:lstStyle/>
          <a:p>
            <a:pPr algn="ctr"/>
            <a:r>
              <a:rPr b="1" sz="1300">
                <a:solidFill>
                  <a:srgbClr val="254128"/>
                </a:solidFill>
                <a:latin typeface="Calibri"/>
              </a:rPr>
              <a:t>Brief Elements</a:t>
            </a:r>
          </a:p>
          <a:p>
            <a:r>
              <a:rPr sz="1050">
                <a:solidFill>
                  <a:srgbClr val="20291F"/>
                </a:solidFill>
                <a:latin typeface="Calibri"/>
              </a:rPr>
              <a:t>Client, audience, purpose, constraints, obligatory fields.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87852" y="1874519"/>
            <a:ext cx="2500884" cy="1554480"/>
          </a:xfrm>
          <a:prstGeom prst="roundRect">
            <a:avLst>
              <a:gd name="adj" fmla="val 12000"/>
            </a:avLst>
          </a:prstGeom>
          <a:solidFill>
            <a:srgbClr val="F6E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01600" bIns="101600"/>
          <a:lstStyle/>
          <a:p>
            <a:pPr algn="ctr"/>
            <a:r>
              <a:rPr b="1" sz="1300">
                <a:solidFill>
                  <a:srgbClr val="A05C30"/>
                </a:solidFill>
                <a:latin typeface="Calibri"/>
              </a:rPr>
              <a:t>Deconstruct</a:t>
            </a:r>
          </a:p>
          <a:p>
            <a:r>
              <a:rPr sz="1050">
                <a:solidFill>
                  <a:srgbClr val="20291F"/>
                </a:solidFill>
                <a:latin typeface="Calibri"/>
              </a:rPr>
              <a:t>Who, what, why, constraints.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89904" y="1874519"/>
            <a:ext cx="2500884" cy="1554480"/>
          </a:xfrm>
          <a:prstGeom prst="roundRect">
            <a:avLst>
              <a:gd name="adj" fmla="val 12000"/>
            </a:avLst>
          </a:prstGeom>
          <a:solidFill>
            <a:srgbClr val="EBF1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01600" bIns="101600"/>
          <a:lstStyle/>
          <a:p>
            <a:pPr algn="ctr"/>
            <a:r>
              <a:rPr b="1" sz="1300">
                <a:solidFill>
                  <a:srgbClr val="65828C"/>
                </a:solidFill>
                <a:latin typeface="Calibri"/>
              </a:rPr>
              <a:t>Two Concepts</a:t>
            </a:r>
          </a:p>
          <a:p>
            <a:r>
              <a:rPr sz="1050">
                <a:solidFill>
                  <a:srgbClr val="20291F"/>
                </a:solidFill>
                <a:latin typeface="Calibri"/>
              </a:rPr>
              <a:t>Must be genuinely distinct, not colour variants.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791956" y="1874519"/>
            <a:ext cx="2500884" cy="1554480"/>
          </a:xfrm>
          <a:prstGeom prst="roundRect">
            <a:avLst>
              <a:gd name="adj" fmla="val 12000"/>
            </a:avLst>
          </a:prstGeom>
          <a:solidFill>
            <a:srgbClr val="DFE5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01600" bIns="101600"/>
          <a:lstStyle/>
          <a:p>
            <a:pPr algn="ctr"/>
            <a:r>
              <a:rPr b="1" sz="1300">
                <a:solidFill>
                  <a:srgbClr val="254128"/>
                </a:solidFill>
                <a:latin typeface="Calibri"/>
              </a:rPr>
              <a:t>Research</a:t>
            </a:r>
          </a:p>
          <a:p>
            <a:r>
              <a:rPr sz="1050">
                <a:solidFill>
                  <a:srgbClr val="20291F"/>
                </a:solidFill>
                <a:latin typeface="Calibri"/>
              </a:rPr>
              <a:t>Audience, visual, contextual — links to Unit 2 trends.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3675887"/>
            <a:ext cx="10607040" cy="2862073"/>
          </a:xfrm>
          <a:prstGeom prst="roundRect">
            <a:avLst>
              <a:gd name="adj" fmla="val 10000"/>
            </a:avLst>
          </a:prstGeom>
          <a:solidFill>
            <a:srgbClr val="F6EA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3200" rIns="203200" tIns="101600" bIns="101600" wrap="square"/>
          <a:lstStyle/>
          <a:p>
            <a:pPr algn="ctr" indent="-203200" marL="203200">
              <a:spcAft>
                <a:spcPts val="900"/>
              </a:spcAft>
              <a:buClr>
                <a:srgbClr val="C9743D"/>
              </a:buClr>
              <a:buSzPct val="90000"/>
              <a:buFont typeface="Arial"/>
              <a:buChar char="●"/>
            </a:pPr>
            <a:r>
              <a:rPr sz="1200" b="0" i="0">
                <a:solidFill>
                  <a:srgbClr val="20291F"/>
                </a:solidFill>
                <a:latin typeface="Calibri"/>
              </a:rPr>
              <a:t> Reminder: these two concepts carry forward into </a:t>
            </a:r>
            <a:r>
              <a:rPr sz="1200" b="1" i="0">
                <a:solidFill>
                  <a:srgbClr val="AA6233"/>
                </a:solidFill>
                <a:latin typeface="Calibri"/>
              </a:rPr>
              <a:t>Unit 4</a:t>
            </a:r>
            <a:r>
              <a:rPr sz="1200" b="0" i="0">
                <a:solidFill>
                  <a:srgbClr val="20291F"/>
                </a:solidFill>
                <a:latin typeface="Calibri"/>
              </a:rPr>
              <a:t>, where you develop and refine them. 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FA3B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914400" y="-914400"/>
            <a:ext cx="2103120" cy="2103120"/>
          </a:xfrm>
          <a:prstGeom prst="ellipse">
            <a:avLst/>
          </a:prstGeom>
          <a:solidFill>
            <a:srgbClr val="6F8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1064240" y="5852160"/>
            <a:ext cx="1737360" cy="1737360"/>
          </a:xfrm>
          <a:prstGeom prst="ellipse">
            <a:avLst/>
          </a:prstGeom>
          <a:solidFill>
            <a:srgbClr val="6F8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85800" y="457200"/>
            <a:ext cx="1696212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400">
                <a:solidFill>
                  <a:srgbClr val="526972"/>
                </a:solidFill>
                <a:latin typeface="Calibri"/>
              </a:rPr>
              <a:t>CHALLENGE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14300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mbria"/>
              </a:rPr>
              <a:t>Brief Doctor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48840"/>
            <a:ext cx="960120" cy="411480"/>
          </a:xfrm>
          <a:prstGeom prst="roundRect">
            <a:avLst>
              <a:gd name="adj" fmla="val 50000"/>
            </a:avLst>
          </a:prstGeom>
          <a:solidFill>
            <a:srgbClr val="5F7A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6 MIN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783080" y="2148840"/>
            <a:ext cx="1664208" cy="411480"/>
          </a:xfrm>
          <a:prstGeom prst="roundRect">
            <a:avLst>
              <a:gd name="adj" fmla="val 50000"/>
            </a:avLst>
          </a:prstGeom>
          <a:solidFill>
            <a:srgbClr val="5F7A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SMALL GROUPS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788920"/>
            <a:ext cx="10607040" cy="3246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04800" rIns="304800" tIns="203200" bIns="203200" wrap="square"/>
          <a:lstStyle/>
          <a:p>
            <a:pPr algn="ctr" indent="-203200" marL="203200">
              <a:spcAft>
                <a:spcPts val="900"/>
              </a:spcAft>
              <a:buClr>
                <a:srgbClr val="7FA3B0"/>
              </a:buClr>
              <a:buSzPct val="90000"/>
              <a:buFont typeface="Arial"/>
              <a:buChar char="●"/>
            </a:pPr>
            <a:r>
              <a:rPr sz="1450" b="0" i="0">
                <a:solidFill>
                  <a:srgbClr val="20291F"/>
                </a:solidFill>
                <a:latin typeface="Calibri"/>
              </a:rPr>
              <a:t>You are given a deliberately vague or broken design brief.</a:t>
            </a:r>
          </a:p>
          <a:p>
            <a:pPr indent="-203200" marL="203200">
              <a:spcAft>
                <a:spcPts val="900"/>
              </a:spcAft>
              <a:buClr>
                <a:srgbClr val="7FA3B0"/>
              </a:buClr>
              <a:buSzPct val="90000"/>
              <a:buFont typeface="Arial"/>
              <a:buChar char="●"/>
            </a:pPr>
            <a:r>
              <a:rPr sz="1450" b="0" i="0">
                <a:solidFill>
                  <a:srgbClr val="20291F"/>
                </a:solidFill>
                <a:latin typeface="Calibri"/>
              </a:rPr>
              <a:t>Diagnose what's missing: audience? purpose? constraints? obligatory fields?</a:t>
            </a:r>
          </a:p>
          <a:p>
            <a:pPr indent="-203200" marL="203200">
              <a:spcAft>
                <a:spcPts val="900"/>
              </a:spcAft>
              <a:buClr>
                <a:srgbClr val="7FA3B0"/>
              </a:buClr>
              <a:buSzPct val="90000"/>
              <a:buFont typeface="Arial"/>
              <a:buChar char="●"/>
            </a:pPr>
            <a:r>
              <a:rPr sz="1450" b="0" i="0">
                <a:solidFill>
                  <a:srgbClr val="20291F"/>
                </a:solidFill>
                <a:latin typeface="Calibri"/>
              </a:rPr>
              <a:t>Rewrite the brief as a group to fix the gaps.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217920"/>
            <a:ext cx="106070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 i="1">
                <a:solidFill>
                  <a:srgbClr val="FFFFFF"/>
                </a:solidFill>
                <a:latin typeface="Calibri"/>
              </a:rPr>
              <a:t>Debrief: Which missing element would have caused the biggest problem if unnoticed?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FA3B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914400" y="-914400"/>
            <a:ext cx="2103120" cy="2103120"/>
          </a:xfrm>
          <a:prstGeom prst="ellipse">
            <a:avLst/>
          </a:prstGeom>
          <a:solidFill>
            <a:srgbClr val="6F8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1064240" y="5852160"/>
            <a:ext cx="1737360" cy="1737360"/>
          </a:xfrm>
          <a:prstGeom prst="ellipse">
            <a:avLst/>
          </a:prstGeom>
          <a:solidFill>
            <a:srgbClr val="6F8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85800" y="457200"/>
            <a:ext cx="1696212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400">
                <a:solidFill>
                  <a:srgbClr val="526972"/>
                </a:solidFill>
                <a:latin typeface="Calibri"/>
              </a:rPr>
              <a:t>CHALLENGE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14300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mbria"/>
              </a:rPr>
              <a:t>Crazy 8s Sprint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48840"/>
            <a:ext cx="960120" cy="411480"/>
          </a:xfrm>
          <a:prstGeom prst="roundRect">
            <a:avLst>
              <a:gd name="adj" fmla="val 50000"/>
            </a:avLst>
          </a:prstGeom>
          <a:solidFill>
            <a:srgbClr val="5F7A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8 MIN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783080" y="2148840"/>
            <a:ext cx="1463040" cy="411480"/>
          </a:xfrm>
          <a:prstGeom prst="roundRect">
            <a:avLst>
              <a:gd name="adj" fmla="val 50000"/>
            </a:avLst>
          </a:prstGeom>
          <a:solidFill>
            <a:srgbClr val="5F7A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INDIVIDUAL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788920"/>
            <a:ext cx="10607040" cy="3246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04800" rIns="304800" tIns="203200" bIns="203200" wrap="square"/>
          <a:lstStyle/>
          <a:p>
            <a:pPr algn="ctr" indent="-203200" marL="203200">
              <a:spcAft>
                <a:spcPts val="900"/>
              </a:spcAft>
              <a:buClr>
                <a:srgbClr val="7FA3B0"/>
              </a:buClr>
              <a:buSzPct val="90000"/>
              <a:buFont typeface="Arial"/>
              <a:buChar char="●"/>
            </a:pPr>
            <a:r>
              <a:rPr sz="1450" b="0" i="0">
                <a:solidFill>
                  <a:srgbClr val="20291F"/>
                </a:solidFill>
                <a:latin typeface="Calibri"/>
              </a:rPr>
              <a:t>Fold or divide a page into 8 sections.</a:t>
            </a:r>
          </a:p>
          <a:p>
            <a:pPr indent="-203200" marL="203200">
              <a:spcAft>
                <a:spcPts val="900"/>
              </a:spcAft>
              <a:buClr>
                <a:srgbClr val="7FA3B0"/>
              </a:buClr>
              <a:buSzPct val="90000"/>
              <a:buFont typeface="Arial"/>
              <a:buChar char="●"/>
            </a:pPr>
            <a:r>
              <a:rPr sz="1450" b="0" i="0">
                <a:solidFill>
                  <a:srgbClr val="20291F"/>
                </a:solidFill>
                <a:latin typeface="Calibri"/>
              </a:rPr>
              <a:t>Sketch 8 genuinely different thumbnail ideas for a given prompt — one per section, one minute each.</a:t>
            </a:r>
          </a:p>
          <a:p>
            <a:pPr indent="-203200" marL="203200">
              <a:spcAft>
                <a:spcPts val="900"/>
              </a:spcAft>
              <a:buClr>
                <a:srgbClr val="7FA3B0"/>
              </a:buClr>
              <a:buSzPct val="90000"/>
              <a:buFont typeface="Arial"/>
              <a:buChar char="●"/>
            </a:pPr>
            <a:r>
              <a:rPr sz="1450" b="0" i="0">
                <a:solidFill>
                  <a:srgbClr val="20291F"/>
                </a:solidFill>
                <a:latin typeface="Calibri"/>
              </a:rPr>
              <a:t>No erasing, no perfecting — keep moving to the next box.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217920"/>
            <a:ext cx="106070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 i="1">
                <a:solidFill>
                  <a:srgbClr val="FFFFFF"/>
                </a:solidFill>
                <a:latin typeface="Calibri"/>
              </a:rPr>
              <a:t>Debrief: Which of your 8 ideas would you develop further, and why?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74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92640" y="-914400"/>
            <a:ext cx="2926080" cy="2926080"/>
          </a:xfrm>
          <a:prstGeom prst="ellipse">
            <a:avLst/>
          </a:prstGeom>
          <a:solidFill>
            <a:srgbClr val="B066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914400" y="4937760"/>
            <a:ext cx="2377440" cy="2377440"/>
          </a:xfrm>
          <a:prstGeom prst="ellipse">
            <a:avLst/>
          </a:prstGeom>
          <a:solidFill>
            <a:srgbClr val="B066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051560"/>
            <a:ext cx="118872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ctr"/>
            <a:r>
              <a:rPr sz="1400" b="1">
                <a:solidFill>
                  <a:srgbClr val="A05C30"/>
                </a:solidFill>
                <a:latin typeface="Calibri"/>
              </a:rPr>
              <a:t>03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011680"/>
            <a:ext cx="10515600" cy="2834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697480"/>
            <a:ext cx="9601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 i="0">
                <a:solidFill>
                  <a:srgbClr val="AA6233"/>
                </a:solidFill>
                <a:latin typeface="Cambria"/>
              </a:rPr>
              <a:t>Extended Knowledge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657600"/>
            <a:ext cx="9601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>
                <a:solidFill>
                  <a:srgbClr val="6B6B6B"/>
                </a:solidFill>
                <a:latin typeface="Calibri"/>
              </a:rPr>
              <a:t>Beyond the study design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85800" y="502920"/>
            <a:ext cx="3291840" cy="457200"/>
          </a:xfrm>
          <a:prstGeom prst="roundRect">
            <a:avLst>
              <a:gd name="adj" fmla="val 50000"/>
            </a:avLst>
          </a:prstGeom>
          <a:solidFill>
            <a:srgbClr val="2F5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EXTENDED KNOWLEDGE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20291F"/>
                </a:solidFill>
                <a:latin typeface="Cambria"/>
              </a:rPr>
              <a:t>Semiotics and Visual Rhetoric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74519"/>
            <a:ext cx="10607040" cy="4526280"/>
          </a:xfrm>
          <a:prstGeom prst="roundRect">
            <a:avLst>
              <a:gd name="adj" fmla="val 6000"/>
            </a:avLst>
          </a:prstGeom>
          <a:solidFill>
            <a:srgbClr val="EAE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30200" rIns="330200" tIns="254000" bIns="254000" wrap="square"/>
          <a:lstStyle/>
          <a:p>
            <a:pPr algn="ctr" indent="-203200" marL="203200">
              <a:spcAft>
                <a:spcPts val="900"/>
              </a:spcAft>
              <a:buClr>
                <a:srgbClr val="2F5233"/>
              </a:buClr>
              <a:buSzPct val="90000"/>
              <a:buFont typeface="Arial"/>
              <a:buChar char="●"/>
            </a:pPr>
            <a:r>
              <a:rPr sz="1500" b="1" i="0">
                <a:solidFill>
                  <a:srgbClr val="27452B"/>
                </a:solidFill>
                <a:latin typeface="Calibri"/>
              </a:rPr>
              <a:t>Beyond icon/index/symbol</a:t>
            </a:r>
          </a:p>
          <a:p>
            <a:pPr indent="-203200" marL="203200">
              <a:spcAft>
                <a:spcPts val="900"/>
              </a:spcAft>
              <a:buClr>
                <a:srgbClr val="2F5233"/>
              </a:buClr>
              <a:buSzPct val="90000"/>
              <a:buFont typeface="Arial"/>
              <a:buChar char="–"/>
            </a:pPr>
            <a:r>
              <a:rPr sz="1350" b="0" i="0">
                <a:solidFill>
                  <a:srgbClr val="20291F"/>
                </a:solidFill>
                <a:latin typeface="Calibri"/>
              </a:rPr>
              <a:t>Visual metaphor — representing one concept through the image of another (a lightbulb for an idea)</a:t>
            </a:r>
          </a:p>
          <a:p>
            <a:pPr indent="-203200" marL="203200">
              <a:spcAft>
                <a:spcPts val="900"/>
              </a:spcAft>
              <a:buClr>
                <a:srgbClr val="2F5233"/>
              </a:buClr>
              <a:buSzPct val="90000"/>
              <a:buFont typeface="Arial"/>
              <a:buChar char="–"/>
            </a:pPr>
            <a:r>
              <a:rPr sz="1350" b="0" i="0">
                <a:solidFill>
                  <a:srgbClr val="20291F"/>
                </a:solidFill>
                <a:latin typeface="Calibri"/>
              </a:rPr>
              <a:t>Visual metonymy — representing a whole through a closely associated part (a crown for royalty)</a:t>
            </a:r>
          </a:p>
          <a:p>
            <a:pPr indent="-203200" marL="203200">
              <a:spcAft>
                <a:spcPts val="900"/>
              </a:spcAft>
              <a:buClr>
                <a:srgbClr val="2F5233"/>
              </a:buClr>
              <a:buSzPct val="90000"/>
              <a:buFont typeface="Arial"/>
              <a:buChar char="–"/>
            </a:pPr>
            <a:r>
              <a:rPr sz="1350" b="0" i="0">
                <a:solidFill>
                  <a:srgbClr val="20291F"/>
                </a:solidFill>
                <a:latin typeface="Calibri"/>
              </a:rPr>
              <a:t>Myth and connotation (Roland Barthes) — how repeated cultural use makes a sign feel 'natural' or self-evident, when it is in fact culturally constructed</a:t>
            </a:r>
          </a:p>
        </p:txBody>
      </p:sp>
      <p:sp>
        <p:nvSpPr>
          <p:cNvPr id="5" name="Oval 4"/>
          <p:cNvSpPr/>
          <p:nvPr/>
        </p:nvSpPr>
        <p:spPr>
          <a:xfrm>
            <a:off x="10881360" y="5943600"/>
            <a:ext cx="1005840" cy="1005840"/>
          </a:xfrm>
          <a:prstGeom prst="ellipse">
            <a:avLst/>
          </a:prstGeom>
          <a:solidFill>
            <a:srgbClr val="C5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85800" y="502920"/>
            <a:ext cx="3291840" cy="457200"/>
          </a:xfrm>
          <a:prstGeom prst="roundRect">
            <a:avLst>
              <a:gd name="adj" fmla="val 50000"/>
            </a:avLst>
          </a:prstGeom>
          <a:solidFill>
            <a:srgbClr val="2F5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EXTENDED KNOWLEDGE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20291F"/>
                </a:solidFill>
                <a:latin typeface="Cambria"/>
              </a:rPr>
              <a:t>Grid Systems and Layout Theory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74519"/>
            <a:ext cx="10607040" cy="4526280"/>
          </a:xfrm>
          <a:prstGeom prst="roundRect">
            <a:avLst>
              <a:gd name="adj" fmla="val 6000"/>
            </a:avLst>
          </a:prstGeom>
          <a:solidFill>
            <a:srgbClr val="EAE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30200" rIns="330200" tIns="254000" bIns="254000" wrap="square"/>
          <a:lstStyle/>
          <a:p>
            <a:pPr algn="ctr" indent="-203200" marL="203200">
              <a:spcAft>
                <a:spcPts val="900"/>
              </a:spcAft>
              <a:buClr>
                <a:srgbClr val="2F5233"/>
              </a:buClr>
              <a:buSzPct val="90000"/>
              <a:buFont typeface="Arial"/>
              <a:buChar char="●"/>
            </a:pPr>
            <a:r>
              <a:rPr sz="1500" b="1" i="0">
                <a:solidFill>
                  <a:srgbClr val="27452B"/>
                </a:solidFill>
                <a:latin typeface="Calibri"/>
              </a:rPr>
              <a:t>Types of grid</a:t>
            </a:r>
          </a:p>
          <a:p>
            <a:pPr indent="-203200" marL="203200">
              <a:spcAft>
                <a:spcPts val="900"/>
              </a:spcAft>
              <a:buClr>
                <a:srgbClr val="2F5233"/>
              </a:buClr>
              <a:buSzPct val="90000"/>
              <a:buFont typeface="Arial"/>
              <a:buChar char="–"/>
            </a:pPr>
            <a:r>
              <a:rPr sz="1350" b="0" i="0">
                <a:solidFill>
                  <a:srgbClr val="20291F"/>
                </a:solidFill>
                <a:latin typeface="Calibri"/>
              </a:rPr>
              <a:t>Column grid — vertical divisions for text-heavy layouts (newspapers, editorial)</a:t>
            </a:r>
          </a:p>
          <a:p>
            <a:pPr indent="-203200" marL="203200">
              <a:spcAft>
                <a:spcPts val="900"/>
              </a:spcAft>
              <a:buClr>
                <a:srgbClr val="2F5233"/>
              </a:buClr>
              <a:buSzPct val="90000"/>
              <a:buFont typeface="Arial"/>
              <a:buChar char="–"/>
            </a:pPr>
            <a:r>
              <a:rPr sz="1350" b="0" i="0">
                <a:solidFill>
                  <a:srgbClr val="20291F"/>
                </a:solidFill>
                <a:latin typeface="Calibri"/>
              </a:rPr>
              <a:t>Modular grid — a grid of consistent modules/cells for complex data-rich layouts</a:t>
            </a:r>
          </a:p>
          <a:p>
            <a:pPr indent="-203200" marL="203200">
              <a:spcAft>
                <a:spcPts val="900"/>
              </a:spcAft>
              <a:buClr>
                <a:srgbClr val="2F5233"/>
              </a:buClr>
              <a:buSzPct val="90000"/>
              <a:buFont typeface="Arial"/>
              <a:buChar char="–"/>
            </a:pPr>
            <a:r>
              <a:rPr sz="1350" b="0" i="0">
                <a:solidFill>
                  <a:srgbClr val="20291F"/>
                </a:solidFill>
                <a:latin typeface="Calibri"/>
              </a:rPr>
              <a:t>Baseline grid — horizontal lines ensuring consistent vertical rhythm of text across a page</a:t>
            </a:r>
          </a:p>
          <a:p>
            <a:pPr indent="-203200" marL="203200">
              <a:spcAft>
                <a:spcPts val="900"/>
              </a:spcAft>
              <a:buClr>
                <a:srgbClr val="2F5233"/>
              </a:buClr>
              <a:buSzPct val="90000"/>
              <a:buFont typeface="Arial"/>
              <a:buChar char="●"/>
            </a:pPr>
            <a:r>
              <a:rPr sz="1500" b="1" i="0">
                <a:solidFill>
                  <a:srgbClr val="27452B"/>
                </a:solidFill>
                <a:latin typeface="Calibri"/>
              </a:rPr>
              <a:t>The Swiss grid legacy</a:t>
            </a:r>
          </a:p>
          <a:p>
            <a:pPr indent="-203200" marL="203200">
              <a:spcAft>
                <a:spcPts val="900"/>
              </a:spcAft>
              <a:buClr>
                <a:srgbClr val="2F5233"/>
              </a:buClr>
              <a:buSzPct val="90000"/>
              <a:buFont typeface="Arial"/>
              <a:buChar char="–"/>
            </a:pPr>
            <a:r>
              <a:rPr sz="1350" b="0" i="0">
                <a:solidFill>
                  <a:srgbClr val="20291F"/>
                </a:solidFill>
                <a:latin typeface="Calibri"/>
              </a:rPr>
              <a:t>The International Typographic Style formalised mathematical grid systems as a tool for objective, universal communication — still the basis of most professional layout software and responsive web design grids today.</a:t>
            </a:r>
          </a:p>
          <a:p>
            <a:pPr indent="-203200" marL="203200">
              <a:spcAft>
                <a:spcPts val="900"/>
              </a:spcAft>
              <a:buClr>
                <a:srgbClr val="2F5233"/>
              </a:buClr>
              <a:buSzPct val="90000"/>
              <a:buFont typeface="Arial"/>
              <a:buChar char="●"/>
            </a:pPr>
            <a:r>
              <a:rPr sz="1500" b="1" i="0">
                <a:solidFill>
                  <a:srgbClr val="27452B"/>
                </a:solidFill>
                <a:latin typeface="Calibri"/>
              </a:rPr>
              <a:t>Proportion systems</a:t>
            </a:r>
          </a:p>
          <a:p>
            <a:pPr indent="-203200" marL="203200">
              <a:spcAft>
                <a:spcPts val="900"/>
              </a:spcAft>
              <a:buClr>
                <a:srgbClr val="2F5233"/>
              </a:buClr>
              <a:buSzPct val="90000"/>
              <a:buFont typeface="Arial"/>
              <a:buChar char="–"/>
            </a:pPr>
            <a:r>
              <a:rPr sz="1350" b="0" i="0">
                <a:solidFill>
                  <a:srgbClr val="20291F"/>
                </a:solidFill>
                <a:latin typeface="Calibri"/>
              </a:rPr>
              <a:t>The golden ratio (1:1.618) and the rule of thirds are classical tools for dividing a composition in a way the eye finds naturally balanced — useful vocabulary when analysing or justifying a layout decision.</a:t>
            </a:r>
          </a:p>
        </p:txBody>
      </p:sp>
      <p:sp>
        <p:nvSpPr>
          <p:cNvPr id="5" name="Oval 4"/>
          <p:cNvSpPr/>
          <p:nvPr/>
        </p:nvSpPr>
        <p:spPr>
          <a:xfrm>
            <a:off x="10881360" y="5943600"/>
            <a:ext cx="1005840" cy="1005840"/>
          </a:xfrm>
          <a:prstGeom prst="ellipse">
            <a:avLst/>
          </a:prstGeom>
          <a:solidFill>
            <a:srgbClr val="C5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85800" y="502920"/>
            <a:ext cx="3291840" cy="457200"/>
          </a:xfrm>
          <a:prstGeom prst="roundRect">
            <a:avLst>
              <a:gd name="adj" fmla="val 50000"/>
            </a:avLst>
          </a:prstGeom>
          <a:solidFill>
            <a:srgbClr val="2F5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EXTENDED KNOWLEDGE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20291F"/>
                </a:solidFill>
                <a:latin typeface="Cambria"/>
              </a:rPr>
              <a:t>Cross-Cultural Design Considerations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74519"/>
            <a:ext cx="10607040" cy="4526280"/>
          </a:xfrm>
          <a:prstGeom prst="roundRect">
            <a:avLst>
              <a:gd name="adj" fmla="val 6000"/>
            </a:avLst>
          </a:prstGeom>
          <a:solidFill>
            <a:srgbClr val="EAE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30200" rIns="330200" tIns="254000" bIns="254000" wrap="square"/>
          <a:lstStyle/>
          <a:p>
            <a:pPr algn="ctr" indent="-203200" marL="203200">
              <a:spcAft>
                <a:spcPts val="900"/>
              </a:spcAft>
              <a:buClr>
                <a:srgbClr val="2F5233"/>
              </a:buClr>
              <a:buSzPct val="90000"/>
              <a:buFont typeface="Arial"/>
              <a:buChar char="●"/>
            </a:pPr>
            <a:r>
              <a:rPr sz="1500" b="1" i="0">
                <a:solidFill>
                  <a:srgbClr val="27452B"/>
                </a:solidFill>
                <a:latin typeface="Calibri"/>
              </a:rPr>
              <a:t>Designing for global audiences</a:t>
            </a:r>
          </a:p>
          <a:p>
            <a:pPr indent="-203200" marL="203200">
              <a:spcAft>
                <a:spcPts val="900"/>
              </a:spcAft>
              <a:buClr>
                <a:srgbClr val="2F5233"/>
              </a:buClr>
              <a:buSzPct val="90000"/>
              <a:buFont typeface="Arial"/>
              <a:buChar char="–"/>
            </a:pPr>
            <a:r>
              <a:rPr sz="1350" b="0" i="0">
                <a:solidFill>
                  <a:srgbClr val="20291F"/>
                </a:solidFill>
                <a:latin typeface="Calibri"/>
              </a:rPr>
              <a:t>Localisation — adapting a design for a specific market (language, imagery, colour meaning)</a:t>
            </a:r>
          </a:p>
          <a:p>
            <a:pPr indent="-203200" marL="203200">
              <a:spcAft>
                <a:spcPts val="900"/>
              </a:spcAft>
              <a:buClr>
                <a:srgbClr val="2F5233"/>
              </a:buClr>
              <a:buSzPct val="90000"/>
              <a:buFont typeface="Arial"/>
              <a:buChar char="–"/>
            </a:pPr>
            <a:r>
              <a:rPr sz="1350" b="0" i="0">
                <a:solidFill>
                  <a:srgbClr val="20291F"/>
                </a:solidFill>
                <a:latin typeface="Calibri"/>
              </a:rPr>
              <a:t>Internationalisation — designing a flexible system that can be localised efficiently</a:t>
            </a:r>
          </a:p>
          <a:p>
            <a:pPr indent="-203200" marL="203200">
              <a:spcAft>
                <a:spcPts val="900"/>
              </a:spcAft>
              <a:buClr>
                <a:srgbClr val="2F5233"/>
              </a:buClr>
              <a:buSzPct val="90000"/>
              <a:buFont typeface="Arial"/>
              <a:buChar char="–"/>
            </a:pPr>
            <a:r>
              <a:rPr sz="1350" b="0" i="0">
                <a:solidFill>
                  <a:srgbClr val="20291F"/>
                </a:solidFill>
                <a:latin typeface="Calibri"/>
              </a:rPr>
              <a:t>Symbol meaning varies by culture — always research target-market conventions before reusing a symbol or gesture in a new context</a:t>
            </a:r>
          </a:p>
        </p:txBody>
      </p:sp>
      <p:sp>
        <p:nvSpPr>
          <p:cNvPr id="5" name="Oval 4"/>
          <p:cNvSpPr/>
          <p:nvPr/>
        </p:nvSpPr>
        <p:spPr>
          <a:xfrm>
            <a:off x="10881360" y="5943600"/>
            <a:ext cx="1005840" cy="1005840"/>
          </a:xfrm>
          <a:prstGeom prst="ellipse">
            <a:avLst/>
          </a:prstGeom>
          <a:solidFill>
            <a:srgbClr val="C5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85800" y="502920"/>
            <a:ext cx="3291840" cy="457200"/>
          </a:xfrm>
          <a:prstGeom prst="roundRect">
            <a:avLst>
              <a:gd name="adj" fmla="val 50000"/>
            </a:avLst>
          </a:prstGeom>
          <a:solidFill>
            <a:srgbClr val="2F5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EXTENDED KNOWLEDGE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20291F"/>
                </a:solidFill>
                <a:latin typeface="Cambria"/>
              </a:rPr>
              <a:t>Research Methods for Designers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74519"/>
            <a:ext cx="10607040" cy="4526280"/>
          </a:xfrm>
          <a:prstGeom prst="roundRect">
            <a:avLst>
              <a:gd name="adj" fmla="val 6000"/>
            </a:avLst>
          </a:prstGeom>
          <a:solidFill>
            <a:srgbClr val="EAE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30200" rIns="330200" tIns="254000" bIns="254000" wrap="square"/>
          <a:lstStyle/>
          <a:p>
            <a:pPr algn="ctr" indent="-203200" marL="203200">
              <a:spcAft>
                <a:spcPts val="900"/>
              </a:spcAft>
              <a:buClr>
                <a:srgbClr val="2F5233"/>
              </a:buClr>
              <a:buSzPct val="90000"/>
              <a:buFont typeface="Arial"/>
              <a:buChar char="●"/>
            </a:pPr>
            <a:r>
              <a:rPr sz="1500" b="1" i="0">
                <a:solidFill>
                  <a:srgbClr val="27452B"/>
                </a:solidFill>
                <a:latin typeface="Calibri"/>
              </a:rPr>
              <a:t>Qualitative vs quantitative</a:t>
            </a:r>
          </a:p>
          <a:p>
            <a:pPr indent="-203200" marL="203200">
              <a:spcAft>
                <a:spcPts val="900"/>
              </a:spcAft>
              <a:buClr>
                <a:srgbClr val="2F5233"/>
              </a:buClr>
              <a:buSzPct val="90000"/>
              <a:buFont typeface="Arial"/>
              <a:buChar char="–"/>
            </a:pPr>
            <a:r>
              <a:rPr sz="1350" b="0" i="0">
                <a:solidFill>
                  <a:srgbClr val="20291F"/>
                </a:solidFill>
                <a:latin typeface="Calibri"/>
              </a:rPr>
              <a:t>Qualitative research (interviews, observation) reveals why users behave a certain way; quantitative research (surveys, analytics) reveals how many/how often. Strong design research typically combines both.</a:t>
            </a:r>
          </a:p>
          <a:p>
            <a:pPr indent="-203200" marL="203200">
              <a:spcAft>
                <a:spcPts val="900"/>
              </a:spcAft>
              <a:buClr>
                <a:srgbClr val="2F5233"/>
              </a:buClr>
              <a:buSzPct val="90000"/>
              <a:buFont typeface="Arial"/>
              <a:buChar char="●"/>
            </a:pPr>
            <a:r>
              <a:rPr sz="1500" b="1" i="0">
                <a:solidFill>
                  <a:srgbClr val="27452B"/>
                </a:solidFill>
                <a:latin typeface="Calibri"/>
              </a:rPr>
              <a:t>Other useful methods</a:t>
            </a:r>
          </a:p>
          <a:p>
            <a:pPr indent="-203200" marL="203200">
              <a:spcAft>
                <a:spcPts val="900"/>
              </a:spcAft>
              <a:buClr>
                <a:srgbClr val="2F5233"/>
              </a:buClr>
              <a:buSzPct val="90000"/>
              <a:buFont typeface="Arial"/>
              <a:buChar char="–"/>
            </a:pPr>
            <a:r>
              <a:rPr sz="1350" b="0" i="0">
                <a:solidFill>
                  <a:srgbClr val="20291F"/>
                </a:solidFill>
                <a:latin typeface="Calibri"/>
              </a:rPr>
              <a:t>Empathy mapping — documenting what a user says, thinks, feels and does</a:t>
            </a:r>
          </a:p>
          <a:p>
            <a:pPr indent="-203200" marL="203200">
              <a:spcAft>
                <a:spcPts val="900"/>
              </a:spcAft>
              <a:buClr>
                <a:srgbClr val="2F5233"/>
              </a:buClr>
              <a:buSzPct val="90000"/>
              <a:buFont typeface="Arial"/>
              <a:buChar char="–"/>
            </a:pPr>
            <a:r>
              <a:rPr sz="1350" b="0" i="0">
                <a:solidFill>
                  <a:srgbClr val="20291F"/>
                </a:solidFill>
                <a:latin typeface="Calibri"/>
              </a:rPr>
              <a:t>Competitive analysis — reviewing existing solutions to identify gaps and opportunities</a:t>
            </a:r>
          </a:p>
          <a:p>
            <a:pPr indent="-203200" marL="203200">
              <a:spcAft>
                <a:spcPts val="900"/>
              </a:spcAft>
              <a:buClr>
                <a:srgbClr val="2F5233"/>
              </a:buClr>
              <a:buSzPct val="90000"/>
              <a:buFont typeface="Arial"/>
              <a:buChar char="–"/>
            </a:pPr>
            <a:r>
              <a:rPr sz="1350" b="0" i="0">
                <a:solidFill>
                  <a:srgbClr val="20291F"/>
                </a:solidFill>
                <a:latin typeface="Calibri"/>
              </a:rPr>
              <a:t>Mood boards — curated visual references establishing tone, palette and style direction</a:t>
            </a:r>
          </a:p>
        </p:txBody>
      </p:sp>
      <p:sp>
        <p:nvSpPr>
          <p:cNvPr id="5" name="Oval 4"/>
          <p:cNvSpPr/>
          <p:nvPr/>
        </p:nvSpPr>
        <p:spPr>
          <a:xfrm>
            <a:off x="10881360" y="5943600"/>
            <a:ext cx="1005840" cy="1005840"/>
          </a:xfrm>
          <a:prstGeom prst="ellipse">
            <a:avLst/>
          </a:prstGeom>
          <a:solidFill>
            <a:srgbClr val="C5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85800" y="502920"/>
            <a:ext cx="3291840" cy="457200"/>
          </a:xfrm>
          <a:prstGeom prst="roundRect">
            <a:avLst>
              <a:gd name="adj" fmla="val 50000"/>
            </a:avLst>
          </a:prstGeom>
          <a:solidFill>
            <a:srgbClr val="2F5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EXTENDED KNOWLEDGE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20291F"/>
                </a:solidFill>
                <a:latin typeface="Cambria"/>
              </a:rPr>
              <a:t>Ideation Techniques Beyond Brainstorming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74519"/>
            <a:ext cx="10607040" cy="4526280"/>
          </a:xfrm>
          <a:prstGeom prst="roundRect">
            <a:avLst>
              <a:gd name="adj" fmla="val 6000"/>
            </a:avLst>
          </a:prstGeom>
          <a:solidFill>
            <a:srgbClr val="EAE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30200" rIns="330200" tIns="254000" bIns="254000" wrap="square"/>
          <a:lstStyle/>
          <a:p>
            <a:pPr algn="ctr" indent="-203200" marL="203200">
              <a:spcAft>
                <a:spcPts val="900"/>
              </a:spcAft>
              <a:buClr>
                <a:srgbClr val="2F5233"/>
              </a:buClr>
              <a:buSzPct val="90000"/>
              <a:buFont typeface="Arial"/>
              <a:buChar char="●"/>
            </a:pPr>
            <a:r>
              <a:rPr sz="1500" b="1" i="0">
                <a:solidFill>
                  <a:srgbClr val="27452B"/>
                </a:solidFill>
                <a:latin typeface="Calibri"/>
              </a:rPr>
              <a:t>Structured ideation methods</a:t>
            </a:r>
          </a:p>
          <a:p>
            <a:pPr indent="-203200" marL="203200">
              <a:spcAft>
                <a:spcPts val="900"/>
              </a:spcAft>
              <a:buClr>
                <a:srgbClr val="2F5233"/>
              </a:buClr>
              <a:buSzPct val="90000"/>
              <a:buFont typeface="Arial"/>
              <a:buChar char="–"/>
            </a:pPr>
            <a:r>
              <a:rPr sz="1350" b="0" i="0">
                <a:solidFill>
                  <a:srgbClr val="20291F"/>
                </a:solidFill>
                <a:latin typeface="Calibri"/>
              </a:rPr>
              <a:t>SCAMPER — Substitute, Combine, Adapt, Modify, Put to other use, Eliminate, Reverse</a:t>
            </a:r>
          </a:p>
          <a:p>
            <a:pPr indent="-203200" marL="203200">
              <a:spcAft>
                <a:spcPts val="900"/>
              </a:spcAft>
              <a:buClr>
                <a:srgbClr val="2F5233"/>
              </a:buClr>
              <a:buSzPct val="90000"/>
              <a:buFont typeface="Arial"/>
              <a:buChar char="–"/>
            </a:pPr>
            <a:r>
              <a:rPr sz="1350" b="0" i="0">
                <a:solidFill>
                  <a:srgbClr val="20291F"/>
                </a:solidFill>
                <a:latin typeface="Calibri"/>
              </a:rPr>
              <a:t>Crazy 8s — sketch 8 distinct ideas in 8 minutes to force rapid divergent thinking</a:t>
            </a:r>
          </a:p>
          <a:p>
            <a:pPr indent="-203200" marL="203200">
              <a:spcAft>
                <a:spcPts val="900"/>
              </a:spcAft>
              <a:buClr>
                <a:srgbClr val="2F5233"/>
              </a:buClr>
              <a:buSzPct val="90000"/>
              <a:buFont typeface="Arial"/>
              <a:buChar char="–"/>
            </a:pPr>
            <a:r>
              <a:rPr sz="1350" b="0" i="0">
                <a:solidFill>
                  <a:srgbClr val="20291F"/>
                </a:solidFill>
                <a:latin typeface="Calibri"/>
              </a:rPr>
              <a:t>Worst possible idea — deliberately generating bad ideas to break fixation and spark humour-led insight</a:t>
            </a:r>
          </a:p>
          <a:p>
            <a:pPr indent="-203200" marL="203200">
              <a:spcAft>
                <a:spcPts val="900"/>
              </a:spcAft>
              <a:buClr>
                <a:srgbClr val="2F5233"/>
              </a:buClr>
              <a:buSzPct val="90000"/>
              <a:buFont typeface="Arial"/>
              <a:buChar char="–"/>
            </a:pPr>
            <a:r>
              <a:rPr sz="1350" b="0" i="0">
                <a:solidFill>
                  <a:srgbClr val="20291F"/>
                </a:solidFill>
                <a:latin typeface="Calibri"/>
              </a:rPr>
              <a:t>Biomimicry as ideation — asking 'how would nature solve this?'</a:t>
            </a:r>
          </a:p>
        </p:txBody>
      </p:sp>
      <p:sp>
        <p:nvSpPr>
          <p:cNvPr id="5" name="Oval 4"/>
          <p:cNvSpPr/>
          <p:nvPr/>
        </p:nvSpPr>
        <p:spPr>
          <a:xfrm>
            <a:off x="10881360" y="5943600"/>
            <a:ext cx="1005840" cy="1005840"/>
          </a:xfrm>
          <a:prstGeom prst="ellipse">
            <a:avLst/>
          </a:prstGeom>
          <a:solidFill>
            <a:srgbClr val="C5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85800" y="502920"/>
            <a:ext cx="3291840" cy="457200"/>
          </a:xfrm>
          <a:prstGeom prst="roundRect">
            <a:avLst>
              <a:gd name="adj" fmla="val 50000"/>
            </a:avLst>
          </a:prstGeom>
          <a:solidFill>
            <a:srgbClr val="2F5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EXTENDED KNOWLEDGE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20291F"/>
                </a:solidFill>
                <a:latin typeface="Cambria"/>
              </a:rPr>
              <a:t>Presenting and Pitching Design Concepts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74519"/>
            <a:ext cx="10607040" cy="4526280"/>
          </a:xfrm>
          <a:prstGeom prst="roundRect">
            <a:avLst>
              <a:gd name="adj" fmla="val 6000"/>
            </a:avLst>
          </a:prstGeom>
          <a:solidFill>
            <a:srgbClr val="EAE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30200" rIns="330200" tIns="254000" bIns="254000" wrap="square"/>
          <a:lstStyle/>
          <a:p>
            <a:pPr algn="ctr" indent="-203200" marL="203200">
              <a:spcAft>
                <a:spcPts val="900"/>
              </a:spcAft>
              <a:buClr>
                <a:srgbClr val="2F5233"/>
              </a:buClr>
              <a:buSzPct val="90000"/>
              <a:buFont typeface="Arial"/>
              <a:buChar char="●"/>
            </a:pPr>
            <a:r>
              <a:rPr sz="1500" b="1" i="0">
                <a:solidFill>
                  <a:srgbClr val="27452B"/>
                </a:solidFill>
                <a:latin typeface="Calibri"/>
              </a:rPr>
              <a:t>Communicating design decisions</a:t>
            </a:r>
          </a:p>
          <a:p>
            <a:pPr indent="-203200" marL="203200">
              <a:spcAft>
                <a:spcPts val="900"/>
              </a:spcAft>
              <a:buClr>
                <a:srgbClr val="2F5233"/>
              </a:buClr>
              <a:buSzPct val="90000"/>
              <a:buFont typeface="Arial"/>
              <a:buChar char="–"/>
            </a:pPr>
            <a:r>
              <a:rPr sz="1350" b="0" i="0">
                <a:solidFill>
                  <a:srgbClr val="20291F"/>
                </a:solidFill>
                <a:latin typeface="Calibri"/>
              </a:rPr>
              <a:t>Professional designers frame concepts as a story: the problem, the insight, the solution, the expected impact — rather than simply describing what was made. Practising this framing strengthens folio annotations and oral presentation of concepts.</a:t>
            </a:r>
          </a:p>
        </p:txBody>
      </p:sp>
      <p:sp>
        <p:nvSpPr>
          <p:cNvPr id="5" name="Oval 4"/>
          <p:cNvSpPr/>
          <p:nvPr/>
        </p:nvSpPr>
        <p:spPr>
          <a:xfrm>
            <a:off x="10881360" y="5943600"/>
            <a:ext cx="1005840" cy="1005840"/>
          </a:xfrm>
          <a:prstGeom prst="ellipse">
            <a:avLst/>
          </a:prstGeom>
          <a:solidFill>
            <a:srgbClr val="C5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FA3B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914400" y="-914400"/>
            <a:ext cx="2103120" cy="2103120"/>
          </a:xfrm>
          <a:prstGeom prst="ellipse">
            <a:avLst/>
          </a:prstGeom>
          <a:solidFill>
            <a:srgbClr val="6F8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1064240" y="5852160"/>
            <a:ext cx="1737360" cy="1737360"/>
          </a:xfrm>
          <a:prstGeom prst="ellipse">
            <a:avLst/>
          </a:prstGeom>
          <a:solidFill>
            <a:srgbClr val="6F8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85800" y="457200"/>
            <a:ext cx="1033271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400">
                <a:solidFill>
                  <a:srgbClr val="526972"/>
                </a:solidFill>
                <a:latin typeface="Calibri"/>
              </a:rPr>
              <a:t>QUIZ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14300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mbria"/>
              </a:rPr>
              <a:t>Semiotics Speed Round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48840"/>
            <a:ext cx="960120" cy="411480"/>
          </a:xfrm>
          <a:prstGeom prst="roundRect">
            <a:avLst>
              <a:gd name="adj" fmla="val 50000"/>
            </a:avLst>
          </a:prstGeom>
          <a:solidFill>
            <a:srgbClr val="5F7A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4 MIN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783080" y="2148840"/>
            <a:ext cx="1563624" cy="411480"/>
          </a:xfrm>
          <a:prstGeom prst="roundRect">
            <a:avLst>
              <a:gd name="adj" fmla="val 50000"/>
            </a:avLst>
          </a:prstGeom>
          <a:solidFill>
            <a:srgbClr val="5F7A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WHOLE CLASS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788920"/>
            <a:ext cx="10607040" cy="3246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04800" rIns="304800" tIns="203200" bIns="203200" wrap="square"/>
          <a:lstStyle/>
          <a:p>
            <a:pPr algn="ctr" indent="-203200" marL="203200">
              <a:spcAft>
                <a:spcPts val="900"/>
              </a:spcAft>
              <a:buClr>
                <a:srgbClr val="7FA3B0"/>
              </a:buClr>
              <a:buSzPct val="90000"/>
              <a:buFont typeface="Arial"/>
              <a:buChar char="●"/>
            </a:pPr>
            <a:r>
              <a:rPr sz="1450" b="0" i="0">
                <a:solidFill>
                  <a:srgbClr val="20291F"/>
                </a:solidFill>
                <a:latin typeface="Calibri"/>
              </a:rPr>
              <a:t>Teacher shows an image; students call out whether it's functioning as an icon, index or symbol.</a:t>
            </a:r>
          </a:p>
          <a:p>
            <a:pPr indent="-203200" marL="203200">
              <a:spcAft>
                <a:spcPts val="900"/>
              </a:spcAft>
              <a:buClr>
                <a:srgbClr val="7FA3B0"/>
              </a:buClr>
              <a:buSzPct val="90000"/>
              <a:buFont typeface="Arial"/>
              <a:buChar char="●"/>
            </a:pPr>
            <a:r>
              <a:rPr sz="1450" b="0" i="0">
                <a:solidFill>
                  <a:srgbClr val="20291F"/>
                </a:solidFill>
                <a:latin typeface="Calibri"/>
              </a:rPr>
              <a:t>Example: a photograph of a dog (icon), smoke (index of fire), a red cross (symbol).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217920"/>
            <a:ext cx="106070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 i="1">
                <a:solidFill>
                  <a:srgbClr val="FFFFFF"/>
                </a:solidFill>
                <a:latin typeface="Calibri"/>
              </a:rPr>
              <a:t>Debrief: Can a single image function as more than one of these at once?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F52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92640" y="-914400"/>
            <a:ext cx="2926080" cy="2926080"/>
          </a:xfrm>
          <a:prstGeom prst="ellipse">
            <a:avLst/>
          </a:prstGeom>
          <a:solidFill>
            <a:srgbClr val="294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914400" y="4937760"/>
            <a:ext cx="2377440" cy="2377440"/>
          </a:xfrm>
          <a:prstGeom prst="ellipse">
            <a:avLst/>
          </a:prstGeom>
          <a:solidFill>
            <a:srgbClr val="294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60" y="1051560"/>
            <a:ext cx="118872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ctr"/>
            <a:r>
              <a:rPr sz="1400" b="1">
                <a:solidFill>
                  <a:srgbClr val="254128"/>
                </a:solidFill>
                <a:latin typeface="Calibri"/>
              </a:rPr>
              <a:t>04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011680"/>
            <a:ext cx="10515600" cy="2834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2697480"/>
            <a:ext cx="9601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 i="0">
                <a:solidFill>
                  <a:srgbClr val="27452B"/>
                </a:solidFill>
                <a:latin typeface="Cambria"/>
              </a:rPr>
              <a:t>SAC Briefing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657600"/>
            <a:ext cx="9601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>
                <a:solidFill>
                  <a:srgbClr val="6B6B6B"/>
                </a:solidFill>
                <a:latin typeface="Calibri"/>
              </a:rPr>
              <a:t>Draft — confirm against your school’s SAC schedule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85800" y="502920"/>
            <a:ext cx="3291840" cy="457200"/>
          </a:xfrm>
          <a:prstGeom prst="roundRect">
            <a:avLst>
              <a:gd name="adj" fmla="val 50000"/>
            </a:avLst>
          </a:prstGeom>
          <a:solidFill>
            <a:srgbClr val="2F5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SAC BRIEFING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20291F"/>
                </a:solidFill>
                <a:latin typeface="Cambria"/>
              </a:rPr>
              <a:t>Outcome 1 (AOS 1) — Analysis and Reinterpretation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74519"/>
            <a:ext cx="10607040" cy="4526280"/>
          </a:xfrm>
          <a:prstGeom prst="roundRect">
            <a:avLst>
              <a:gd name="adj" fmla="val 6000"/>
            </a:avLst>
          </a:prstGeom>
          <a:solidFill>
            <a:srgbClr val="EAE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30200" rIns="330200" tIns="254000" bIns="254000" wrap="square"/>
          <a:lstStyle/>
          <a:p>
            <a:pPr algn="ctr" indent="-203200" marL="203200">
              <a:spcAft>
                <a:spcPts val="900"/>
              </a:spcAft>
              <a:buClr>
                <a:srgbClr val="2F5233"/>
              </a:buClr>
              <a:buSzPct val="90000"/>
              <a:buFont typeface="Arial"/>
              <a:buChar char="●"/>
            </a:pPr>
            <a:r>
              <a:rPr sz="1500" b="1" i="0">
                <a:solidFill>
                  <a:srgbClr val="27452B"/>
                </a:solidFill>
                <a:latin typeface="Calibri"/>
              </a:rPr>
              <a:t>Task</a:t>
            </a:r>
          </a:p>
          <a:p>
            <a:pPr indent="-203200" marL="203200">
              <a:spcAft>
                <a:spcPts val="900"/>
              </a:spcAft>
              <a:buClr>
                <a:srgbClr val="2F5233"/>
              </a:buClr>
              <a:buSzPct val="90000"/>
              <a:buFont typeface="Arial"/>
              <a:buChar char="–"/>
            </a:pPr>
            <a:r>
              <a:rPr sz="1350" b="0" i="0">
                <a:solidFill>
                  <a:srgbClr val="20291F"/>
                </a:solidFill>
                <a:latin typeface="Calibri"/>
              </a:rPr>
              <a:t>Select an existing visual communication. Analyse it in depth (purpose, audience, elements and principles, materials and methods, context), then propose a reconceptualisation or reinvention for a new audience or context, justifying the approach in an annotated visual submission with a supporting written justification of approximately 400-600 words.</a:t>
            </a:r>
          </a:p>
          <a:p>
            <a:pPr indent="-203200" marL="203200">
              <a:spcAft>
                <a:spcPts val="900"/>
              </a:spcAft>
              <a:buClr>
                <a:srgbClr val="2F5233"/>
              </a:buClr>
              <a:buSzPct val="90000"/>
              <a:buFont typeface="Arial"/>
              <a:buChar char="●"/>
            </a:pPr>
            <a:r>
              <a:rPr sz="1500" b="1" i="0">
                <a:solidFill>
                  <a:srgbClr val="27452B"/>
                </a:solidFill>
                <a:latin typeface="Calibri"/>
              </a:rPr>
              <a:t>Conditions</a:t>
            </a:r>
          </a:p>
          <a:p>
            <a:pPr indent="-203200" marL="203200">
              <a:spcAft>
                <a:spcPts val="900"/>
              </a:spcAft>
              <a:buClr>
                <a:srgbClr val="2F5233"/>
              </a:buClr>
              <a:buSzPct val="90000"/>
              <a:buFont typeface="Arial"/>
              <a:buChar char="–"/>
            </a:pPr>
            <a:r>
              <a:rPr sz="1350" b="0" i="0">
                <a:solidFill>
                  <a:srgbClr val="20291F"/>
                </a:solidFill>
                <a:latin typeface="Calibri"/>
              </a:rPr>
              <a:t>Completed over approximately 2-3 weeks</a:t>
            </a:r>
          </a:p>
          <a:p>
            <a:pPr indent="-203200" marL="203200">
              <a:spcAft>
                <a:spcPts val="900"/>
              </a:spcAft>
              <a:buClr>
                <a:srgbClr val="2F5233"/>
              </a:buClr>
              <a:buSzPct val="90000"/>
              <a:buFont typeface="Arial"/>
              <a:buChar char="–"/>
            </a:pPr>
            <a:r>
              <a:rPr sz="1350" b="0" i="0">
                <a:solidFill>
                  <a:srgbClr val="20291F"/>
                </a:solidFill>
                <a:latin typeface="Calibri"/>
              </a:rPr>
              <a:t>Submitted as folio pages (visual and annotation) plus a short written justification</a:t>
            </a:r>
          </a:p>
          <a:p>
            <a:pPr indent="-203200" marL="203200">
              <a:spcAft>
                <a:spcPts val="900"/>
              </a:spcAft>
              <a:buClr>
                <a:srgbClr val="2F5233"/>
              </a:buClr>
              <a:buSzPct val="90000"/>
              <a:buFont typeface="Arial"/>
              <a:buChar char="–"/>
            </a:pPr>
            <a:r>
              <a:rPr sz="1350" b="0" i="0">
                <a:solidFill>
                  <a:srgbClr val="20291F"/>
                </a:solidFill>
                <a:latin typeface="Calibri"/>
              </a:rPr>
              <a:t>Individual work</a:t>
            </a:r>
          </a:p>
          <a:p>
            <a:pPr indent="-203200" marL="203200">
              <a:spcAft>
                <a:spcPts val="900"/>
              </a:spcAft>
              <a:buClr>
                <a:srgbClr val="2F5233"/>
              </a:buClr>
              <a:buSzPct val="90000"/>
              <a:buFont typeface="Arial"/>
              <a:buChar char="●"/>
            </a:pPr>
            <a:r>
              <a:rPr sz="1500" b="1" i="0">
                <a:solidFill>
                  <a:srgbClr val="27452B"/>
                </a:solidFill>
                <a:latin typeface="Calibri"/>
              </a:rPr>
              <a:t>Assessment Criteria (/40)</a:t>
            </a:r>
          </a:p>
          <a:p>
            <a:pPr indent="-203200" marL="203200">
              <a:spcAft>
                <a:spcPts val="900"/>
              </a:spcAft>
              <a:buClr>
                <a:srgbClr val="2F5233"/>
              </a:buClr>
              <a:buSzPct val="90000"/>
              <a:buFont typeface="Arial"/>
              <a:buChar char="–"/>
            </a:pPr>
            <a:r>
              <a:rPr sz="1350" b="0" i="0">
                <a:solidFill>
                  <a:srgbClr val="20291F"/>
                </a:solidFill>
                <a:latin typeface="Calibri"/>
              </a:rPr>
              <a:t>Depth of analysis of the original design — 15 marks</a:t>
            </a:r>
          </a:p>
          <a:p>
            <a:pPr indent="-203200" marL="203200">
              <a:spcAft>
                <a:spcPts val="900"/>
              </a:spcAft>
              <a:buClr>
                <a:srgbClr val="2F5233"/>
              </a:buClr>
              <a:buSzPct val="90000"/>
              <a:buFont typeface="Arial"/>
              <a:buChar char="–"/>
            </a:pPr>
            <a:r>
              <a:rPr sz="1350" b="0" i="0">
                <a:solidFill>
                  <a:srgbClr val="20291F"/>
                </a:solidFill>
                <a:latin typeface="Calibri"/>
              </a:rPr>
              <a:t>Quality and originality of the reinterpretation proposal — 10 marks</a:t>
            </a:r>
          </a:p>
          <a:p>
            <a:pPr indent="-203200" marL="203200">
              <a:spcAft>
                <a:spcPts val="900"/>
              </a:spcAft>
              <a:buClr>
                <a:srgbClr val="2F5233"/>
              </a:buClr>
              <a:buSzPct val="90000"/>
              <a:buFont typeface="Arial"/>
              <a:buChar char="–"/>
            </a:pPr>
            <a:r>
              <a:rPr sz="1350" b="0" i="0">
                <a:solidFill>
                  <a:srgbClr val="20291F"/>
                </a:solidFill>
                <a:latin typeface="Calibri"/>
              </a:rPr>
              <a:t>Justification and links to the new context — 10 marks</a:t>
            </a:r>
          </a:p>
          <a:p>
            <a:pPr indent="-203200" marL="203200">
              <a:spcAft>
                <a:spcPts val="900"/>
              </a:spcAft>
              <a:buClr>
                <a:srgbClr val="2F5233"/>
              </a:buClr>
              <a:buSzPct val="90000"/>
              <a:buFont typeface="Arial"/>
              <a:buChar char="–"/>
            </a:pPr>
            <a:r>
              <a:rPr sz="1350" b="0" i="0">
                <a:solidFill>
                  <a:srgbClr val="20291F"/>
                </a:solidFill>
                <a:latin typeface="Calibri"/>
              </a:rPr>
              <a:t>Presentation of folio pages — 5 marks</a:t>
            </a:r>
          </a:p>
        </p:txBody>
      </p:sp>
      <p:sp>
        <p:nvSpPr>
          <p:cNvPr id="5" name="Oval 4"/>
          <p:cNvSpPr/>
          <p:nvPr/>
        </p:nvSpPr>
        <p:spPr>
          <a:xfrm>
            <a:off x="10881360" y="5943600"/>
            <a:ext cx="1005840" cy="1005840"/>
          </a:xfrm>
          <a:prstGeom prst="ellipse">
            <a:avLst/>
          </a:prstGeom>
          <a:solidFill>
            <a:srgbClr val="C5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85800" y="502920"/>
            <a:ext cx="3291840" cy="457200"/>
          </a:xfrm>
          <a:prstGeom prst="roundRect">
            <a:avLst>
              <a:gd name="adj" fmla="val 50000"/>
            </a:avLst>
          </a:prstGeom>
          <a:solidFill>
            <a:srgbClr val="2F5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SAC BRIEFING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5156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 i="0">
                <a:solidFill>
                  <a:srgbClr val="20291F"/>
                </a:solidFill>
                <a:latin typeface="Cambria"/>
              </a:rPr>
              <a:t>Outcome 2 (AOS 2) — The Brief and Range of Ideas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74519"/>
            <a:ext cx="10607040" cy="4526280"/>
          </a:xfrm>
          <a:prstGeom prst="roundRect">
            <a:avLst>
              <a:gd name="adj" fmla="val 6000"/>
            </a:avLst>
          </a:prstGeom>
          <a:solidFill>
            <a:srgbClr val="EAED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30200" rIns="330200" tIns="254000" bIns="254000" wrap="square"/>
          <a:lstStyle/>
          <a:p>
            <a:pPr algn="ctr" indent="-203200" marL="203200">
              <a:spcAft>
                <a:spcPts val="900"/>
              </a:spcAft>
              <a:buClr>
                <a:srgbClr val="2F5233"/>
              </a:buClr>
              <a:buSzPct val="90000"/>
              <a:buFont typeface="Arial"/>
              <a:buChar char="●"/>
            </a:pPr>
            <a:r>
              <a:rPr sz="1500" b="1" i="0">
                <a:solidFill>
                  <a:srgbClr val="27452B"/>
                </a:solidFill>
                <a:latin typeface="Calibri"/>
              </a:rPr>
              <a:t>Task</a:t>
            </a:r>
          </a:p>
          <a:p>
            <a:pPr indent="-203200" marL="203200">
              <a:spcAft>
                <a:spcPts val="900"/>
              </a:spcAft>
              <a:buClr>
                <a:srgbClr val="2F5233"/>
              </a:buClr>
              <a:buSzPct val="90000"/>
              <a:buFont typeface="Arial"/>
              <a:buChar char="–"/>
            </a:pPr>
            <a:r>
              <a:rPr sz="1350" b="0" i="0">
                <a:solidFill>
                  <a:srgbClr val="20291F"/>
                </a:solidFill>
                <a:latin typeface="Calibri"/>
              </a:rPr>
              <a:t>Write a design brief (informed by your Unit 3 AOS1 analysis and reinterpretation) and generate a wide range of ideas leading to two distinct concepts. Submit: the written brief, research documentation, generation of ideas (minimum 15 thumbnails/concepts), and two developed, distinct concepts with annotations.</a:t>
            </a:r>
          </a:p>
          <a:p>
            <a:pPr indent="-203200" marL="203200">
              <a:spcAft>
                <a:spcPts val="900"/>
              </a:spcAft>
              <a:buClr>
                <a:srgbClr val="2F5233"/>
              </a:buClr>
              <a:buSzPct val="90000"/>
              <a:buFont typeface="Arial"/>
              <a:buChar char="●"/>
            </a:pPr>
            <a:r>
              <a:rPr sz="1500" b="1" i="0">
                <a:solidFill>
                  <a:srgbClr val="27452B"/>
                </a:solidFill>
                <a:latin typeface="Calibri"/>
              </a:rPr>
              <a:t>Conditions</a:t>
            </a:r>
          </a:p>
          <a:p>
            <a:pPr indent="-203200" marL="203200">
              <a:spcAft>
                <a:spcPts val="900"/>
              </a:spcAft>
              <a:buClr>
                <a:srgbClr val="2F5233"/>
              </a:buClr>
              <a:buSzPct val="90000"/>
              <a:buFont typeface="Arial"/>
              <a:buChar char="–"/>
            </a:pPr>
            <a:r>
              <a:rPr sz="1350" b="0" i="0">
                <a:solidFill>
                  <a:srgbClr val="20291F"/>
                </a:solidFill>
                <a:latin typeface="Calibri"/>
              </a:rPr>
              <a:t>Completed over approximately 5-6 weeks — typically the largest SAC of the year</a:t>
            </a:r>
          </a:p>
          <a:p>
            <a:pPr indent="-203200" marL="203200">
              <a:spcAft>
                <a:spcPts val="900"/>
              </a:spcAft>
              <a:buClr>
                <a:srgbClr val="2F5233"/>
              </a:buClr>
              <a:buSzPct val="90000"/>
              <a:buFont typeface="Arial"/>
              <a:buChar char="–"/>
            </a:pPr>
            <a:r>
              <a:rPr sz="1350" b="0" i="0">
                <a:solidFill>
                  <a:srgbClr val="20291F"/>
                </a:solidFill>
                <a:latin typeface="Calibri"/>
              </a:rPr>
              <a:t>Folio submission</a:t>
            </a:r>
          </a:p>
          <a:p>
            <a:pPr indent="-203200" marL="203200">
              <a:spcAft>
                <a:spcPts val="900"/>
              </a:spcAft>
              <a:buClr>
                <a:srgbClr val="2F5233"/>
              </a:buClr>
              <a:buSzPct val="90000"/>
              <a:buFont typeface="Arial"/>
              <a:buChar char="–"/>
            </a:pPr>
            <a:r>
              <a:rPr sz="1350" b="0" i="0">
                <a:solidFill>
                  <a:srgbClr val="20291F"/>
                </a:solidFill>
                <a:latin typeface="Calibri"/>
              </a:rPr>
              <a:t>Individual work</a:t>
            </a:r>
          </a:p>
          <a:p>
            <a:pPr indent="-203200" marL="203200">
              <a:spcAft>
                <a:spcPts val="900"/>
              </a:spcAft>
              <a:buClr>
                <a:srgbClr val="2F5233"/>
              </a:buClr>
              <a:buSzPct val="90000"/>
              <a:buFont typeface="Arial"/>
              <a:buChar char="●"/>
            </a:pPr>
            <a:r>
              <a:rPr sz="1500" b="1" i="0">
                <a:solidFill>
                  <a:srgbClr val="27452B"/>
                </a:solidFill>
                <a:latin typeface="Calibri"/>
              </a:rPr>
              <a:t>Assessment Criteria (/70)</a:t>
            </a:r>
          </a:p>
          <a:p>
            <a:pPr indent="-203200" marL="203200">
              <a:spcAft>
                <a:spcPts val="900"/>
              </a:spcAft>
              <a:buClr>
                <a:srgbClr val="2F5233"/>
              </a:buClr>
              <a:buSzPct val="90000"/>
              <a:buFont typeface="Arial"/>
              <a:buChar char="–"/>
            </a:pPr>
            <a:r>
              <a:rPr sz="1350" b="0" i="0">
                <a:solidFill>
                  <a:srgbClr val="20291F"/>
                </a:solidFill>
                <a:latin typeface="Calibri"/>
              </a:rPr>
              <a:t>Quality and clarity of the brief — 10 marks</a:t>
            </a:r>
          </a:p>
          <a:p>
            <a:pPr indent="-203200" marL="203200">
              <a:spcAft>
                <a:spcPts val="900"/>
              </a:spcAft>
              <a:buClr>
                <a:srgbClr val="2F5233"/>
              </a:buClr>
              <a:buSzPct val="90000"/>
              <a:buFont typeface="Arial"/>
              <a:buChar char="–"/>
            </a:pPr>
            <a:r>
              <a:rPr sz="1350" b="0" i="0">
                <a:solidFill>
                  <a:srgbClr val="20291F"/>
                </a:solidFill>
                <a:latin typeface="Calibri"/>
              </a:rPr>
              <a:t>Relevance of research — 10 marks</a:t>
            </a:r>
          </a:p>
          <a:p>
            <a:pPr indent="-203200" marL="203200">
              <a:spcAft>
                <a:spcPts val="900"/>
              </a:spcAft>
              <a:buClr>
                <a:srgbClr val="2F5233"/>
              </a:buClr>
              <a:buSzPct val="90000"/>
              <a:buFont typeface="Arial"/>
              <a:buChar char="–"/>
            </a:pPr>
            <a:r>
              <a:rPr sz="1350" b="0" i="0">
                <a:solidFill>
                  <a:srgbClr val="20291F"/>
                </a:solidFill>
                <a:latin typeface="Calibri"/>
              </a:rPr>
              <a:t>Range and quantity of ideas generated — 15 marks</a:t>
            </a:r>
          </a:p>
          <a:p>
            <a:pPr indent="-203200" marL="203200">
              <a:spcAft>
                <a:spcPts val="900"/>
              </a:spcAft>
              <a:buClr>
                <a:srgbClr val="2F5233"/>
              </a:buClr>
              <a:buSzPct val="90000"/>
              <a:buFont typeface="Arial"/>
              <a:buChar char="–"/>
            </a:pPr>
            <a:r>
              <a:rPr sz="1350" b="0" i="0">
                <a:solidFill>
                  <a:srgbClr val="20291F"/>
                </a:solidFill>
                <a:latin typeface="Calibri"/>
              </a:rPr>
              <a:t>Distinctiveness and quality of the two concepts — 20 marks</a:t>
            </a:r>
          </a:p>
          <a:p>
            <a:pPr indent="-203200" marL="203200">
              <a:spcAft>
                <a:spcPts val="900"/>
              </a:spcAft>
              <a:buClr>
                <a:srgbClr val="2F5233"/>
              </a:buClr>
              <a:buSzPct val="90000"/>
              <a:buFont typeface="Arial"/>
              <a:buChar char="–"/>
            </a:pPr>
            <a:r>
              <a:rPr sz="1350" b="0" i="0">
                <a:solidFill>
                  <a:srgbClr val="20291F"/>
                </a:solidFill>
                <a:latin typeface="Calibri"/>
              </a:rPr>
              <a:t>Annotation and documentation of design thinking — 15 marks</a:t>
            </a:r>
          </a:p>
        </p:txBody>
      </p:sp>
      <p:sp>
        <p:nvSpPr>
          <p:cNvPr id="5" name="Oval 4"/>
          <p:cNvSpPr/>
          <p:nvPr/>
        </p:nvSpPr>
        <p:spPr>
          <a:xfrm>
            <a:off x="10881360" y="5943600"/>
            <a:ext cx="1005840" cy="1005840"/>
          </a:xfrm>
          <a:prstGeom prst="ellipse">
            <a:avLst/>
          </a:prstGeom>
          <a:solidFill>
            <a:srgbClr val="C5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FA3B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914400" y="-914400"/>
            <a:ext cx="2103120" cy="2103120"/>
          </a:xfrm>
          <a:prstGeom prst="ellipse">
            <a:avLst/>
          </a:prstGeom>
          <a:solidFill>
            <a:srgbClr val="6F8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1064240" y="5852160"/>
            <a:ext cx="1737360" cy="1737360"/>
          </a:xfrm>
          <a:prstGeom prst="ellipse">
            <a:avLst/>
          </a:prstGeom>
          <a:solidFill>
            <a:srgbClr val="6F8F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85800" y="457200"/>
            <a:ext cx="1431036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400">
                <a:solidFill>
                  <a:srgbClr val="526972"/>
                </a:solidFill>
                <a:latin typeface="Calibri"/>
              </a:rPr>
              <a:t>DISCUSS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143000"/>
            <a:ext cx="106070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mbria"/>
              </a:rPr>
              <a:t>What Makes Concepts Distinct?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48840"/>
            <a:ext cx="960120" cy="411480"/>
          </a:xfrm>
          <a:prstGeom prst="roundRect">
            <a:avLst>
              <a:gd name="adj" fmla="val 50000"/>
            </a:avLst>
          </a:prstGeom>
          <a:solidFill>
            <a:srgbClr val="5F7A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5 MIN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783080" y="2148840"/>
            <a:ext cx="2066543" cy="411480"/>
          </a:xfrm>
          <a:prstGeom prst="roundRect">
            <a:avLst>
              <a:gd name="adj" fmla="val 50000"/>
            </a:avLst>
          </a:prstGeom>
          <a:solidFill>
            <a:srgbClr val="5F7A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THINK-PAIR-SHARE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788920"/>
            <a:ext cx="10607040" cy="3246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04800" rIns="304800" tIns="203200" bIns="203200" wrap="square"/>
          <a:lstStyle/>
          <a:p>
            <a:pPr algn="ctr" indent="-203200" marL="203200">
              <a:spcAft>
                <a:spcPts val="900"/>
              </a:spcAft>
              <a:buClr>
                <a:srgbClr val="7FA3B0"/>
              </a:buClr>
              <a:buSzPct val="90000"/>
              <a:buFont typeface="Arial"/>
              <a:buChar char="●"/>
            </a:pPr>
            <a:r>
              <a:rPr sz="1450" b="0" i="0">
                <a:solidFill>
                  <a:srgbClr val="20291F"/>
                </a:solidFill>
                <a:latin typeface="Calibri"/>
              </a:rPr>
              <a:t>Think: look at two of your own thumbnail ideas — are they genuinely distinct, or just colour variants?</a:t>
            </a:r>
          </a:p>
          <a:p>
            <a:pPr indent="-203200" marL="203200">
              <a:spcAft>
                <a:spcPts val="900"/>
              </a:spcAft>
              <a:buClr>
                <a:srgbClr val="7FA3B0"/>
              </a:buClr>
              <a:buSzPct val="90000"/>
              <a:buFont typeface="Arial"/>
              <a:buChar char="●"/>
            </a:pPr>
            <a:r>
              <a:rPr sz="1450" b="0" i="0">
                <a:solidFill>
                  <a:srgbClr val="20291F"/>
                </a:solidFill>
                <a:latin typeface="Calibri"/>
              </a:rPr>
              <a:t>Pair: explain to a partner what makes (or doesn't make) them distinct.</a:t>
            </a:r>
          </a:p>
          <a:p>
            <a:pPr indent="-203200" marL="203200">
              <a:spcAft>
                <a:spcPts val="900"/>
              </a:spcAft>
              <a:buClr>
                <a:srgbClr val="7FA3B0"/>
              </a:buClr>
              <a:buSzPct val="90000"/>
              <a:buFont typeface="Arial"/>
              <a:buChar char="●"/>
            </a:pPr>
            <a:r>
              <a:rPr sz="1450" b="0" i="0">
                <a:solidFill>
                  <a:srgbClr val="20291F"/>
                </a:solidFill>
                <a:latin typeface="Calibri"/>
              </a:rPr>
              <a:t>Share: one pair reports a good example of genuine distinctiveness to the class.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217920"/>
            <a:ext cx="106070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 i="1">
                <a:solidFill>
                  <a:srgbClr val="FFFFFF"/>
                </a:solidFill>
                <a:latin typeface="Calibri"/>
              </a:rPr>
              <a:t>Debrief: Distinctiveness is explicitly assessed in the Unit 3 AOS2 SAC criteria.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F52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097280" y="4114800"/>
            <a:ext cx="3108960" cy="3108960"/>
          </a:xfrm>
          <a:prstGeom prst="ellipse">
            <a:avLst/>
          </a:prstGeom>
          <a:solidFill>
            <a:srgbClr val="294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875520" y="-1188720"/>
            <a:ext cx="2743200" cy="2743200"/>
          </a:xfrm>
          <a:prstGeom prst="ellipse">
            <a:avLst/>
          </a:prstGeom>
          <a:solidFill>
            <a:srgbClr val="C97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920240" y="2286000"/>
            <a:ext cx="8321040" cy="23774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3000">
                <a:solidFill>
                  <a:srgbClr val="2F5233"/>
                </a:solidFill>
                <a:latin typeface="Cambria"/>
              </a:rPr>
              <a:t>End of Unit 3</a:t>
            </a:r>
          </a:p>
          <a:p>
            <a:pPr algn="ctr"/>
            <a:r>
              <a:rPr sz="1400">
                <a:solidFill>
                  <a:srgbClr val="595959"/>
                </a:solidFill>
              </a:rPr>
              <a:t>Review the matching workbook to consolidate what you have learnt.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