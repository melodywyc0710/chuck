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 rot="21420000">
            <a:off x="-1188720" y="-1005840"/>
            <a:ext cx="7863840" cy="6766560"/>
          </a:xfrm>
          <a:prstGeom prst="roundRect">
            <a:avLst>
              <a:gd name="adj" fmla="val 32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332720" y="-640080"/>
            <a:ext cx="2194560" cy="219456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65760" y="5623560"/>
            <a:ext cx="1371600" cy="1371600"/>
          </a:xfrm>
          <a:prstGeom prst="ellipse">
            <a:avLst/>
          </a:prstGeom>
          <a:solidFill>
            <a:srgbClr val="7FA3B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503920" y="3566160"/>
            <a:ext cx="3291840" cy="310896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/>
            <a:r>
              <a:rPr sz="22000" b="1" i="0">
                <a:solidFill>
                  <a:srgbClr val="D9DFDA"/>
                </a:solidFill>
                <a:latin typeface="Cambria"/>
              </a:rPr>
              <a:t>3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640080"/>
            <a:ext cx="411480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50" b="1">
                <a:solidFill>
                  <a:srgbClr val="2F5233"/>
                </a:solidFill>
                <a:latin typeface="Calibri"/>
              </a:rPr>
              <a:t>VCE VISUAL COMMUNICATION DESIGN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1417320"/>
            <a:ext cx="5669280" cy="2377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Cambria"/>
              </a:rPr>
              <a:t>Unit 3: Reconceptualisation and Reinvention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794760"/>
            <a:ext cx="5486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600" b="0" i="0">
                <a:solidFill>
                  <a:srgbClr val="EAEDEA"/>
                </a:solidFill>
                <a:latin typeface="Calibri"/>
              </a:rPr>
              <a:t>VCE Visual Communication Design — Year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7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06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06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05C30"/>
                </a:solidFill>
                <a:latin typeface="Calibri"/>
              </a:rPr>
              <a:t>01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6233"/>
                </a:solidFill>
                <a:latin typeface="Cambria"/>
              </a:rPr>
              <a:t>Analysis &amp; Reinterpretation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1 - Analysis and Practice in Context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Analysing &amp; Reinterpreting Designs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In Unit 3, you select an </a:t>
            </a:r>
            <a:r>
              <a:rPr sz="1400" b="1" i="0">
                <a:solidFill>
                  <a:srgbClr val="27452B"/>
                </a:solidFill>
                <a:latin typeface="Calibri"/>
              </a:rPr>
              <a:t>existing design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from one of the four design fields, analyse it in depth, then reinterpret it for a </a:t>
            </a:r>
            <a:r>
              <a:rPr sz="1400" b="1" i="0">
                <a:solidFill>
                  <a:srgbClr val="27452B"/>
                </a:solidFill>
                <a:latin typeface="Calibri"/>
              </a:rPr>
              <a:t>new context, audience or purpose.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This process forms the foundation for your folio — the analysis and reinterpretation informs the two concepts you will develop across Units 3 and 4.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The Two Stages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B8A95"/>
                </a:solidFill>
                <a:latin typeface="Calibri"/>
              </a:rPr>
              <a:t>1. Analysis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understanding the original design in depth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6B8A95"/>
                </a:solidFill>
                <a:latin typeface="Calibri"/>
              </a:rPr>
              <a:t>2. Reinterpretation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reimagining it for a different context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A Framework for Analysis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A thorough analysis considers more than just appearance — it examines the design's full context of creation and use.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Purpose &amp; audience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who was it made for, and why?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Elements &amp; principles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what visual language is used, and to what effect?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Materials &amp; methods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how was it made or produced?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Context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when/where was it created; what design field and movement does it belong to?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Exam Tip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Always support analysis with </a:t>
            </a:r>
            <a:r>
              <a:rPr sz="1400" b="1" i="0">
                <a:solidFill>
                  <a:srgbClr val="6B8A95"/>
                </a:solidFill>
                <a:latin typeface="Calibri"/>
              </a:rPr>
              <a:t>specific visual evidence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from the design — not general impressions. Use the Name → Evidence → Effect formula.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Reconceptualisation vs Reinvention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Reconceptualisation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Changing the design for a </a:t>
            </a:r>
            <a:r>
              <a:rPr sz="1400" b="1" i="0">
                <a:solidFill>
                  <a:srgbClr val="27452B"/>
                </a:solidFill>
                <a:latin typeface="Calibri"/>
              </a:rPr>
              <a:t>new audience, purpose or context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while keeping its core visual identity recognisable.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e.g. redesigning a children's brand identity for an adult luxury market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Reinvention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A more </a:t>
            </a:r>
            <a:r>
              <a:rPr sz="1400" b="1" i="0">
                <a:solidFill>
                  <a:srgbClr val="6B8A95"/>
                </a:solidFill>
                <a:latin typeface="Calibri"/>
              </a:rPr>
              <a:t>radical transformation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— taking the underlying idea or function of a design and expressing it in an entirely new visual form or medium.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e.g. reinventing a print poster campaign as an interactive app experience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Ways to Reinterpret a Design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Change Audience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Redesign for a different age group, culture, or market segment.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5C30"/>
                </a:solidFill>
                <a:latin typeface="Calibri"/>
              </a:rPr>
              <a:t>Change Field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Move a concept from one design field to another (e.g. a logo to a spatial installation).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5828C"/>
                </a:solidFill>
                <a:latin typeface="Calibri"/>
              </a:rPr>
              <a:t>Change Era/Style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Reimagine a historical design using a contemporary visual style, or vice versa.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Change Medium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Translate a static design into digital, interactive or 3D form.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>
              <a:spcAft>
                <a:spcPts val="900"/>
              </a:spcAft>
              <a:buNone/>
            </a:pPr>
            <a:r>
              <a:rPr sz="1050" b="1" i="1">
                <a:solidFill>
                  <a:srgbClr val="AA6233"/>
                </a:solidFill>
                <a:latin typeface="Calibri"/>
              </a:rPr>
              <a:t>Exam vocab:</a:t>
            </a:r>
            <a:r>
              <a:rPr sz="1050" b="0" i="1">
                <a:solidFill>
                  <a:srgbClr val="20291F"/>
                </a:solidFill>
                <a:latin typeface="Calibri"/>
              </a:rPr>
              <a:t> reconceptualise, reinvent, reinterpret, contemporary context, target audience shift, visual identity, transform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Answering Analysis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Feature → Evidence → Effect → Context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1. Name a visual feature (element/principle)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2. Describe specific evidence in the design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3. Explain the effect on the audience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4. Link to the design's context or purpose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0291F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"The original design uses [element/principle] to..."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"If reconceptualised for [new audience], this could..."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"Reinventing this in [new field/medium] would require..."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ANALYSIS &amp; REINTERPRETATION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Analysis &amp; Reinterpretation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Analysis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Purpose, audience, elements/principles, materials, context.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5C30"/>
                </a:solidFill>
                <a:latin typeface="Calibri"/>
              </a:rPr>
              <a:t>Reconceptualise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Same core identity, new audience/purpose.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5828C"/>
                </a:solidFill>
                <a:latin typeface="Calibri"/>
              </a:rPr>
              <a:t>Reinvent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Radical transformation of form/medium.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Justify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Always explain why the change suits the new context.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C9743D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291F"/>
                </a:solidFill>
                <a:latin typeface="Calibri"/>
              </a:rPr>
              <a:t> Reminder: this analysis directly feeds into the </a:t>
            </a:r>
            <a:r>
              <a:rPr sz="1200" b="1" i="0">
                <a:solidFill>
                  <a:srgbClr val="AA6233"/>
                </a:solidFill>
                <a:latin typeface="Calibri"/>
              </a:rPr>
              <a:t>brief you write for your own folio work</a:t>
            </a:r>
            <a:r>
              <a:rPr sz="1200" b="0" i="0">
                <a:solidFill>
                  <a:srgbClr val="20291F"/>
                </a:solidFill>
                <a:latin typeface="Calibri"/>
              </a:rPr>
              <a:t> in AOS 2. 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294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294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254128"/>
                </a:solidFill>
                <a:latin typeface="Calibri"/>
              </a:rPr>
              <a:t>02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7452B"/>
                </a:solidFill>
                <a:latin typeface="Cambria"/>
              </a:rPr>
              <a:t>The Brief &amp; Ideation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AOS 2 - Design Industry Practice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Writing Your Own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Using your Unit 3 AOS 1 analysis and reinterpretation, you write a </a:t>
            </a:r>
            <a:r>
              <a:rPr sz="1400" b="1" i="0">
                <a:solidFill>
                  <a:srgbClr val="27452B"/>
                </a:solidFill>
                <a:latin typeface="Calibri"/>
              </a:rPr>
              <a:t>design brief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that will guide your folio work across Units 3 and 4.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This brief must be specific enough to guide two distinct concepts, but open enough to allow genuine creative exploration.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Your Brief Must State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Client / context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Target audience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Purpose &amp; communication objectives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Constraints (time, materials, format)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Two (2) obligatory design fields/outcomes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Deconstructing a Brief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Before generating ideas, break the brief into its component parts to ensure nothing is missed.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Who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the target audience and their needs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What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the required outcomes (obligatory design fields)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Why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the purpose and desired effect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Constraints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what limits the possible solutions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Exam Tip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Exam questions often ask you to identify a </a:t>
            </a:r>
            <a:r>
              <a:rPr sz="1400" b="1" i="0">
                <a:solidFill>
                  <a:srgbClr val="6B8A95"/>
                </a:solidFill>
                <a:latin typeface="Calibri"/>
              </a:rPr>
              <a:t>missing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or </a:t>
            </a:r>
            <a:r>
              <a:rPr sz="1400" b="1" i="0">
                <a:solidFill>
                  <a:srgbClr val="6B8A95"/>
                </a:solidFill>
                <a:latin typeface="Calibri"/>
              </a:rPr>
              <a:t>unclear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part of a given brief — practice spotting gaps in audience, purpose or constraints.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Generating Two Distinct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Your folio must show a genuine range of ideas — leading to </a:t>
            </a:r>
            <a:r>
              <a:rPr sz="1400" b="1" i="0">
                <a:solidFill>
                  <a:srgbClr val="27452B"/>
                </a:solidFill>
                <a:latin typeface="Calibri"/>
              </a:rPr>
              <a:t>two distinctly different concepts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that will each be developed and refined in Unit 4.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What Makes Concepts "Distinct"?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Different visual approach (not just colour changes)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Different treatment of elements/principles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Different overall style or design field emphasis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Ideation Methods (recap)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Brainstorming, mind mapping, thumbnail sketches, mood boards, SCAMPER — see the Unit 1 AOS 2 Design Process materials for a full recap of these methods.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Research to Support Ideation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Targeted research ensures your ideas are grounded in the brief's real audience and context, not just personal preference.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Audience research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interviews, surveys of the target group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Visual research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mood boards, existing designs in the same field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1" i="0">
                <a:solidFill>
                  <a:srgbClr val="27452B"/>
                </a:solidFill>
                <a:latin typeface="Calibri"/>
              </a:rPr>
              <a:t>Contextual research</a:t>
            </a:r>
            <a:r>
              <a:rPr sz="1250" b="0" i="0">
                <a:solidFill>
                  <a:srgbClr val="20291F"/>
                </a:solidFill>
                <a:latin typeface="Calibri"/>
              </a:rPr>
              <a:t> — relevant trends, industry practice, materials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●"/>
            </a:pPr>
            <a:r>
              <a:rPr sz="1400" b="0" i="0">
                <a:solidFill>
                  <a:srgbClr val="20291F"/>
                </a:solidFill>
                <a:latin typeface="Calibri"/>
              </a:rPr>
              <a:t>Link your research directly back to </a:t>
            </a:r>
            <a:r>
              <a:rPr sz="1400" b="1" i="0">
                <a:solidFill>
                  <a:srgbClr val="6B8A95"/>
                </a:solidFill>
                <a:latin typeface="Calibri"/>
              </a:rPr>
              <a:t>Unit 2</a:t>
            </a:r>
            <a:r>
              <a:rPr sz="1400" b="0" i="0">
                <a:solidFill>
                  <a:srgbClr val="20291F"/>
                </a:solidFill>
                <a:latin typeface="Calibri"/>
              </a:rPr>
              <a:t> concepts — current trends and industry connections should inform your ideas.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Answering Brief Questions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E6EAE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Identify → Explain → Suggest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1. Identify the missing/unclear brief element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2. Explain why it matters for the design outcome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3. Suggest what information should be added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080760" y="1874519"/>
            <a:ext cx="5166360" cy="4526280"/>
          </a:xfrm>
          <a:prstGeom prst="roundRect">
            <a:avLst>
              <a:gd name="adj" fmla="val 6000"/>
            </a:avLst>
          </a:prstGeom>
          <a:solidFill>
            <a:srgbClr val="DBE5E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79400" rIns="279400" tIns="228600" bIns="228600" wrap="square"/>
          <a:lstStyle/>
          <a:p>
            <a:pPr algn="ctr">
              <a:spcAft>
                <a:spcPts val="900"/>
              </a:spcAft>
              <a:buNone/>
            </a:pPr>
            <a:r>
              <a:rPr sz="1250" b="0" i="1">
                <a:solidFill>
                  <a:srgbClr val="20291F"/>
                </a:solidFill>
                <a:latin typeface="Calibri"/>
              </a:rPr>
              <a:t>Sentence Starters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"The brief does not specify [element], which is important because..."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"To generate ideas, [method] could be used to..."</a:t>
            </a:r>
          </a:p>
          <a:p>
            <a:pPr indent="-203200" marL="203200">
              <a:spcAft>
                <a:spcPts val="900"/>
              </a:spcAft>
              <a:buClr>
                <a:srgbClr val="7FA3B0"/>
              </a:buClr>
              <a:buSzPct val="90000"/>
              <a:buFont typeface="Arial"/>
              <a:buChar char="–"/>
            </a:pPr>
            <a:r>
              <a:rPr sz="1250" b="0" i="0">
                <a:solidFill>
                  <a:srgbClr val="20291F"/>
                </a:solidFill>
                <a:latin typeface="Calibri"/>
              </a:rPr>
              <a:t>"These two concepts differ in that..."</a:t>
            </a:r>
          </a:p>
        </p:txBody>
      </p:sp>
      <p:sp>
        <p:nvSpPr>
          <p:cNvPr id="6" name="Oval 5"/>
          <p:cNvSpPr/>
          <p:nvPr/>
        </p:nvSpPr>
        <p:spPr>
          <a:xfrm>
            <a:off x="5532120" y="3840480"/>
            <a:ext cx="685800" cy="6858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THE BRIEF &amp; IDEATION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Brief &amp; Ideation — Quick Reference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Brief Elements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Client, audience, purpose, constraints, obligatory fields.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387852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A05C30"/>
                </a:solidFill>
                <a:latin typeface="Calibri"/>
              </a:rPr>
              <a:t>Deconstruct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Who, what, why, constraints.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089904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EBF1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65828C"/>
                </a:solidFill>
                <a:latin typeface="Calibri"/>
              </a:rPr>
              <a:t>Two Concepts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Must be genuinely distinct, not colour variants.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791956" y="1874519"/>
            <a:ext cx="2500884" cy="1554480"/>
          </a:xfrm>
          <a:prstGeom prst="roundRect">
            <a:avLst>
              <a:gd name="adj" fmla="val 12000"/>
            </a:avLst>
          </a:prstGeom>
          <a:solidFill>
            <a:srgbClr val="DFE5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27000" rIns="127000" tIns="101600" bIns="101600"/>
          <a:lstStyle/>
          <a:p>
            <a:pPr algn="ctr"/>
            <a:r>
              <a:rPr b="1" sz="1300">
                <a:solidFill>
                  <a:srgbClr val="254128"/>
                </a:solidFill>
                <a:latin typeface="Calibri"/>
              </a:rPr>
              <a:t>Research</a:t>
            </a:r>
          </a:p>
          <a:p>
            <a:r>
              <a:rPr sz="1050">
                <a:solidFill>
                  <a:srgbClr val="20291F"/>
                </a:solidFill>
                <a:latin typeface="Calibri"/>
              </a:rPr>
              <a:t>Audience, visual, contextual — links to Unit 2 trends.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3675887"/>
            <a:ext cx="10607040" cy="2862073"/>
          </a:xfrm>
          <a:prstGeom prst="roundRect">
            <a:avLst>
              <a:gd name="adj" fmla="val 10000"/>
            </a:avLst>
          </a:prstGeom>
          <a:solidFill>
            <a:srgbClr val="F6EAE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203200" rIns="203200" tIns="101600" bIns="101600" wrap="square"/>
          <a:lstStyle/>
          <a:p>
            <a:pPr algn="ctr" indent="-203200" marL="203200">
              <a:spcAft>
                <a:spcPts val="900"/>
              </a:spcAft>
              <a:buClr>
                <a:srgbClr val="C9743D"/>
              </a:buClr>
              <a:buSzPct val="90000"/>
              <a:buFont typeface="Arial"/>
              <a:buChar char="●"/>
            </a:pPr>
            <a:r>
              <a:rPr sz="1200" b="0" i="0">
                <a:solidFill>
                  <a:srgbClr val="20291F"/>
                </a:solidFill>
                <a:latin typeface="Calibri"/>
              </a:rPr>
              <a:t> Reminder: these two concepts carry forward into </a:t>
            </a:r>
            <a:r>
              <a:rPr sz="1200" b="1" i="0">
                <a:solidFill>
                  <a:srgbClr val="AA6233"/>
                </a:solidFill>
                <a:latin typeface="Calibri"/>
              </a:rPr>
              <a:t>Unit 4</a:t>
            </a:r>
            <a:r>
              <a:rPr sz="1200" b="0" i="0">
                <a:solidFill>
                  <a:srgbClr val="20291F"/>
                </a:solidFill>
                <a:latin typeface="Calibri"/>
              </a:rPr>
              <a:t>, where you develop and refine them. 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C9743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B06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B066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A05C30"/>
                </a:solidFill>
                <a:latin typeface="Calibri"/>
              </a:rPr>
              <a:t>03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AA6233"/>
                </a:solidFill>
                <a:latin typeface="Cambria"/>
              </a:rPr>
              <a:t>Extended Knowledge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Beyond the study design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Semiotics and Visual Rhetoric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Beyond icon/index/symbol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Visual metaphor — representing one concept through the image of another (a lightbulb for an idea)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Visual metonymy — representing a whole through a closely associated part (a crown for royalty)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Myth and connotation (Roland Barthes) — how repeated cultural use makes a sign feel 'natural' or self-evident, when it is in fact culturally constructed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Grid Systems and Layout Theory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Types of grid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Column grid — vertical divisions for text-heavy layouts (newspapers, editorial)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Modular grid — a grid of consistent modules/cells for complex data-rich layouts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Baseline grid — horizontal lines ensuring consistent vertical rhythm of text across a page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The Swiss grid legacy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The International Typographic Style formalised mathematical grid systems as a tool for objective, universal communication — still the basis of most professional layout software and responsive web design grids today.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Proportion systems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The golden ratio (1:1.618) and the rule of thirds are classical tools for dividing a composition in a way the eye finds naturally balanced — useful vocabulary when analysing or justifying a layout decision.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Cross-Cultural Design Considerations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Designing for global audiences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Localisation — adapting a design for a specific market (language, imagery, colour meaning)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Internationalisation — designing a flexible system that can be localised efficiently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Symbol meaning varies by culture — always research target-market conventions before reusing a symbol or gesture in a new context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Research Methods for Designers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Qualitative vs quantitative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Qualitative research (interviews, observation) reveals why users behave a certain way; quantitative research (surveys, analytics) reveals how many/how often. Strong design research typically combines both.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Other useful methods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Empathy mapping — documenting what a user says, thinks, feels and does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Competitive analysis — reviewing existing solutions to identify gaps and opportunities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Mood boards — curated visual references establishing tone, palette and style direction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Ideation Techniques Beyond Brainstorming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Structured ideation methods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SCAMPER — Substitute, Combine, Adapt, Modify, Put to other use, Eliminate, Reverse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Crazy 8s — sketch 8 distinct ideas in 8 minutes to force rapid divergent thinking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Worst possible idea — deliberately generating bad ideas to break fixation and spark humour-led insight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Biomimicry as ideation — asking 'how would nature solve this?'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EXTENDED KNOWLEDGE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Presenting and Pitching Design Concepts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Communicating design decisions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Professional designers frame concepts as a story: the problem, the insight, the solution, the expected impact — rather than simply describing what was made. Practising this framing strengthens folio annotations and oral presentation of concepts.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9692640" y="-914400"/>
            <a:ext cx="2926080" cy="2926080"/>
          </a:xfrm>
          <a:prstGeom prst="ellipse">
            <a:avLst/>
          </a:prstGeom>
          <a:solidFill>
            <a:srgbClr val="294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-914400" y="4937760"/>
            <a:ext cx="2377440" cy="2377440"/>
          </a:xfrm>
          <a:prstGeom prst="ellipse">
            <a:avLst/>
          </a:prstGeom>
          <a:solidFill>
            <a:srgbClr val="294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822960" y="1051560"/>
            <a:ext cx="1188720" cy="502920"/>
          </a:xfrm>
          <a:prstGeom prst="roundRect">
            <a:avLst>
              <a:gd name="adj" fmla="val 5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400" b="1">
                <a:solidFill>
                  <a:srgbClr val="254128"/>
                </a:solidFill>
                <a:latin typeface="Calibri"/>
              </a:rPr>
              <a:t>04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011680"/>
            <a:ext cx="10515600" cy="283464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280160" y="2697480"/>
            <a:ext cx="96012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3400" b="1" i="0">
                <a:solidFill>
                  <a:srgbClr val="27452B"/>
                </a:solidFill>
                <a:latin typeface="Cambria"/>
              </a:rPr>
              <a:t>SAC Briefing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3657600"/>
            <a:ext cx="96012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500" b="0" i="0">
                <a:solidFill>
                  <a:srgbClr val="6B6B6B"/>
                </a:solidFill>
                <a:latin typeface="Calibri"/>
              </a:rPr>
              <a:t>Draft — confirm against your school’s SAC schedule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Outcome 1 (AOS 1) — Analysis and Reinterpretation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Select an existing visual communication. Analyse it in depth (purpose, audience, elements and principles, materials and methods, context), then propose a reconceptualisation or reinvention for a new audience or context, justifying the approach in an annotated visual submission with a supporting written justification of approximately 400-600 words.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Completed over approximately 2-3 weeks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Submitted as folio pages (visual and annotation) plus a short written justification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Individual work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Assessment Criteria (/40)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Depth of analysis of the original design — 15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Quality and originality of the reinterpretation proposal — 10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Justification and links to the new context — 10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Presentation of folio pages — 5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5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85800" y="502920"/>
            <a:ext cx="3291840" cy="457200"/>
          </a:xfrm>
          <a:prstGeom prst="roundRect">
            <a:avLst>
              <a:gd name="adj" fmla="val 50000"/>
            </a:avLst>
          </a:prstGeom>
          <a:solidFill>
            <a:srgbClr val="2F5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50800" rIns="50800"/>
          <a:lstStyle/>
          <a:p>
            <a:pPr algn="ctr"/>
            <a:r>
              <a:rPr sz="1100" b="1">
                <a:solidFill>
                  <a:srgbClr val="FFFFFF"/>
                </a:solidFill>
                <a:latin typeface="Calibri"/>
              </a:rPr>
              <a:t>SAC BRIEFING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85800" y="1051560"/>
            <a:ext cx="1060704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2700" b="1" i="0">
                <a:solidFill>
                  <a:srgbClr val="20291F"/>
                </a:solidFill>
                <a:latin typeface="Cambria"/>
              </a:rPr>
              <a:t>Outcome 2 (AOS 2) — The Brief and Range of Ideas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85800" y="1874519"/>
            <a:ext cx="10607040" cy="4526280"/>
          </a:xfrm>
          <a:prstGeom prst="roundRect">
            <a:avLst>
              <a:gd name="adj" fmla="val 6000"/>
            </a:avLst>
          </a:prstGeom>
          <a:solidFill>
            <a:srgbClr val="EAEDE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30200" rIns="330200" tIns="254000" bIns="254000" wrap="square"/>
          <a:lstStyle/>
          <a:p>
            <a:pPr algn="ctr"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Task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Write a design brief (informed by your Unit 3 AOS1 analysis and reinterpretation) and generate a wide range of ideas leading to two distinct concepts. Submit: the written brief, research documentation, generation of ideas (minimum 15 thumbnails/concepts), and two developed, distinct concepts with annotations.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Conditions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Completed over approximately 5-6 weeks — typically the largest SAC of the year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Folio submission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Individual work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●"/>
            </a:pPr>
            <a:r>
              <a:rPr sz="1500" b="1" i="0">
                <a:solidFill>
                  <a:srgbClr val="27452B"/>
                </a:solidFill>
                <a:latin typeface="Calibri"/>
              </a:rPr>
              <a:t>Assessment Criteria (/70)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Quality and clarity of the brief — 10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Relevance of research — 10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Range and quantity of ideas generated — 15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Distinctiveness and quality of the two concepts — 20 marks</a:t>
            </a:r>
          </a:p>
          <a:p>
            <a:pPr indent="-203200" marL="203200">
              <a:spcAft>
                <a:spcPts val="900"/>
              </a:spcAft>
              <a:buClr>
                <a:srgbClr val="2F5233"/>
              </a:buClr>
              <a:buSzPct val="90000"/>
              <a:buFont typeface="Arial"/>
              <a:buChar char="–"/>
            </a:pPr>
            <a:r>
              <a:rPr sz="1350" b="0" i="0">
                <a:solidFill>
                  <a:srgbClr val="20291F"/>
                </a:solidFill>
                <a:latin typeface="Calibri"/>
              </a:rPr>
              <a:t>Annotation and documentation of design thinking — 15 marks</a:t>
            </a:r>
          </a:p>
        </p:txBody>
      </p:sp>
      <p:sp>
        <p:nvSpPr>
          <p:cNvPr id="5" name="Oval 4"/>
          <p:cNvSpPr/>
          <p:nvPr/>
        </p:nvSpPr>
        <p:spPr>
          <a:xfrm>
            <a:off x="10881360" y="5943600"/>
            <a:ext cx="1005840" cy="1005840"/>
          </a:xfrm>
          <a:prstGeom prst="ellipse">
            <a:avLst/>
          </a:prstGeom>
          <a:solidFill>
            <a:srgbClr val="C5D5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F523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1097280" y="4114800"/>
            <a:ext cx="3108960" cy="3108960"/>
          </a:xfrm>
          <a:prstGeom prst="ellipse">
            <a:avLst/>
          </a:prstGeom>
          <a:solidFill>
            <a:srgbClr val="2948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875520" y="-1188720"/>
            <a:ext cx="2743200" cy="2743200"/>
          </a:xfrm>
          <a:prstGeom prst="ellipse">
            <a:avLst/>
          </a:prstGeom>
          <a:solidFill>
            <a:srgbClr val="C974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920240" y="2286000"/>
            <a:ext cx="8321040" cy="237744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b="1" sz="3000">
                <a:solidFill>
                  <a:srgbClr val="2F5233"/>
                </a:solidFill>
                <a:latin typeface="Cambria"/>
              </a:rPr>
              <a:t>End of Unit 3</a:t>
            </a:r>
          </a:p>
          <a:p>
            <a:pPr algn="ctr"/>
            <a:r>
              <a:rPr sz="1400">
                <a:solidFill>
                  <a:srgbClr val="595959"/>
                </a:solidFill>
              </a:rPr>
              <a:t>Review the matching workbook to consolidate what you have learnt.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