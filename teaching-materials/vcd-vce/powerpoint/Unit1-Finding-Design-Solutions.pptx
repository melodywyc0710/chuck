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a:solidFill>
                  <a:srgbClr val="1F3A5F"/>
                </a:solidFill>
                <a:latin typeface="Cambria"/>
              </a:rPr>
              <a:t>Unit 1: Finding Design Solutions</a:t>
            </a:r>
          </a:p>
        </p:txBody>
      </p:sp>
      <p:sp>
        <p:nvSpPr>
          <p:cNvPr id="3" name="Subtitle 2"/>
          <p:cNvSpPr>
            <a:spLocks noGrp="1"/>
          </p:cNvSpPr>
          <p:nvPr>
            <p:ph type="subTitle" idx="1"/>
          </p:nvPr>
        </p:nvSpPr>
        <p:spPr/>
        <p:txBody>
          <a:bodyPr/>
          <a:lstStyle/>
          <a:p>
            <a:r>
              <a:rPr sz="2000">
                <a:solidFill>
                  <a:srgbClr val="595959"/>
                </a:solidFill>
                <a:latin typeface="Calibri"/>
              </a:rPr>
              <a:t>VCE Visual Communication Design — Year 11</a:t>
            </a:r>
          </a:p>
        </p:txBody>
      </p:sp>
      <p:sp>
        <p:nvSpPr>
          <p:cNvPr id="4" name="Rectangle 3"/>
          <p:cNvSpPr/>
          <p:nvPr/>
        </p:nvSpPr>
        <p:spPr>
          <a:xfrm>
            <a:off x="548640" y="3063240"/>
            <a:ext cx="164592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FFFFFF"/>
                </a:solidFill>
                <a:latin typeface="Cambria"/>
              </a:rPr>
              <a:t>Design Elements</a:t>
            </a:r>
          </a:p>
        </p:txBody>
      </p:sp>
      <p:sp>
        <p:nvSpPr>
          <p:cNvPr id="3" name="Text Placeholder 2"/>
          <p:cNvSpPr>
            <a:spLocks noGrp="1"/>
          </p:cNvSpPr>
          <p:nvPr>
            <p:ph type="body" idx="1"/>
          </p:nvPr>
        </p:nvSpPr>
        <p:spPr/>
        <p:txBody>
          <a:bodyPr/>
          <a:lstStyle/>
          <a:p>
            <a:r>
              <a:rPr sz="1800">
                <a:solidFill>
                  <a:srgbClr val="E5E5E5"/>
                </a:solidFill>
                <a:latin typeface="Calibri"/>
              </a:rPr>
              <a:t>AOS 1 · Understanding Design Thinking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What are Design Elements?</a:t>
            </a:r>
          </a:p>
        </p:txBody>
      </p:sp>
      <p:sp>
        <p:nvSpPr>
          <p:cNvPr id="3" name="Content Placeholder 2"/>
          <p:cNvSpPr>
            <a:spLocks noGrp="1"/>
          </p:cNvSpPr>
          <p:nvPr>
            <p:ph idx="1" sz="half"/>
          </p:nvPr>
        </p:nvSpPr>
        <p:spPr/>
        <p:txBody>
          <a:bodyPr wrap="square"/>
          <a:lstStyle/>
          <a:p>
            <a:pPr>
              <a:spcAft>
                <a:spcPts val="1000"/>
              </a:spcAft>
            </a:pPr>
            <a:r>
              <a:rPr sz="2000" b="0" i="0">
                <a:solidFill>
                  <a:srgbClr val="333333"/>
                </a:solidFill>
                <a:latin typeface="Calibri"/>
              </a:rPr>
              <a:t>Design elements are the </a:t>
            </a:r>
            <a:r>
              <a:rPr sz="2000" b="1" i="0">
                <a:solidFill>
                  <a:srgbClr val="1F3A5F"/>
                </a:solidFill>
                <a:latin typeface="Calibri"/>
              </a:rPr>
              <a:t>fundamental visual building blocks</a:t>
            </a:r>
            <a:r>
              <a:rPr sz="2000" b="0" i="0">
                <a:solidFill>
                  <a:srgbClr val="333333"/>
                </a:solidFill>
                <a:latin typeface="Calibri"/>
              </a:rPr>
              <a:t> a designer uses to create any visual communication.</a:t>
            </a:r>
          </a:p>
          <a:p>
            <a:pPr>
              <a:spcAft>
                <a:spcPts val="1000"/>
              </a:spcAft>
            </a:pPr>
            <a:r>
              <a:rPr sz="2000" b="0" i="0">
                <a:solidFill>
                  <a:srgbClr val="333333"/>
                </a:solidFill>
                <a:latin typeface="Calibri"/>
              </a:rPr>
              <a:t>They are the "what" of a design — the raw materials that can be seen and described.</a:t>
            </a:r>
          </a:p>
          <a:p>
            <a:pPr>
              <a:spcAft>
                <a:spcPts val="1000"/>
              </a:spcAft>
            </a:pPr>
            <a:r>
              <a:rPr sz="2000" b="1" i="0">
                <a:solidFill>
                  <a:srgbClr val="1F3A5F"/>
                </a:solidFill>
                <a:latin typeface="Calibri"/>
              </a:rPr>
              <a:t>In the VCE exam</a:t>
            </a:r>
            <a:r>
              <a:rPr sz="2000" b="0" i="0">
                <a:solidFill>
                  <a:srgbClr val="333333"/>
                </a:solidFill>
                <a:latin typeface="Calibri"/>
              </a:rPr>
              <a:t> you must: name the element → describe how it is used → explain the effect on the audience. </a:t>
            </a:r>
          </a:p>
        </p:txBody>
      </p:sp>
      <p:sp>
        <p:nvSpPr>
          <p:cNvPr id="4" name="Content Placeholder 3"/>
          <p:cNvSpPr>
            <a:spLocks noGrp="1"/>
          </p:cNvSpPr>
          <p:nvPr>
            <p:ph idx="2" sz="half"/>
          </p:nvPr>
        </p:nvSpPr>
        <p:spPr/>
        <p:txBody>
          <a:bodyPr wrap="square"/>
          <a:lstStyle/>
          <a:p>
            <a:pPr lvl="1">
              <a:spcAft>
                <a:spcPts val="1000"/>
              </a:spcAft>
            </a:pPr>
            <a:r>
              <a:rPr sz="1800" b="0" i="0">
                <a:solidFill>
                  <a:srgbClr val="333333"/>
                </a:solidFill>
                <a:latin typeface="Calibri"/>
              </a:rPr>
              <a:t>The 8 VCAA 2024 Elements</a:t>
            </a:r>
          </a:p>
          <a:p>
            <a:pPr lvl="1">
              <a:spcAft>
                <a:spcPts val="1000"/>
              </a:spcAft>
            </a:pPr>
            <a:r>
              <a:rPr sz="1800" b="0" i="0">
                <a:solidFill>
                  <a:srgbClr val="333333"/>
                </a:solidFill>
                <a:latin typeface="Calibri"/>
              </a:rPr>
              <a:t>1. Line</a:t>
            </a:r>
          </a:p>
          <a:p>
            <a:pPr lvl="1">
              <a:spcAft>
                <a:spcPts val="1000"/>
              </a:spcAft>
            </a:pPr>
            <a:r>
              <a:rPr sz="1800" b="0" i="0">
                <a:solidFill>
                  <a:srgbClr val="333333"/>
                </a:solidFill>
                <a:latin typeface="Calibri"/>
              </a:rPr>
              <a:t>2. Shape</a:t>
            </a:r>
          </a:p>
          <a:p>
            <a:pPr lvl="1">
              <a:spcAft>
                <a:spcPts val="1000"/>
              </a:spcAft>
            </a:pPr>
            <a:r>
              <a:rPr sz="1800" b="0" i="0">
                <a:solidFill>
                  <a:srgbClr val="333333"/>
                </a:solidFill>
                <a:latin typeface="Calibri"/>
              </a:rPr>
              <a:t>3. Colour</a:t>
            </a:r>
          </a:p>
          <a:p>
            <a:pPr lvl="1">
              <a:spcAft>
                <a:spcPts val="1000"/>
              </a:spcAft>
            </a:pPr>
            <a:r>
              <a:rPr sz="1800" b="0" i="0">
                <a:solidFill>
                  <a:srgbClr val="333333"/>
                </a:solidFill>
                <a:latin typeface="Calibri"/>
              </a:rPr>
              <a:t>4. Tone</a:t>
            </a:r>
          </a:p>
          <a:p>
            <a:pPr lvl="1">
              <a:spcAft>
                <a:spcPts val="1000"/>
              </a:spcAft>
            </a:pPr>
            <a:r>
              <a:rPr sz="1800" b="0" i="0">
                <a:solidFill>
                  <a:srgbClr val="333333"/>
                </a:solidFill>
                <a:latin typeface="Calibri"/>
              </a:rPr>
              <a:t>5. Texture</a:t>
            </a:r>
          </a:p>
          <a:p>
            <a:pPr lvl="1">
              <a:spcAft>
                <a:spcPts val="1000"/>
              </a:spcAft>
            </a:pPr>
            <a:r>
              <a:rPr sz="1800" b="0" i="0">
                <a:solidFill>
                  <a:srgbClr val="333333"/>
                </a:solidFill>
                <a:latin typeface="Calibri"/>
              </a:rPr>
              <a:t>6. Form</a:t>
            </a:r>
          </a:p>
          <a:p>
            <a:pPr lvl="1">
              <a:spcAft>
                <a:spcPts val="1000"/>
              </a:spcAft>
            </a:pPr>
            <a:r>
              <a:rPr sz="1800" b="0" i="0">
                <a:solidFill>
                  <a:srgbClr val="333333"/>
                </a:solidFill>
                <a:latin typeface="Calibri"/>
              </a:rPr>
              <a:t>7. Point / Dot</a:t>
            </a:r>
          </a:p>
          <a:p>
            <a:pPr lvl="1">
              <a:spcAft>
                <a:spcPts val="1000"/>
              </a:spcAft>
            </a:pPr>
            <a:r>
              <a:rPr sz="1800" b="0" i="0">
                <a:solidFill>
                  <a:srgbClr val="333333"/>
                </a:solidFill>
                <a:latin typeface="Calibri"/>
              </a:rPr>
              <a:t>8. Type</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Line</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A mark made by a moving point. Lines direct the eye, create movement, divide space and suggest emotion through their character.</a:t>
            </a:r>
          </a:p>
          <a:p>
            <a:pPr lvl="1">
              <a:spcAft>
                <a:spcPts val="1000"/>
              </a:spcAft>
            </a:pPr>
            <a:r>
              <a:rPr sz="1800" b="0" i="0">
                <a:solidFill>
                  <a:srgbClr val="333333"/>
                </a:solidFill>
                <a:latin typeface="Calibri"/>
              </a:rPr>
              <a:t>Types of Line</a:t>
            </a:r>
          </a:p>
          <a:p>
            <a:pPr lvl="1">
              <a:spcAft>
                <a:spcPts val="1000"/>
              </a:spcAft>
            </a:pPr>
            <a:r>
              <a:rPr sz="1800" b="1" i="0">
                <a:solidFill>
                  <a:srgbClr val="1F3A5F"/>
                </a:solidFill>
                <a:latin typeface="Calibri"/>
              </a:rPr>
              <a:t>Horizontal</a:t>
            </a:r>
            <a:r>
              <a:rPr sz="1800" b="0" i="0">
                <a:solidFill>
                  <a:srgbClr val="333333"/>
                </a:solidFill>
                <a:latin typeface="Calibri"/>
              </a:rPr>
              <a:t> — calm, stability, rest</a:t>
            </a:r>
          </a:p>
          <a:p>
            <a:pPr lvl="1">
              <a:spcAft>
                <a:spcPts val="1000"/>
              </a:spcAft>
            </a:pPr>
            <a:r>
              <a:rPr sz="1800" b="1" i="0">
                <a:solidFill>
                  <a:srgbClr val="1F3A5F"/>
                </a:solidFill>
                <a:latin typeface="Calibri"/>
              </a:rPr>
              <a:t>Vertical</a:t>
            </a:r>
            <a:r>
              <a:rPr sz="1800" b="0" i="0">
                <a:solidFill>
                  <a:srgbClr val="333333"/>
                </a:solidFill>
                <a:latin typeface="Calibri"/>
              </a:rPr>
              <a:t> — strength, formality, growth</a:t>
            </a:r>
          </a:p>
          <a:p>
            <a:pPr lvl="1">
              <a:spcAft>
                <a:spcPts val="1000"/>
              </a:spcAft>
            </a:pPr>
            <a:r>
              <a:rPr sz="1800" b="1" i="0">
                <a:solidFill>
                  <a:srgbClr val="1F3A5F"/>
                </a:solidFill>
                <a:latin typeface="Calibri"/>
              </a:rPr>
              <a:t>Diagonal</a:t>
            </a:r>
            <a:r>
              <a:rPr sz="1800" b="0" i="0">
                <a:solidFill>
                  <a:srgbClr val="333333"/>
                </a:solidFill>
                <a:latin typeface="Calibri"/>
              </a:rPr>
              <a:t> — movement, tension, dynamism</a:t>
            </a:r>
          </a:p>
          <a:p>
            <a:pPr lvl="1">
              <a:spcAft>
                <a:spcPts val="1000"/>
              </a:spcAft>
            </a:pPr>
            <a:r>
              <a:rPr sz="1800" b="1" i="0">
                <a:solidFill>
                  <a:srgbClr val="1F3A5F"/>
                </a:solidFill>
                <a:latin typeface="Calibri"/>
              </a:rPr>
              <a:t>Curved</a:t>
            </a:r>
            <a:r>
              <a:rPr sz="1800" b="0" i="0">
                <a:solidFill>
                  <a:srgbClr val="333333"/>
                </a:solidFill>
                <a:latin typeface="Calibri"/>
              </a:rPr>
              <a:t> — flow, elegance, nature</a:t>
            </a:r>
          </a:p>
          <a:p>
            <a:pPr lvl="1">
              <a:spcAft>
                <a:spcPts val="1000"/>
              </a:spcAft>
            </a:pPr>
            <a:r>
              <a:rPr sz="1800" b="1" i="0">
                <a:solidFill>
                  <a:srgbClr val="1F3A5F"/>
                </a:solidFill>
                <a:latin typeface="Calibri"/>
              </a:rPr>
              <a:t>Implied</a:t>
            </a:r>
            <a:r>
              <a:rPr sz="1800" b="0" i="0">
                <a:solidFill>
                  <a:srgbClr val="333333"/>
                </a:solidFill>
                <a:latin typeface="Calibri"/>
              </a:rPr>
              <a:t> — line suggested by the viewer's eye following shapes</a:t>
            </a:r>
          </a:p>
          <a:p>
            <a:pPr lvl="1">
              <a:spcAft>
                <a:spcPts val="1000"/>
              </a:spcAft>
            </a:pPr>
            <a:r>
              <a:rPr sz="1600" b="1" i="1">
                <a:solidFill>
                  <a:srgbClr val="1F3A5F"/>
                </a:solidFill>
                <a:latin typeface="Calibri"/>
              </a:rPr>
              <a:t>Exam vocab:</a:t>
            </a:r>
            <a:r>
              <a:rPr sz="1600" b="0" i="1">
                <a:solidFill>
                  <a:srgbClr val="333333"/>
                </a:solidFill>
                <a:latin typeface="Calibri"/>
              </a:rPr>
              <a:t> horizontal, vertical, diagonal, curved, implied, contour, gestural, thick, thin, broken, continuous, converging, radiating</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Shape</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A two-dimensional enclosed area defined by line, colour or tone. Shapes are geometric (precise, mathematical) or organic (natural, irregular).</a:t>
            </a:r>
          </a:p>
          <a:p>
            <a:pPr lvl="1">
              <a:spcAft>
                <a:spcPts val="1000"/>
              </a:spcAft>
            </a:pPr>
            <a:r>
              <a:rPr sz="1800" b="0" i="0">
                <a:solidFill>
                  <a:srgbClr val="333333"/>
                </a:solidFill>
                <a:latin typeface="Calibri"/>
              </a:rPr>
              <a:t>Key Distinction</a:t>
            </a:r>
          </a:p>
          <a:p>
            <a:pPr lvl="1">
              <a:spcAft>
                <a:spcPts val="1000"/>
              </a:spcAft>
            </a:pPr>
            <a:r>
              <a:rPr sz="1800" b="1" i="0">
                <a:solidFill>
                  <a:srgbClr val="1F3A5F"/>
                </a:solidFill>
                <a:latin typeface="Calibri"/>
              </a:rPr>
              <a:t>Geometric</a:t>
            </a:r>
            <a:r>
              <a:rPr sz="1800" b="0" i="0">
                <a:solidFill>
                  <a:srgbClr val="333333"/>
                </a:solidFill>
                <a:latin typeface="Calibri"/>
              </a:rPr>
              <a:t> — circles, squares, triangles. Suggests order, precision, technology</a:t>
            </a:r>
          </a:p>
          <a:p>
            <a:pPr lvl="1">
              <a:spcAft>
                <a:spcPts val="1000"/>
              </a:spcAft>
            </a:pPr>
            <a:r>
              <a:rPr sz="1800" b="1" i="0">
                <a:solidFill>
                  <a:srgbClr val="1F3A5F"/>
                </a:solidFill>
                <a:latin typeface="Calibri"/>
              </a:rPr>
              <a:t>Organic</a:t>
            </a:r>
            <a:r>
              <a:rPr sz="1800" b="0" i="0">
                <a:solidFill>
                  <a:srgbClr val="333333"/>
                </a:solidFill>
                <a:latin typeface="Calibri"/>
              </a:rPr>
              <a:t> — natural, flowing, irregular. Suggests nature, warmth, humanity</a:t>
            </a:r>
          </a:p>
          <a:p>
            <a:pPr lvl="1">
              <a:spcAft>
                <a:spcPts val="1000"/>
              </a:spcAft>
            </a:pPr>
            <a:r>
              <a:rPr sz="1800" b="1" i="0">
                <a:solidFill>
                  <a:srgbClr val="1F3A5F"/>
                </a:solidFill>
                <a:latin typeface="Calibri"/>
              </a:rPr>
              <a:t>Positive shape</a:t>
            </a:r>
            <a:r>
              <a:rPr sz="1800" b="0" i="0">
                <a:solidFill>
                  <a:srgbClr val="333333"/>
                </a:solidFill>
                <a:latin typeface="Calibri"/>
              </a:rPr>
              <a:t> — the subject/foreground</a:t>
            </a:r>
          </a:p>
          <a:p>
            <a:pPr lvl="1">
              <a:spcAft>
                <a:spcPts val="1000"/>
              </a:spcAft>
            </a:pPr>
            <a:r>
              <a:rPr sz="1800" b="1" i="0">
                <a:solidFill>
                  <a:srgbClr val="1F3A5F"/>
                </a:solidFill>
                <a:latin typeface="Calibri"/>
              </a:rPr>
              <a:t>Negative shape</a:t>
            </a:r>
            <a:r>
              <a:rPr sz="1800" b="0" i="0">
                <a:solidFill>
                  <a:srgbClr val="333333"/>
                </a:solidFill>
                <a:latin typeface="Calibri"/>
              </a:rPr>
              <a:t> — the space around the subject</a:t>
            </a:r>
          </a:p>
          <a:p>
            <a:pPr lvl="1">
              <a:spcAft>
                <a:spcPts val="1000"/>
              </a:spcAft>
            </a:pPr>
            <a:r>
              <a:rPr sz="1600" b="1" i="1">
                <a:solidFill>
                  <a:srgbClr val="1F3A5F"/>
                </a:solidFill>
                <a:latin typeface="Calibri"/>
              </a:rPr>
              <a:t>Exam vocab:</a:t>
            </a:r>
            <a:r>
              <a:rPr sz="1600" b="0" i="1">
                <a:solidFill>
                  <a:srgbClr val="333333"/>
                </a:solidFill>
                <a:latin typeface="Calibri"/>
              </a:rPr>
              <a:t> geometric, organic, positive, negative, biomorphic, angular, curvilinear, regular, irregular, silhouette</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Colour</a:t>
            </a:r>
          </a:p>
        </p:txBody>
      </p:sp>
      <p:sp>
        <p:nvSpPr>
          <p:cNvPr id="3" name="Content Placeholder 2"/>
          <p:cNvSpPr>
            <a:spLocks noGrp="1"/>
          </p:cNvSpPr>
          <p:nvPr>
            <p:ph idx="1" sz="half"/>
          </p:nvPr>
        </p:nvSpPr>
        <p:spPr/>
        <p:txBody>
          <a:bodyPr wrap="square"/>
          <a:lstStyle/>
          <a:p>
            <a:pPr>
              <a:spcAft>
                <a:spcPts val="1000"/>
              </a:spcAft>
            </a:pPr>
            <a:r>
              <a:rPr sz="2000" b="0" i="0">
                <a:solidFill>
                  <a:srgbClr val="333333"/>
                </a:solidFill>
                <a:latin typeface="Calibri"/>
              </a:rPr>
              <a:t>The visual property produced by reflected light. Colour creates mood, draws attention, communicates brand identity and organises information.</a:t>
            </a:r>
          </a:p>
          <a:p>
            <a:pPr lvl="1">
              <a:spcAft>
                <a:spcPts val="1000"/>
              </a:spcAft>
            </a:pPr>
            <a:r>
              <a:rPr sz="1800" b="0" i="0">
                <a:solidFill>
                  <a:srgbClr val="333333"/>
                </a:solidFill>
                <a:latin typeface="Calibri"/>
              </a:rPr>
              <a:t>Colour Properties</a:t>
            </a:r>
          </a:p>
          <a:p>
            <a:pPr lvl="1">
              <a:spcAft>
                <a:spcPts val="1000"/>
              </a:spcAft>
            </a:pPr>
            <a:r>
              <a:rPr sz="1800" b="1" i="0">
                <a:solidFill>
                  <a:srgbClr val="1F3A5F"/>
                </a:solidFill>
                <a:latin typeface="Calibri"/>
              </a:rPr>
              <a:t>Hue</a:t>
            </a:r>
            <a:r>
              <a:rPr sz="1800" b="0" i="0">
                <a:solidFill>
                  <a:srgbClr val="333333"/>
                </a:solidFill>
                <a:latin typeface="Calibri"/>
              </a:rPr>
              <a:t> — the name of the colour (red, blue, yellow)</a:t>
            </a:r>
          </a:p>
          <a:p>
            <a:pPr lvl="1">
              <a:spcAft>
                <a:spcPts val="1000"/>
              </a:spcAft>
            </a:pPr>
            <a:r>
              <a:rPr sz="1800" b="1" i="0">
                <a:solidFill>
                  <a:srgbClr val="1F3A5F"/>
                </a:solidFill>
                <a:latin typeface="Calibri"/>
              </a:rPr>
              <a:t>Saturation</a:t>
            </a:r>
            <a:r>
              <a:rPr sz="1800" b="0" i="0">
                <a:solidFill>
                  <a:srgbClr val="333333"/>
                </a:solidFill>
                <a:latin typeface="Calibri"/>
              </a:rPr>
              <a:t> — intensity / purity of the colour</a:t>
            </a:r>
          </a:p>
          <a:p>
            <a:pPr lvl="1">
              <a:spcAft>
                <a:spcPts val="1000"/>
              </a:spcAft>
            </a:pPr>
            <a:r>
              <a:rPr sz="1800" b="1" i="0">
                <a:solidFill>
                  <a:srgbClr val="1F3A5F"/>
                </a:solidFill>
                <a:latin typeface="Calibri"/>
              </a:rPr>
              <a:t>Value</a:t>
            </a:r>
            <a:r>
              <a:rPr sz="1800" b="0" i="0">
                <a:solidFill>
                  <a:srgbClr val="333333"/>
                </a:solidFill>
                <a:latin typeface="Calibri"/>
              </a:rPr>
              <a:t> — lightness or darkness</a:t>
            </a:r>
          </a:p>
          <a:p>
            <a:pPr lvl="1">
              <a:spcAft>
                <a:spcPts val="1000"/>
              </a:spcAft>
            </a:pPr>
            <a:r>
              <a:rPr sz="1800" b="1" i="0">
                <a:solidFill>
                  <a:srgbClr val="1F3A5F"/>
                </a:solidFill>
                <a:latin typeface="Calibri"/>
              </a:rPr>
              <a:t>Tint</a:t>
            </a:r>
            <a:r>
              <a:rPr sz="1800" b="0" i="0">
                <a:solidFill>
                  <a:srgbClr val="333333"/>
                </a:solidFill>
                <a:latin typeface="Calibri"/>
              </a:rPr>
              <a:t> — hue + white (lighter)</a:t>
            </a:r>
          </a:p>
          <a:p>
            <a:pPr lvl="1">
              <a:spcAft>
                <a:spcPts val="1000"/>
              </a:spcAft>
            </a:pPr>
            <a:r>
              <a:rPr sz="1800" b="1" i="0">
                <a:solidFill>
                  <a:srgbClr val="1F3A5F"/>
                </a:solidFill>
                <a:latin typeface="Calibri"/>
              </a:rPr>
              <a:t>Shade</a:t>
            </a:r>
            <a:r>
              <a:rPr sz="1800" b="0" i="0">
                <a:solidFill>
                  <a:srgbClr val="333333"/>
                </a:solidFill>
                <a:latin typeface="Calibri"/>
              </a:rPr>
              <a:t> — hue + black (darker)</a:t>
            </a:r>
          </a:p>
          <a:p>
            <a:pPr lvl="1">
              <a:spcAft>
                <a:spcPts val="1000"/>
              </a:spcAft>
            </a:pPr>
            <a:r>
              <a:rPr sz="1800" b="1" i="0">
                <a:solidFill>
                  <a:srgbClr val="1F3A5F"/>
                </a:solidFill>
                <a:latin typeface="Calibri"/>
              </a:rPr>
              <a:t>Tone</a:t>
            </a:r>
            <a:r>
              <a:rPr sz="1800" b="0" i="0">
                <a:solidFill>
                  <a:srgbClr val="333333"/>
                </a:solidFill>
                <a:latin typeface="Calibri"/>
              </a:rPr>
              <a:t> — hue + grey added</a:t>
            </a:r>
          </a:p>
          <a:p>
            <a:pPr>
              <a:spcAft>
                <a:spcPts val="1000"/>
              </a:spcAft>
            </a:pPr>
            <a:r>
              <a:rPr sz="1800" b="1" i="1">
                <a:solidFill>
                  <a:srgbClr val="1F3A5F"/>
                </a:solidFill>
                <a:latin typeface="Calibri"/>
              </a:rPr>
              <a:t>Exam vocab:</a:t>
            </a:r>
            <a:r>
              <a:rPr sz="1800" b="0" i="1">
                <a:solidFill>
                  <a:srgbClr val="333333"/>
                </a:solidFill>
                <a:latin typeface="Calibri"/>
              </a:rPr>
              <a:t> hue, saturation, value, tint, shade, warm, cool, complementary, analogous, monochromatic, triadic, high/low saturation</a:t>
            </a:r>
          </a:p>
        </p:txBody>
      </p:sp>
      <p:sp>
        <p:nvSpPr>
          <p:cNvPr id="4" name="Content Placeholder 3"/>
          <p:cNvSpPr>
            <a:spLocks noGrp="1"/>
          </p:cNvSpPr>
          <p:nvPr>
            <p:ph idx="2" sz="half"/>
          </p:nvPr>
        </p:nvSpPr>
        <p:spPr/>
        <p:txBody>
          <a:bodyPr wrap="square"/>
          <a:lstStyle/>
          <a:p>
            <a:pPr>
              <a:spcAft>
                <a:spcPts val="1000"/>
              </a:spcAft>
            </a:pPr>
            <a:r>
              <a:rPr sz="2000" b="0" i="0">
                <a:solidFill>
                  <a:srgbClr val="333333"/>
                </a:solidFill>
                <a:latin typeface="Calibri"/>
              </a:rPr>
              <a:t>Colour Schemes</a:t>
            </a:r>
          </a:p>
          <a:p>
            <a:pPr lvl="1">
              <a:spcAft>
                <a:spcPts val="1000"/>
              </a:spcAft>
            </a:pPr>
            <a:r>
              <a:rPr sz="1800" b="0" i="0">
                <a:solidFill>
                  <a:srgbClr val="333333"/>
                </a:solidFill>
                <a:latin typeface="Calibri"/>
              </a:rPr>
              <a:t>Complementary — maximum contrast</a:t>
            </a:r>
          </a:p>
          <a:p>
            <a:pPr lvl="1">
              <a:spcAft>
                <a:spcPts val="1000"/>
              </a:spcAft>
            </a:pPr>
            <a:r>
              <a:rPr sz="1800" b="0" i="0">
                <a:solidFill>
                  <a:srgbClr val="333333"/>
                </a:solidFill>
                <a:latin typeface="Calibri"/>
              </a:rPr>
              <a:t>Analogous — harmonious</a:t>
            </a:r>
          </a:p>
          <a:p>
            <a:pPr lvl="1">
              <a:spcAft>
                <a:spcPts val="1000"/>
              </a:spcAft>
            </a:pPr>
            <a:r>
              <a:rPr sz="1800" b="0" i="0">
                <a:solidFill>
                  <a:srgbClr val="333333"/>
                </a:solidFill>
                <a:latin typeface="Calibri"/>
              </a:rPr>
              <a:t>Triadic — vibrant, balanced</a:t>
            </a:r>
          </a:p>
          <a:p>
            <a:pPr lvl="1">
              <a:spcAft>
                <a:spcPts val="1000"/>
              </a:spcAft>
            </a:pPr>
            <a:r>
              <a:rPr sz="1800" b="0" i="0">
                <a:solidFill>
                  <a:srgbClr val="333333"/>
                </a:solidFill>
                <a:latin typeface="Calibri"/>
              </a:rPr>
              <a:t>Monochromatic — unified</a:t>
            </a:r>
          </a:p>
          <a:p>
            <a:pPr>
              <a:spcAft>
                <a:spcPts val="1000"/>
              </a:spcAft>
            </a:pPr>
            <a:r>
              <a:rPr sz="2000" b="1" i="0">
                <a:solidFill>
                  <a:srgbClr val="1F3A5F"/>
                </a:solidFill>
                <a:latin typeface="Calibri"/>
              </a:rPr>
              <a:t>Warm:</a:t>
            </a:r>
            <a:r>
              <a:rPr sz="2000" b="0" i="0">
                <a:solidFill>
                  <a:srgbClr val="333333"/>
                </a:solidFill>
                <a:latin typeface="Calibri"/>
              </a:rPr>
              <a:t> red, orange, yellow — energy, passion </a:t>
            </a:r>
            <a:r>
              <a:rPr sz="2000" b="1" i="0">
                <a:solidFill>
                  <a:srgbClr val="1F3A5F"/>
                </a:solidFill>
                <a:latin typeface="Calibri"/>
              </a:rPr>
              <a:t>Cool:</a:t>
            </a:r>
            <a:r>
              <a:rPr sz="2000" b="0" i="0">
                <a:solidFill>
                  <a:srgbClr val="333333"/>
                </a:solidFill>
                <a:latin typeface="Calibri"/>
              </a:rPr>
              <a:t> blue, green, purple — calm, trust </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Tone</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The lightness or darkness of an area, regardless of colour. Tone creates depth, volume, contrast and the illusion of three-dimensionality on a flat surface.</a:t>
            </a:r>
          </a:p>
          <a:p>
            <a:pPr lvl="1">
              <a:spcAft>
                <a:spcPts val="1000"/>
              </a:spcAft>
            </a:pPr>
            <a:r>
              <a:rPr sz="1800" b="0" i="0">
                <a:solidFill>
                  <a:srgbClr val="333333"/>
                </a:solidFill>
                <a:latin typeface="Calibri"/>
              </a:rPr>
              <a:t>Key Concepts</a:t>
            </a:r>
          </a:p>
          <a:p>
            <a:pPr lvl="1">
              <a:spcAft>
                <a:spcPts val="1000"/>
              </a:spcAft>
            </a:pPr>
            <a:r>
              <a:rPr sz="1800" b="1" i="0">
                <a:solidFill>
                  <a:srgbClr val="1F3A5F"/>
                </a:solidFill>
                <a:latin typeface="Calibri"/>
              </a:rPr>
              <a:t>High-key</a:t>
            </a:r>
            <a:r>
              <a:rPr sz="1800" b="0" i="0">
                <a:solidFill>
                  <a:srgbClr val="333333"/>
                </a:solidFill>
                <a:latin typeface="Calibri"/>
              </a:rPr>
              <a:t> — mostly light tones, airy, delicate</a:t>
            </a:r>
          </a:p>
          <a:p>
            <a:pPr lvl="1">
              <a:spcAft>
                <a:spcPts val="1000"/>
              </a:spcAft>
            </a:pPr>
            <a:r>
              <a:rPr sz="1800" b="1" i="0">
                <a:solidFill>
                  <a:srgbClr val="1F3A5F"/>
                </a:solidFill>
                <a:latin typeface="Calibri"/>
              </a:rPr>
              <a:t>Low-key</a:t>
            </a:r>
            <a:r>
              <a:rPr sz="1800" b="0" i="0">
                <a:solidFill>
                  <a:srgbClr val="333333"/>
                </a:solidFill>
                <a:latin typeface="Calibri"/>
              </a:rPr>
              <a:t> — mostly dark tones, dramatic, mysterious</a:t>
            </a:r>
          </a:p>
          <a:p>
            <a:pPr lvl="1">
              <a:spcAft>
                <a:spcPts val="1000"/>
              </a:spcAft>
            </a:pPr>
            <a:r>
              <a:rPr sz="1800" b="1" i="0">
                <a:solidFill>
                  <a:srgbClr val="1F3A5F"/>
                </a:solidFill>
                <a:latin typeface="Calibri"/>
              </a:rPr>
              <a:t>Tonal contrast</a:t>
            </a:r>
            <a:r>
              <a:rPr sz="1800" b="0" i="0">
                <a:solidFill>
                  <a:srgbClr val="333333"/>
                </a:solidFill>
                <a:latin typeface="Calibri"/>
              </a:rPr>
              <a:t> — difference between lightest and darkest areas</a:t>
            </a:r>
          </a:p>
          <a:p>
            <a:pPr lvl="1">
              <a:spcAft>
                <a:spcPts val="1000"/>
              </a:spcAft>
            </a:pPr>
            <a:r>
              <a:rPr sz="1800" b="1" i="0">
                <a:solidFill>
                  <a:srgbClr val="1F3A5F"/>
                </a:solidFill>
                <a:latin typeface="Calibri"/>
              </a:rPr>
              <a:t>Tonal gradation</a:t>
            </a:r>
            <a:r>
              <a:rPr sz="1800" b="0" i="0">
                <a:solidFill>
                  <a:srgbClr val="333333"/>
                </a:solidFill>
                <a:latin typeface="Calibri"/>
              </a:rPr>
              <a:t> — smooth transition from light to dark</a:t>
            </a:r>
          </a:p>
          <a:p>
            <a:pPr lvl="1">
              <a:spcAft>
                <a:spcPts val="1000"/>
              </a:spcAft>
            </a:pPr>
            <a:r>
              <a:rPr sz="1800" b="1" i="0">
                <a:solidFill>
                  <a:srgbClr val="1F3A5F"/>
                </a:solidFill>
                <a:latin typeface="Calibri"/>
              </a:rPr>
              <a:t>Highlight, midtone, shadow</a:t>
            </a:r>
            <a:r>
              <a:rPr sz="1800" b="0" i="0">
                <a:solidFill>
                  <a:srgbClr val="333333"/>
                </a:solidFill>
                <a:latin typeface="Calibri"/>
              </a:rPr>
              <a:t> — the three tonal zones</a:t>
            </a:r>
          </a:p>
          <a:p>
            <a:pPr lvl="1">
              <a:spcAft>
                <a:spcPts val="1000"/>
              </a:spcAft>
            </a:pPr>
            <a:r>
              <a:rPr sz="1600" b="1" i="1">
                <a:solidFill>
                  <a:srgbClr val="1F3A5F"/>
                </a:solidFill>
                <a:latin typeface="Calibri"/>
              </a:rPr>
              <a:t>Exam vocab:</a:t>
            </a:r>
            <a:r>
              <a:rPr sz="1600" b="0" i="1">
                <a:solidFill>
                  <a:srgbClr val="333333"/>
                </a:solidFill>
                <a:latin typeface="Calibri"/>
              </a:rPr>
              <a:t> highlight, midtone, shadow, high-key, low-key, tonal range, gradation, contrast, chiaroscuro, flat, modelled</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Texture</a:t>
            </a:r>
          </a:p>
        </p:txBody>
      </p:sp>
      <p:sp>
        <p:nvSpPr>
          <p:cNvPr id="3" name="Content Placeholder 2"/>
          <p:cNvSpPr>
            <a:spLocks noGrp="1"/>
          </p:cNvSpPr>
          <p:nvPr>
            <p:ph idx="1" sz="half"/>
          </p:nvPr>
        </p:nvSpPr>
        <p:spPr/>
        <p:txBody>
          <a:bodyPr wrap="square"/>
          <a:lstStyle/>
          <a:p>
            <a:pPr>
              <a:spcAft>
                <a:spcPts val="1000"/>
              </a:spcAft>
            </a:pPr>
            <a:r>
              <a:rPr sz="2000" b="0" i="0">
                <a:solidFill>
                  <a:srgbClr val="333333"/>
                </a:solidFill>
                <a:latin typeface="Calibri"/>
              </a:rPr>
              <a:t>The surface quality of an object — actual (tactile) or visual (simulated). Texture adds richness, depth and can communicate cultural or brand meaning.</a:t>
            </a:r>
          </a:p>
          <a:p>
            <a:pPr lvl="1">
              <a:spcAft>
                <a:spcPts val="1000"/>
              </a:spcAft>
            </a:pPr>
            <a:r>
              <a:rPr sz="1800" b="0" i="0">
                <a:solidFill>
                  <a:srgbClr val="333333"/>
                </a:solidFill>
                <a:latin typeface="Calibri"/>
              </a:rPr>
              <a:t>Two Types</a:t>
            </a:r>
          </a:p>
          <a:p>
            <a:pPr lvl="1">
              <a:spcAft>
                <a:spcPts val="1000"/>
              </a:spcAft>
            </a:pPr>
            <a:r>
              <a:rPr sz="1800" b="0" i="0">
                <a:solidFill>
                  <a:srgbClr val="333333"/>
                </a:solidFill>
                <a:latin typeface="Calibri"/>
              </a:rPr>
              <a:t>Actual (Tactile) Texture</a:t>
            </a:r>
          </a:p>
          <a:p>
            <a:pPr lvl="1">
              <a:spcAft>
                <a:spcPts val="1000"/>
              </a:spcAft>
            </a:pPr>
            <a:r>
              <a:rPr sz="1800" b="0" i="0">
                <a:solidFill>
                  <a:srgbClr val="333333"/>
                </a:solidFill>
                <a:latin typeface="Calibri"/>
              </a:rPr>
              <a:t>Can be physically felt. e.g. embossed printing, rough cardboard packaging, velvet fabric.</a:t>
            </a:r>
          </a:p>
          <a:p>
            <a:pPr lvl="1">
              <a:spcAft>
                <a:spcPts val="1000"/>
              </a:spcAft>
            </a:pPr>
            <a:r>
              <a:rPr sz="1800" b="0" i="0">
                <a:solidFill>
                  <a:srgbClr val="333333"/>
                </a:solidFill>
                <a:latin typeface="Calibri"/>
              </a:rPr>
              <a:t>Visual (Simulated) Texture</a:t>
            </a:r>
          </a:p>
          <a:p>
            <a:pPr lvl="1">
              <a:spcAft>
                <a:spcPts val="1000"/>
              </a:spcAft>
            </a:pPr>
            <a:r>
              <a:rPr sz="1800" b="0" i="0">
                <a:solidFill>
                  <a:srgbClr val="333333"/>
                </a:solidFill>
                <a:latin typeface="Calibri"/>
              </a:rPr>
              <a:t>Created using marks, patterns or photography to suggest texture. e.g. a photo of wood grain, a drawn halftone pattern.</a:t>
            </a:r>
          </a:p>
          <a:p>
            <a:pPr>
              <a:spcAft>
                <a:spcPts val="1000"/>
              </a:spcAft>
            </a:pPr>
            <a:r>
              <a:rPr sz="1800" b="1" i="1">
                <a:solidFill>
                  <a:srgbClr val="1F3A5F"/>
                </a:solidFill>
                <a:latin typeface="Calibri"/>
              </a:rPr>
              <a:t>Exam vocab:</a:t>
            </a:r>
            <a:r>
              <a:rPr sz="1800" b="0" i="1">
                <a:solidFill>
                  <a:srgbClr val="333333"/>
                </a:solidFill>
                <a:latin typeface="Calibri"/>
              </a:rPr>
              <a:t> tactile, simulated, rough, smooth, matte, glossy, organic, industrial, grainy, woven, embossed, debossed</a:t>
            </a:r>
          </a:p>
        </p:txBody>
      </p:sp>
      <p:sp>
        <p:nvSpPr>
          <p:cNvPr id="4" name="Content Placeholder 3"/>
          <p:cNvSpPr>
            <a:spLocks noGrp="1"/>
          </p:cNvSpPr>
          <p:nvPr>
            <p:ph idx="2" sz="half"/>
          </p:nvPr>
        </p:nvSpPr>
        <p:spPr/>
        <p:txBody>
          <a:bodyPr wrap="square"/>
          <a:lstStyle/>
          <a:p>
            <a:pPr>
              <a:spcAft>
                <a:spcPts val="1000"/>
              </a:spcAft>
            </a:pPr>
            <a:r>
              <a:rPr sz="2000" b="0" i="0">
                <a:solidFill>
                  <a:srgbClr val="333333"/>
                </a:solidFill>
                <a:latin typeface="Calibri"/>
              </a:rPr>
              <a:t>Cultural Meaning of Texture</a:t>
            </a:r>
          </a:p>
          <a:p>
            <a:pPr lvl="1">
              <a:spcAft>
                <a:spcPts val="1000"/>
              </a:spcAft>
            </a:pPr>
            <a:r>
              <a:rPr sz="1800" b="1" i="0">
                <a:solidFill>
                  <a:srgbClr val="1F3A5F"/>
                </a:solidFill>
                <a:latin typeface="Calibri"/>
              </a:rPr>
              <a:t>Rough/natural</a:t>
            </a:r>
            <a:r>
              <a:rPr sz="1800" b="0" i="0">
                <a:solidFill>
                  <a:srgbClr val="333333"/>
                </a:solidFill>
                <a:latin typeface="Calibri"/>
              </a:rPr>
              <a:t> → sustainability, authenticity, handcrafted</a:t>
            </a:r>
          </a:p>
          <a:p>
            <a:pPr lvl="1">
              <a:spcAft>
                <a:spcPts val="1000"/>
              </a:spcAft>
            </a:pPr>
            <a:r>
              <a:rPr sz="1800" b="1" i="0">
                <a:solidFill>
                  <a:srgbClr val="1F3A5F"/>
                </a:solidFill>
                <a:latin typeface="Calibri"/>
              </a:rPr>
              <a:t>Smooth/glossy</a:t>
            </a:r>
            <a:r>
              <a:rPr sz="1800" b="0" i="0">
                <a:solidFill>
                  <a:srgbClr val="333333"/>
                </a:solidFill>
                <a:latin typeface="Calibri"/>
              </a:rPr>
              <a:t> → luxury, precision, technology</a:t>
            </a:r>
          </a:p>
          <a:p>
            <a:pPr lvl="1">
              <a:spcAft>
                <a:spcPts val="1000"/>
              </a:spcAft>
            </a:pPr>
            <a:r>
              <a:rPr sz="1800" b="1" i="0">
                <a:solidFill>
                  <a:srgbClr val="1F3A5F"/>
                </a:solidFill>
                <a:latin typeface="Calibri"/>
              </a:rPr>
              <a:t>Woven/fabric</a:t>
            </a:r>
            <a:r>
              <a:rPr sz="1800" b="0" i="0">
                <a:solidFill>
                  <a:srgbClr val="333333"/>
                </a:solidFill>
                <a:latin typeface="Calibri"/>
              </a:rPr>
              <a:t> → warmth, tradition, craftsmanship</a:t>
            </a:r>
          </a:p>
          <a:p>
            <a:pPr lvl="1">
              <a:spcAft>
                <a:spcPts val="1000"/>
              </a:spcAft>
            </a:pPr>
            <a:r>
              <a:rPr sz="1800" b="1" i="0">
                <a:solidFill>
                  <a:srgbClr val="1F3A5F"/>
                </a:solidFill>
                <a:latin typeface="Calibri"/>
              </a:rPr>
              <a:t>Industrial/metal</a:t>
            </a:r>
            <a:r>
              <a:rPr sz="1800" b="0" i="0">
                <a:solidFill>
                  <a:srgbClr val="333333"/>
                </a:solidFill>
                <a:latin typeface="Calibri"/>
              </a:rPr>
              <a:t> → strength, durability, modernity</a:t>
            </a:r>
          </a:p>
          <a:p>
            <a:pPr lvl="1">
              <a:spcAft>
                <a:spcPts val="1000"/>
              </a:spcAft>
            </a:pPr>
            <a:r>
              <a:rPr sz="1800" b="0" i="0">
                <a:solidFill>
                  <a:srgbClr val="333333"/>
                </a:solidFill>
                <a:latin typeface="Calibri"/>
              </a:rPr>
              <a:t> Exam tip</a:t>
            </a:r>
          </a:p>
          <a:p>
            <a:pPr lvl="1">
              <a:spcAft>
                <a:spcPts val="1000"/>
              </a:spcAft>
            </a:pPr>
            <a:r>
              <a:rPr sz="1800" b="0" i="0">
                <a:solidFill>
                  <a:srgbClr val="333333"/>
                </a:solidFill>
                <a:latin typeface="Calibri"/>
              </a:rPr>
              <a:t>Always state whether texture is actual or visual AND explain what meaning it communicates to the target audience.</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Form</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Three-dimensional volume — or the illusion of it on a 2D surface. Form is created through tone, line and perspective drawing.</a:t>
            </a:r>
          </a:p>
          <a:p>
            <a:pPr lvl="1">
              <a:spcAft>
                <a:spcPts val="1000"/>
              </a:spcAft>
            </a:pPr>
            <a:r>
              <a:rPr sz="1800" b="0" i="0">
                <a:solidFill>
                  <a:srgbClr val="333333"/>
                </a:solidFill>
                <a:latin typeface="Calibri"/>
              </a:rPr>
              <a:t>Form vs Shape</a:t>
            </a:r>
          </a:p>
          <a:p>
            <a:pPr lvl="1">
              <a:spcAft>
                <a:spcPts val="1000"/>
              </a:spcAft>
            </a:pPr>
            <a:r>
              <a:rPr sz="1800" b="1" i="0">
                <a:solidFill>
                  <a:srgbClr val="1F3A5F"/>
                </a:solidFill>
                <a:latin typeface="Calibri"/>
              </a:rPr>
              <a:t>Shape</a:t>
            </a:r>
            <a:r>
              <a:rPr sz="1800" b="0" i="0">
                <a:solidFill>
                  <a:srgbClr val="333333"/>
                </a:solidFill>
                <a:latin typeface="Calibri"/>
              </a:rPr>
              <a:t> is 2D — a circle on paper</a:t>
            </a:r>
          </a:p>
          <a:p>
            <a:pPr lvl="1">
              <a:spcAft>
                <a:spcPts val="1000"/>
              </a:spcAft>
            </a:pPr>
            <a:r>
              <a:rPr sz="1800" b="1" i="0">
                <a:solidFill>
                  <a:srgbClr val="1F3A5F"/>
                </a:solidFill>
                <a:latin typeface="Calibri"/>
              </a:rPr>
              <a:t>Form</a:t>
            </a:r>
            <a:r>
              <a:rPr sz="1800" b="0" i="0">
                <a:solidFill>
                  <a:srgbClr val="333333"/>
                </a:solidFill>
                <a:latin typeface="Calibri"/>
              </a:rPr>
              <a:t> is 3D — a sphere with volume and depth</a:t>
            </a:r>
          </a:p>
          <a:p>
            <a:pPr lvl="1">
              <a:spcAft>
                <a:spcPts val="1000"/>
              </a:spcAft>
            </a:pPr>
            <a:r>
              <a:rPr sz="1800" b="1" i="0">
                <a:solidFill>
                  <a:srgbClr val="1F3A5F"/>
                </a:solidFill>
                <a:latin typeface="Calibri"/>
              </a:rPr>
              <a:t>How to create form:</a:t>
            </a:r>
            <a:r>
              <a:rPr sz="1800" b="0" i="0">
                <a:solidFill>
                  <a:srgbClr val="333333"/>
                </a:solidFill>
                <a:latin typeface="Calibri"/>
              </a:rPr>
              <a:t> → Tonal gradation (light to shadow) → Overlapping shapes → Perspective drawing → Cast shadows</a:t>
            </a:r>
          </a:p>
          <a:p>
            <a:pPr lvl="1">
              <a:spcAft>
                <a:spcPts val="1000"/>
              </a:spcAft>
            </a:pPr>
            <a:r>
              <a:rPr sz="1600" b="1" i="1">
                <a:solidFill>
                  <a:srgbClr val="1F3A5F"/>
                </a:solidFill>
                <a:latin typeface="Calibri"/>
              </a:rPr>
              <a:t>Exam vocab:</a:t>
            </a:r>
            <a:r>
              <a:rPr sz="1600" b="0" i="1">
                <a:solidFill>
                  <a:srgbClr val="333333"/>
                </a:solidFill>
                <a:latin typeface="Calibri"/>
              </a:rPr>
              <a:t> three-dimensional, mass, volume, depth, solid, hollow, geometric form, organic form, rendered, modelled, perspective</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Point / Dot</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The smallest visual unit. Points attract the eye, create texture through repetition and establish visual rhythm, pattern and movement.</a:t>
            </a:r>
          </a:p>
          <a:p>
            <a:pPr lvl="1">
              <a:spcAft>
                <a:spcPts val="1000"/>
              </a:spcAft>
            </a:pPr>
            <a:r>
              <a:rPr sz="1800" b="0" i="0">
                <a:solidFill>
                  <a:srgbClr val="333333"/>
                </a:solidFill>
                <a:latin typeface="Calibri"/>
              </a:rPr>
              <a:t>Uses of Point</a:t>
            </a:r>
          </a:p>
          <a:p>
            <a:pPr lvl="1">
              <a:spcAft>
                <a:spcPts val="1000"/>
              </a:spcAft>
            </a:pPr>
            <a:r>
              <a:rPr sz="1800" b="1" i="0">
                <a:solidFill>
                  <a:srgbClr val="1F3A5F"/>
                </a:solidFill>
                <a:latin typeface="Calibri"/>
              </a:rPr>
              <a:t>Focal point</a:t>
            </a:r>
            <a:r>
              <a:rPr sz="1800" b="0" i="0">
                <a:solidFill>
                  <a:srgbClr val="333333"/>
                </a:solidFill>
                <a:latin typeface="Calibri"/>
              </a:rPr>
              <a:t> — a single prominent dot draws the eye</a:t>
            </a:r>
          </a:p>
          <a:p>
            <a:pPr lvl="1">
              <a:spcAft>
                <a:spcPts val="1000"/>
              </a:spcAft>
            </a:pPr>
            <a:r>
              <a:rPr sz="1800" b="1" i="0">
                <a:solidFill>
                  <a:srgbClr val="1F3A5F"/>
                </a:solidFill>
                <a:latin typeface="Calibri"/>
              </a:rPr>
              <a:t>Repetition</a:t>
            </a:r>
            <a:r>
              <a:rPr sz="1800" b="0" i="0">
                <a:solidFill>
                  <a:srgbClr val="333333"/>
                </a:solidFill>
                <a:latin typeface="Calibri"/>
              </a:rPr>
              <a:t> — creates texture and visual interest</a:t>
            </a:r>
          </a:p>
          <a:p>
            <a:pPr lvl="1">
              <a:spcAft>
                <a:spcPts val="1000"/>
              </a:spcAft>
            </a:pPr>
            <a:r>
              <a:rPr sz="1800" b="1" i="0">
                <a:solidFill>
                  <a:srgbClr val="1F3A5F"/>
                </a:solidFill>
                <a:latin typeface="Calibri"/>
              </a:rPr>
              <a:t>Stippling</a:t>
            </a:r>
            <a:r>
              <a:rPr sz="1800" b="0" i="0">
                <a:solidFill>
                  <a:srgbClr val="333333"/>
                </a:solidFill>
                <a:latin typeface="Calibri"/>
              </a:rPr>
              <a:t> — many dots create tonal variation</a:t>
            </a:r>
          </a:p>
          <a:p>
            <a:pPr lvl="1">
              <a:spcAft>
                <a:spcPts val="1000"/>
              </a:spcAft>
            </a:pPr>
            <a:r>
              <a:rPr sz="1800" b="1" i="0">
                <a:solidFill>
                  <a:srgbClr val="1F3A5F"/>
                </a:solidFill>
                <a:latin typeface="Calibri"/>
              </a:rPr>
              <a:t>Pattern</a:t>
            </a:r>
            <a:r>
              <a:rPr sz="1800" b="0" i="0">
                <a:solidFill>
                  <a:srgbClr val="333333"/>
                </a:solidFill>
                <a:latin typeface="Calibri"/>
              </a:rPr>
              <a:t> — regular arrangement creates rhythm</a:t>
            </a:r>
          </a:p>
          <a:p>
            <a:pPr lvl="1">
              <a:spcAft>
                <a:spcPts val="1000"/>
              </a:spcAft>
            </a:pPr>
            <a:r>
              <a:rPr sz="1800" b="1" i="0">
                <a:solidFill>
                  <a:srgbClr val="1F3A5F"/>
                </a:solidFill>
                <a:latin typeface="Calibri"/>
              </a:rPr>
              <a:t>Concentration</a:t>
            </a:r>
            <a:r>
              <a:rPr sz="1800" b="0" i="0">
                <a:solidFill>
                  <a:srgbClr val="333333"/>
                </a:solidFill>
                <a:latin typeface="Calibri"/>
              </a:rPr>
              <a:t> — density of dots implies darkness or weight</a:t>
            </a:r>
          </a:p>
          <a:p>
            <a:pPr lvl="1">
              <a:spcAft>
                <a:spcPts val="1000"/>
              </a:spcAft>
            </a:pPr>
            <a:r>
              <a:rPr sz="1600" b="1" i="1">
                <a:solidFill>
                  <a:srgbClr val="1F3A5F"/>
                </a:solidFill>
                <a:latin typeface="Calibri"/>
              </a:rPr>
              <a:t>Exam vocab:</a:t>
            </a:r>
            <a:r>
              <a:rPr sz="1600" b="0" i="1">
                <a:solidFill>
                  <a:srgbClr val="333333"/>
                </a:solidFill>
                <a:latin typeface="Calibri"/>
              </a:rPr>
              <a:t> focal point, dot, mark, repetition, pattern, concentration, dispersal, stippling, halftone, scatter</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Type</a:t>
            </a:r>
          </a:p>
        </p:txBody>
      </p:sp>
      <p:sp>
        <p:nvSpPr>
          <p:cNvPr id="3" name="Content Placeholder 2"/>
          <p:cNvSpPr>
            <a:spLocks noGrp="1"/>
          </p:cNvSpPr>
          <p:nvPr>
            <p:ph idx="1" sz="half"/>
          </p:nvPr>
        </p:nvSpPr>
        <p:spPr/>
        <p:txBody>
          <a:bodyPr wrap="square"/>
          <a:lstStyle/>
          <a:p>
            <a:pPr>
              <a:spcAft>
                <a:spcPts val="1000"/>
              </a:spcAft>
            </a:pPr>
            <a:r>
              <a:rPr sz="2000" b="0" i="0">
                <a:solidFill>
                  <a:srgbClr val="333333"/>
                </a:solidFill>
                <a:latin typeface="Calibri"/>
              </a:rPr>
              <a:t>Letterforms and typography as a visual design element. Type communicates personality, hierarchy and brand identity beyond its literal meaning.</a:t>
            </a:r>
          </a:p>
          <a:p>
            <a:pPr lvl="1">
              <a:spcAft>
                <a:spcPts val="1000"/>
              </a:spcAft>
            </a:pPr>
            <a:r>
              <a:rPr sz="1800" b="0" i="0">
                <a:solidFill>
                  <a:srgbClr val="333333"/>
                </a:solidFill>
                <a:latin typeface="Calibri"/>
              </a:rPr>
              <a:t>Type as a Visual Element</a:t>
            </a:r>
          </a:p>
          <a:p>
            <a:pPr lvl="1">
              <a:spcAft>
                <a:spcPts val="1000"/>
              </a:spcAft>
            </a:pPr>
            <a:r>
              <a:rPr sz="1800" b="1" i="0">
                <a:solidFill>
                  <a:srgbClr val="1F3A5F"/>
                </a:solidFill>
                <a:latin typeface="Calibri"/>
              </a:rPr>
              <a:t>Weight</a:t>
            </a:r>
            <a:r>
              <a:rPr sz="1800" b="0" i="0">
                <a:solidFill>
                  <a:srgbClr val="333333"/>
                </a:solidFill>
                <a:latin typeface="Calibri"/>
              </a:rPr>
              <a:t> — bold communicates strength and importance</a:t>
            </a:r>
          </a:p>
          <a:p>
            <a:pPr lvl="1">
              <a:spcAft>
                <a:spcPts val="1000"/>
              </a:spcAft>
            </a:pPr>
            <a:r>
              <a:rPr sz="1800" b="1" i="0">
                <a:solidFill>
                  <a:srgbClr val="1F3A5F"/>
                </a:solidFill>
                <a:latin typeface="Calibri"/>
              </a:rPr>
              <a:t>Size</a:t>
            </a:r>
            <a:r>
              <a:rPr sz="1800" b="0" i="0">
                <a:solidFill>
                  <a:srgbClr val="333333"/>
                </a:solidFill>
                <a:latin typeface="Calibri"/>
              </a:rPr>
              <a:t> — larger type has greater visual weight</a:t>
            </a:r>
          </a:p>
          <a:p>
            <a:pPr lvl="1">
              <a:spcAft>
                <a:spcPts val="1000"/>
              </a:spcAft>
            </a:pPr>
            <a:r>
              <a:rPr sz="1800" b="1" i="0">
                <a:solidFill>
                  <a:srgbClr val="1F3A5F"/>
                </a:solidFill>
                <a:latin typeface="Calibri"/>
              </a:rPr>
              <a:t>Tracking</a:t>
            </a:r>
            <a:r>
              <a:rPr sz="1800" b="0" i="0">
                <a:solidFill>
                  <a:srgbClr val="333333"/>
                </a:solidFill>
                <a:latin typeface="Calibri"/>
              </a:rPr>
              <a:t> — spacing between all letters</a:t>
            </a:r>
          </a:p>
          <a:p>
            <a:pPr lvl="1">
              <a:spcAft>
                <a:spcPts val="1000"/>
              </a:spcAft>
            </a:pPr>
            <a:r>
              <a:rPr sz="1800" b="1" i="0">
                <a:solidFill>
                  <a:srgbClr val="1F3A5F"/>
                </a:solidFill>
                <a:latin typeface="Calibri"/>
              </a:rPr>
              <a:t>Leading</a:t>
            </a:r>
            <a:r>
              <a:rPr sz="1800" b="0" i="0">
                <a:solidFill>
                  <a:srgbClr val="333333"/>
                </a:solidFill>
                <a:latin typeface="Calibri"/>
              </a:rPr>
              <a:t> — space between lines</a:t>
            </a:r>
          </a:p>
          <a:p>
            <a:pPr lvl="1">
              <a:spcAft>
                <a:spcPts val="1000"/>
              </a:spcAft>
            </a:pPr>
            <a:r>
              <a:rPr sz="1800" b="1" i="0">
                <a:solidFill>
                  <a:srgbClr val="1F3A5F"/>
                </a:solidFill>
                <a:latin typeface="Calibri"/>
              </a:rPr>
              <a:t>Case</a:t>
            </a:r>
            <a:r>
              <a:rPr sz="1800" b="0" i="0">
                <a:solidFill>
                  <a:srgbClr val="333333"/>
                </a:solidFill>
                <a:latin typeface="Calibri"/>
              </a:rPr>
              <a:t> — ALL CAPS suggests authority</a:t>
            </a:r>
          </a:p>
          <a:p>
            <a:pPr>
              <a:spcAft>
                <a:spcPts val="1000"/>
              </a:spcAft>
            </a:pPr>
            <a:r>
              <a:rPr sz="1800" b="1" i="1">
                <a:solidFill>
                  <a:srgbClr val="1F3A5F"/>
                </a:solidFill>
                <a:latin typeface="Calibri"/>
              </a:rPr>
              <a:t>Exam vocab:</a:t>
            </a:r>
            <a:r>
              <a:rPr sz="1800" b="0" i="1">
                <a:solidFill>
                  <a:srgbClr val="333333"/>
                </a:solidFill>
                <a:latin typeface="Calibri"/>
              </a:rPr>
              <a:t> typeface, font, serif, sans-serif, weight, tracking, leading, kerning, hierarchy, baseline, x-height, cap height</a:t>
            </a:r>
          </a:p>
        </p:txBody>
      </p:sp>
      <p:sp>
        <p:nvSpPr>
          <p:cNvPr id="4" name="Content Placeholder 3"/>
          <p:cNvSpPr>
            <a:spLocks noGrp="1"/>
          </p:cNvSpPr>
          <p:nvPr>
            <p:ph idx="2" sz="half"/>
          </p:nvPr>
        </p:nvSpPr>
        <p:spPr/>
        <p:txBody>
          <a:bodyPr wrap="square"/>
          <a:lstStyle/>
          <a:p>
            <a:pPr>
              <a:spcAft>
                <a:spcPts val="1000"/>
              </a:spcAft>
            </a:pPr>
            <a:r>
              <a:rPr sz="2000" b="0" i="0">
                <a:solidFill>
                  <a:srgbClr val="333333"/>
                </a:solidFill>
                <a:latin typeface="Calibri"/>
              </a:rPr>
              <a:t>Serif</a:t>
            </a:r>
          </a:p>
          <a:p>
            <a:pPr>
              <a:spcAft>
                <a:spcPts val="1000"/>
              </a:spcAft>
            </a:pPr>
            <a:r>
              <a:rPr sz="2000" b="0" i="0">
                <a:solidFill>
                  <a:srgbClr val="333333"/>
                </a:solidFill>
                <a:latin typeface="Calibri"/>
              </a:rPr>
              <a:t>Sans-Serif</a:t>
            </a:r>
          </a:p>
          <a:p>
            <a:pPr>
              <a:spcAft>
                <a:spcPts val="1000"/>
              </a:spcAft>
            </a:pPr>
            <a:r>
              <a:rPr sz="2000" b="0" i="0">
                <a:solidFill>
                  <a:srgbClr val="333333"/>
                </a:solidFill>
                <a:latin typeface="Calibri"/>
              </a:rPr>
              <a:t>Script / Italic</a:t>
            </a:r>
          </a:p>
          <a:p>
            <a:pPr>
              <a:spcAft>
                <a:spcPts val="1000"/>
              </a:spcAft>
            </a:pPr>
            <a:r>
              <a:rPr sz="2000" b="0" i="0">
                <a:solidFill>
                  <a:srgbClr val="333333"/>
                </a:solidFill>
                <a:latin typeface="Calibri"/>
              </a:rPr>
              <a:t>DISPLAY</a:t>
            </a:r>
          </a:p>
          <a:p>
            <a:pPr>
              <a:spcAft>
                <a:spcPts val="1000"/>
              </a:spcAft>
            </a:pPr>
            <a:r>
              <a:rPr sz="2000" b="0" i="0">
                <a:solidFill>
                  <a:srgbClr val="333333"/>
                </a:solidFill>
                <a:latin typeface="Calibri"/>
              </a:rPr>
              <a:t>Type classification covered in Typography unit</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How to Analyse Elements in the Exam</a:t>
            </a:r>
          </a:p>
        </p:txBody>
      </p:sp>
      <p:sp>
        <p:nvSpPr>
          <p:cNvPr id="3" name="Content Placeholder 2"/>
          <p:cNvSpPr>
            <a:spLocks noGrp="1"/>
          </p:cNvSpPr>
          <p:nvPr>
            <p:ph idx="1" sz="half"/>
          </p:nvPr>
        </p:nvSpPr>
        <p:spPr/>
        <p:txBody>
          <a:bodyPr wrap="square"/>
          <a:lstStyle/>
          <a:p>
            <a:pPr lvl="1">
              <a:spcAft>
                <a:spcPts val="1000"/>
              </a:spcAft>
            </a:pPr>
            <a:r>
              <a:rPr sz="1800" b="0" i="0">
                <a:solidFill>
                  <a:srgbClr val="333333"/>
                </a:solidFill>
                <a:latin typeface="Calibri"/>
              </a:rPr>
              <a:t>Element → Use → Effect</a:t>
            </a:r>
          </a:p>
          <a:p>
            <a:pPr lvl="1">
              <a:spcAft>
                <a:spcPts val="1000"/>
              </a:spcAft>
            </a:pPr>
            <a:r>
              <a:rPr sz="1800" b="0" i="0">
                <a:solidFill>
                  <a:srgbClr val="333333"/>
                </a:solidFill>
                <a:latin typeface="Calibri"/>
              </a:rPr>
              <a:t>1. Name the specific element and its type</a:t>
            </a:r>
          </a:p>
          <a:p>
            <a:pPr lvl="1">
              <a:spcAft>
                <a:spcPts val="1000"/>
              </a:spcAft>
            </a:pPr>
            <a:r>
              <a:rPr sz="1800" b="0" i="0">
                <a:solidFill>
                  <a:srgbClr val="333333"/>
                </a:solidFill>
                <a:latin typeface="Calibri"/>
              </a:rPr>
              <a:t>2. Describe exactly how it is used</a:t>
            </a:r>
          </a:p>
          <a:p>
            <a:pPr lvl="1">
              <a:spcAft>
                <a:spcPts val="1000"/>
              </a:spcAft>
            </a:pPr>
            <a:r>
              <a:rPr sz="1800" b="0" i="0">
                <a:solidFill>
                  <a:srgbClr val="333333"/>
                </a:solidFill>
                <a:latin typeface="Calibri"/>
              </a:rPr>
              <a:t>3. Explain the effect on the target audience</a:t>
            </a:r>
          </a:p>
          <a:p>
            <a:pPr lvl="1">
              <a:spcAft>
                <a:spcPts val="1000"/>
              </a:spcAft>
            </a:pPr>
            <a:r>
              <a:rPr sz="1800" b="0" i="0">
                <a:solidFill>
                  <a:srgbClr val="333333"/>
                </a:solidFill>
                <a:latin typeface="Calibri"/>
              </a:rPr>
              <a:t> Weak answer:</a:t>
            </a:r>
          </a:p>
          <a:p>
            <a:pPr lvl="1">
              <a:spcAft>
                <a:spcPts val="1000"/>
              </a:spcAft>
            </a:pPr>
            <a:r>
              <a:rPr sz="1800" b="0" i="0">
                <a:solidFill>
                  <a:srgbClr val="333333"/>
                </a:solidFill>
                <a:latin typeface="Calibri"/>
              </a:rPr>
              <a:t>"The line is interesting and makes the design look good."</a:t>
            </a:r>
          </a:p>
          <a:p>
            <a:pPr lvl="1">
              <a:spcAft>
                <a:spcPts val="1000"/>
              </a:spcAft>
            </a:pPr>
            <a:r>
              <a:rPr sz="1800" b="0" i="0">
                <a:solidFill>
                  <a:srgbClr val="333333"/>
                </a:solidFill>
                <a:latin typeface="Calibri"/>
              </a:rPr>
              <a:t> Strong answer:</a:t>
            </a:r>
          </a:p>
          <a:p>
            <a:pPr lvl="1">
              <a:spcAft>
                <a:spcPts val="1000"/>
              </a:spcAft>
            </a:pPr>
            <a:r>
              <a:rPr sz="1800" b="0" i="0">
                <a:solidFill>
                  <a:srgbClr val="333333"/>
                </a:solidFill>
                <a:latin typeface="Calibri"/>
              </a:rPr>
              <a:t>"The bold diagonal line creates a sense of urgency and movement, directing the viewer's eye towards the call-to-action and conveying the campaign's dynamic energy."</a:t>
            </a:r>
          </a:p>
        </p:txBody>
      </p:sp>
      <p:sp>
        <p:nvSpPr>
          <p:cNvPr id="4" name="Content Placeholder 3"/>
          <p:cNvSpPr>
            <a:spLocks noGrp="1"/>
          </p:cNvSpPr>
          <p:nvPr>
            <p:ph idx="2" sz="half"/>
          </p:nvPr>
        </p:nvSpPr>
        <p:spPr/>
        <p:txBody>
          <a:bodyPr wrap="square"/>
          <a:lstStyle/>
          <a:p>
            <a:pPr>
              <a:spcAft>
                <a:spcPts val="1000"/>
              </a:spcAft>
            </a:pPr>
            <a:r>
              <a:rPr sz="1800" b="0" i="1">
                <a:solidFill>
                  <a:srgbClr val="333333"/>
                </a:solidFill>
                <a:latin typeface="Calibri"/>
              </a:rPr>
              <a:t>Sentence Starters</a:t>
            </a:r>
          </a:p>
          <a:p>
            <a:pPr lvl="1">
              <a:spcAft>
                <a:spcPts val="1000"/>
              </a:spcAft>
            </a:pPr>
            <a:r>
              <a:rPr sz="1800" b="0" i="0">
                <a:solidFill>
                  <a:srgbClr val="333333"/>
                </a:solidFill>
                <a:latin typeface="Calibri"/>
              </a:rPr>
              <a:t>"The use of [diagonal lines] creates..."</a:t>
            </a:r>
          </a:p>
          <a:p>
            <a:pPr lvl="1">
              <a:spcAft>
                <a:spcPts val="1000"/>
              </a:spcAft>
            </a:pPr>
            <a:r>
              <a:rPr sz="1800" b="0" i="0">
                <a:solidFill>
                  <a:srgbClr val="333333"/>
                </a:solidFill>
                <a:latin typeface="Calibri"/>
              </a:rPr>
              <a:t>"The [complementary colour scheme] of [X and Y] produces..."</a:t>
            </a:r>
          </a:p>
          <a:p>
            <a:pPr lvl="1">
              <a:spcAft>
                <a:spcPts val="1000"/>
              </a:spcAft>
            </a:pPr>
            <a:r>
              <a:rPr sz="1800" b="0" i="0">
                <a:solidFill>
                  <a:srgbClr val="333333"/>
                </a:solidFill>
                <a:latin typeface="Calibri"/>
              </a:rPr>
              <a:t>"Through the use of [low-key tonal values], the designer..."</a:t>
            </a:r>
          </a:p>
          <a:p>
            <a:pPr lvl="1">
              <a:spcAft>
                <a:spcPts val="1000"/>
              </a:spcAft>
            </a:pPr>
            <a:r>
              <a:rPr sz="1800" b="0" i="0">
                <a:solidFill>
                  <a:srgbClr val="333333"/>
                </a:solidFill>
                <a:latin typeface="Calibri"/>
              </a:rPr>
              <a:t>"The [organic shapes] suggest [nature/warmth] and convey..."</a:t>
            </a:r>
          </a:p>
          <a:p>
            <a:pPr lvl="1">
              <a:spcAft>
                <a:spcPts val="1000"/>
              </a:spcAft>
            </a:pPr>
            <a:r>
              <a:rPr sz="1800" b="0" i="0">
                <a:solidFill>
                  <a:srgbClr val="333333"/>
                </a:solidFill>
                <a:latin typeface="Calibri"/>
              </a:rPr>
              <a:t>"A [rough, tactile texture] communicates [authenticity] to the target audience of..."</a:t>
            </a:r>
          </a:p>
          <a:p>
            <a:pPr lvl="1">
              <a:spcAft>
                <a:spcPts val="1000"/>
              </a:spcAft>
            </a:pPr>
            <a:r>
              <a:rPr sz="1800" b="0" i="0">
                <a:solidFill>
                  <a:srgbClr val="333333"/>
                </a:solidFill>
                <a:latin typeface="Calibri"/>
              </a:rPr>
              <a:t>"The [high tonal contrast] between [X] and [Y] draws immediate attention to..."</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All 8 Elements — Quick Reference</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Line</a:t>
            </a:r>
          </a:p>
          <a:p>
            <a:pPr lvl="1">
              <a:spcAft>
                <a:spcPts val="1000"/>
              </a:spcAft>
            </a:pPr>
            <a:r>
              <a:rPr sz="1800" b="0" i="0">
                <a:solidFill>
                  <a:srgbClr val="333333"/>
                </a:solidFill>
                <a:latin typeface="Calibri"/>
              </a:rPr>
              <a:t>Mark by a moving point. Horizontal, vertical, diagonal, curved, implied.</a:t>
            </a:r>
          </a:p>
          <a:p>
            <a:pPr lvl="1">
              <a:spcAft>
                <a:spcPts val="1000"/>
              </a:spcAft>
            </a:pPr>
            <a:r>
              <a:rPr sz="1800" b="0" i="0">
                <a:solidFill>
                  <a:srgbClr val="333333"/>
                </a:solidFill>
                <a:latin typeface="Calibri"/>
              </a:rPr>
              <a:t>Shape</a:t>
            </a:r>
          </a:p>
          <a:p>
            <a:pPr lvl="1">
              <a:spcAft>
                <a:spcPts val="1000"/>
              </a:spcAft>
            </a:pPr>
            <a:r>
              <a:rPr sz="1800" b="0" i="0">
                <a:solidFill>
                  <a:srgbClr val="333333"/>
                </a:solidFill>
                <a:latin typeface="Calibri"/>
              </a:rPr>
              <a:t>2D enclosed area. Geometric or organic. Positive and negative.</a:t>
            </a:r>
          </a:p>
          <a:p>
            <a:pPr lvl="1">
              <a:spcAft>
                <a:spcPts val="1000"/>
              </a:spcAft>
            </a:pPr>
            <a:r>
              <a:rPr sz="1800" b="0" i="0">
                <a:solidFill>
                  <a:srgbClr val="333333"/>
                </a:solidFill>
                <a:latin typeface="Calibri"/>
              </a:rPr>
              <a:t>Colour</a:t>
            </a:r>
          </a:p>
          <a:p>
            <a:pPr lvl="1">
              <a:spcAft>
                <a:spcPts val="1000"/>
              </a:spcAft>
            </a:pPr>
            <a:r>
              <a:rPr sz="1800" b="0" i="0">
                <a:solidFill>
                  <a:srgbClr val="333333"/>
                </a:solidFill>
                <a:latin typeface="Calibri"/>
              </a:rPr>
              <a:t>Hue, saturation, value. Warm/cool. Colour schemes: complementary, analogous, triadic.</a:t>
            </a:r>
          </a:p>
          <a:p>
            <a:pPr lvl="1">
              <a:spcAft>
                <a:spcPts val="1000"/>
              </a:spcAft>
            </a:pPr>
            <a:r>
              <a:rPr sz="1800" b="0" i="0">
                <a:solidFill>
                  <a:srgbClr val="333333"/>
                </a:solidFill>
                <a:latin typeface="Calibri"/>
              </a:rPr>
              <a:t>Tone</a:t>
            </a:r>
          </a:p>
          <a:p>
            <a:pPr lvl="1">
              <a:spcAft>
                <a:spcPts val="1000"/>
              </a:spcAft>
            </a:pPr>
            <a:r>
              <a:rPr sz="1800" b="0" i="0">
                <a:solidFill>
                  <a:srgbClr val="333333"/>
                </a:solidFill>
                <a:latin typeface="Calibri"/>
              </a:rPr>
              <a:t>Light to dark. Highlight, midtone, shadow. Creates depth and volume.</a:t>
            </a:r>
          </a:p>
          <a:p>
            <a:pPr lvl="1">
              <a:spcAft>
                <a:spcPts val="1000"/>
              </a:spcAft>
            </a:pPr>
            <a:r>
              <a:rPr sz="1800" b="0" i="0">
                <a:solidFill>
                  <a:srgbClr val="333333"/>
                </a:solidFill>
                <a:latin typeface="Calibri"/>
              </a:rPr>
              <a:t>Texture</a:t>
            </a:r>
          </a:p>
          <a:p>
            <a:pPr lvl="1">
              <a:spcAft>
                <a:spcPts val="1000"/>
              </a:spcAft>
            </a:pPr>
            <a:r>
              <a:rPr sz="1800" b="0" i="0">
                <a:solidFill>
                  <a:srgbClr val="333333"/>
                </a:solidFill>
                <a:latin typeface="Calibri"/>
              </a:rPr>
              <a:t>Actual (tactile) or visual (simulated). Communicates cultural meaning.</a:t>
            </a:r>
          </a:p>
          <a:p>
            <a:pPr lvl="1">
              <a:spcAft>
                <a:spcPts val="1000"/>
              </a:spcAft>
            </a:pPr>
            <a:r>
              <a:rPr sz="1800" b="0" i="0">
                <a:solidFill>
                  <a:srgbClr val="333333"/>
                </a:solidFill>
                <a:latin typeface="Calibri"/>
              </a:rPr>
              <a:t>Form</a:t>
            </a:r>
          </a:p>
          <a:p>
            <a:pPr lvl="1">
              <a:spcAft>
                <a:spcPts val="1000"/>
              </a:spcAft>
            </a:pPr>
            <a:r>
              <a:rPr sz="1800" b="0" i="0">
                <a:solidFill>
                  <a:srgbClr val="333333"/>
                </a:solidFill>
                <a:latin typeface="Calibri"/>
              </a:rPr>
              <a:t>3D volume or illusion of it. Created by tone, line and perspective.</a:t>
            </a:r>
          </a:p>
          <a:p>
            <a:pPr lvl="1">
              <a:spcAft>
                <a:spcPts val="1000"/>
              </a:spcAft>
            </a:pPr>
            <a:r>
              <a:rPr sz="1800" b="0" i="0">
                <a:solidFill>
                  <a:srgbClr val="333333"/>
                </a:solidFill>
                <a:latin typeface="Calibri"/>
              </a:rPr>
              <a:t>Point</a:t>
            </a:r>
          </a:p>
          <a:p>
            <a:pPr lvl="1">
              <a:spcAft>
                <a:spcPts val="1000"/>
              </a:spcAft>
            </a:pPr>
            <a:r>
              <a:rPr sz="1800" b="0" i="0">
                <a:solidFill>
                  <a:srgbClr val="333333"/>
                </a:solidFill>
                <a:latin typeface="Calibri"/>
              </a:rPr>
              <a:t>Smallest visual unit. Creates focal point, texture, pattern through repetition.</a:t>
            </a:r>
          </a:p>
          <a:p>
            <a:pPr lvl="1">
              <a:spcAft>
                <a:spcPts val="1000"/>
              </a:spcAft>
            </a:pPr>
            <a:r>
              <a:rPr sz="1800" b="0" i="0">
                <a:solidFill>
                  <a:srgbClr val="333333"/>
                </a:solidFill>
                <a:latin typeface="Calibri"/>
              </a:rPr>
              <a:t>Type</a:t>
            </a:r>
          </a:p>
          <a:p>
            <a:pPr lvl="1">
              <a:spcAft>
                <a:spcPts val="1000"/>
              </a:spcAft>
            </a:pPr>
            <a:r>
              <a:rPr sz="1800" b="0" i="0">
                <a:solidFill>
                  <a:srgbClr val="333333"/>
                </a:solidFill>
                <a:latin typeface="Calibri"/>
              </a:rPr>
              <a:t>Letterforms as visual element. Communicates personality, hierarchy, brand.</a:t>
            </a:r>
          </a:p>
          <a:p>
            <a:pPr>
              <a:spcAft>
                <a:spcPts val="1000"/>
              </a:spcAft>
            </a:pPr>
            <a:r>
              <a:rPr sz="2000" b="0" i="0">
                <a:solidFill>
                  <a:srgbClr val="333333"/>
                </a:solidFill>
                <a:latin typeface="Calibri"/>
              </a:rPr>
              <a:t> Always: </a:t>
            </a:r>
            <a:r>
              <a:rPr sz="2000" b="1" i="0">
                <a:solidFill>
                  <a:srgbClr val="1F3A5F"/>
                </a:solidFill>
                <a:latin typeface="Calibri"/>
              </a:rPr>
              <a:t>Name the element → Describe how it's used → Explain the effect on the audience</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FFFFFF"/>
                </a:solidFill>
                <a:latin typeface="Cambria"/>
              </a:rPr>
              <a:t>Design Principles</a:t>
            </a:r>
          </a:p>
        </p:txBody>
      </p:sp>
      <p:sp>
        <p:nvSpPr>
          <p:cNvPr id="3" name="Text Placeholder 2"/>
          <p:cNvSpPr>
            <a:spLocks noGrp="1"/>
          </p:cNvSpPr>
          <p:nvPr>
            <p:ph type="body" idx="1"/>
          </p:nvPr>
        </p:nvSpPr>
        <p:spPr/>
        <p:txBody>
          <a:bodyPr/>
          <a:lstStyle/>
          <a:p>
            <a:r>
              <a:rPr sz="1800">
                <a:solidFill>
                  <a:srgbClr val="E5E5E5"/>
                </a:solidFill>
                <a:latin typeface="Calibri"/>
              </a:rPr>
              <a:t>AOS 1 · Understanding Design Thinking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What are Design Principles?</a:t>
            </a:r>
          </a:p>
        </p:txBody>
      </p:sp>
      <p:sp>
        <p:nvSpPr>
          <p:cNvPr id="3" name="Content Placeholder 2"/>
          <p:cNvSpPr>
            <a:spLocks noGrp="1"/>
          </p:cNvSpPr>
          <p:nvPr>
            <p:ph idx="1" sz="half"/>
          </p:nvPr>
        </p:nvSpPr>
        <p:spPr/>
        <p:txBody>
          <a:bodyPr wrap="square"/>
          <a:lstStyle/>
          <a:p>
            <a:pPr>
              <a:spcAft>
                <a:spcPts val="1000"/>
              </a:spcAft>
            </a:pPr>
            <a:r>
              <a:rPr sz="2000" b="0" i="0">
                <a:solidFill>
                  <a:srgbClr val="333333"/>
                </a:solidFill>
                <a:latin typeface="Calibri"/>
              </a:rPr>
              <a:t>Design principles are the </a:t>
            </a:r>
            <a:r>
              <a:rPr sz="2000" b="1" i="0">
                <a:solidFill>
                  <a:srgbClr val="1F3A5F"/>
                </a:solidFill>
                <a:latin typeface="Calibri"/>
              </a:rPr>
              <a:t>rules and guidelines</a:t>
            </a:r>
            <a:r>
              <a:rPr sz="2000" b="0" i="0">
                <a:solidFill>
                  <a:srgbClr val="333333"/>
                </a:solidFill>
                <a:latin typeface="Calibri"/>
              </a:rPr>
              <a:t> that govern how design elements are arranged and combined.</a:t>
            </a:r>
          </a:p>
          <a:p>
            <a:pPr>
              <a:spcAft>
                <a:spcPts val="1000"/>
              </a:spcAft>
            </a:pPr>
            <a:r>
              <a:rPr sz="2000" b="0" i="0">
                <a:solidFill>
                  <a:srgbClr val="333333"/>
                </a:solidFill>
                <a:latin typeface="Calibri"/>
              </a:rPr>
              <a:t>If elements are the "what", principles are the "how" — how elements are organised to communicate effectively.</a:t>
            </a:r>
          </a:p>
          <a:p>
            <a:pPr>
              <a:spcAft>
                <a:spcPts val="1000"/>
              </a:spcAft>
            </a:pPr>
            <a:r>
              <a:rPr sz="2000" b="1" i="0">
                <a:solidFill>
                  <a:srgbClr val="1F3A5F"/>
                </a:solidFill>
                <a:latin typeface="Calibri"/>
              </a:rPr>
              <a:t>Elements + Principles together</a:t>
            </a:r>
            <a:r>
              <a:rPr sz="2000" b="0" i="0">
                <a:solidFill>
                  <a:srgbClr val="333333"/>
                </a:solidFill>
                <a:latin typeface="Calibri"/>
              </a:rPr>
              <a:t> = a complete visual analysis vocabulary for the VCE exam. </a:t>
            </a:r>
          </a:p>
        </p:txBody>
      </p:sp>
      <p:sp>
        <p:nvSpPr>
          <p:cNvPr id="4" name="Content Placeholder 3"/>
          <p:cNvSpPr>
            <a:spLocks noGrp="1"/>
          </p:cNvSpPr>
          <p:nvPr>
            <p:ph idx="2" sz="half"/>
          </p:nvPr>
        </p:nvSpPr>
        <p:spPr/>
        <p:txBody>
          <a:bodyPr wrap="square"/>
          <a:lstStyle/>
          <a:p>
            <a:pPr>
              <a:spcAft>
                <a:spcPts val="1000"/>
              </a:spcAft>
            </a:pPr>
            <a:r>
              <a:rPr sz="2000" b="0" i="0">
                <a:solidFill>
                  <a:srgbClr val="333333"/>
                </a:solidFill>
                <a:latin typeface="Calibri"/>
              </a:rPr>
              <a:t>The 8 VCAA 2024 Principles</a:t>
            </a:r>
          </a:p>
          <a:p>
            <a:pPr lvl="1">
              <a:spcAft>
                <a:spcPts val="1000"/>
              </a:spcAft>
            </a:pPr>
            <a:r>
              <a:rPr sz="1800" b="0" i="0">
                <a:solidFill>
                  <a:srgbClr val="333333"/>
                </a:solidFill>
                <a:latin typeface="Calibri"/>
              </a:rPr>
              <a:t>1. Balance</a:t>
            </a:r>
          </a:p>
          <a:p>
            <a:pPr lvl="1">
              <a:spcAft>
                <a:spcPts val="1000"/>
              </a:spcAft>
            </a:pPr>
            <a:r>
              <a:rPr sz="1800" b="0" i="0">
                <a:solidFill>
                  <a:srgbClr val="333333"/>
                </a:solidFill>
                <a:latin typeface="Calibri"/>
              </a:rPr>
              <a:t>2. Contrast</a:t>
            </a:r>
          </a:p>
          <a:p>
            <a:pPr lvl="1">
              <a:spcAft>
                <a:spcPts val="1000"/>
              </a:spcAft>
            </a:pPr>
            <a:r>
              <a:rPr sz="1800" b="0" i="0">
                <a:solidFill>
                  <a:srgbClr val="333333"/>
                </a:solidFill>
                <a:latin typeface="Calibri"/>
              </a:rPr>
              <a:t>3. Cropping</a:t>
            </a:r>
          </a:p>
          <a:p>
            <a:pPr lvl="1">
              <a:spcAft>
                <a:spcPts val="1000"/>
              </a:spcAft>
            </a:pPr>
            <a:r>
              <a:rPr sz="1800" b="0" i="0">
                <a:solidFill>
                  <a:srgbClr val="333333"/>
                </a:solidFill>
                <a:latin typeface="Calibri"/>
              </a:rPr>
              <a:t>4. Scale</a:t>
            </a:r>
          </a:p>
          <a:p>
            <a:pPr lvl="1">
              <a:spcAft>
                <a:spcPts val="1000"/>
              </a:spcAft>
            </a:pPr>
            <a:r>
              <a:rPr sz="1800" b="0" i="0">
                <a:solidFill>
                  <a:srgbClr val="333333"/>
                </a:solidFill>
                <a:latin typeface="Calibri"/>
              </a:rPr>
              <a:t>5. Proportion</a:t>
            </a:r>
          </a:p>
          <a:p>
            <a:pPr lvl="1">
              <a:spcAft>
                <a:spcPts val="1000"/>
              </a:spcAft>
            </a:pPr>
            <a:r>
              <a:rPr sz="1800" b="0" i="0">
                <a:solidFill>
                  <a:srgbClr val="333333"/>
                </a:solidFill>
                <a:latin typeface="Calibri"/>
              </a:rPr>
              <a:t>6. Hierarchy</a:t>
            </a:r>
          </a:p>
          <a:p>
            <a:pPr lvl="1">
              <a:spcAft>
                <a:spcPts val="1000"/>
              </a:spcAft>
            </a:pPr>
            <a:r>
              <a:rPr sz="1800" b="0" i="0">
                <a:solidFill>
                  <a:srgbClr val="333333"/>
                </a:solidFill>
                <a:latin typeface="Calibri"/>
              </a:rPr>
              <a:t>7. Pattern</a:t>
            </a:r>
          </a:p>
          <a:p>
            <a:pPr lvl="1">
              <a:spcAft>
                <a:spcPts val="1000"/>
              </a:spcAft>
            </a:pPr>
            <a:r>
              <a:rPr sz="1800" b="0" i="0">
                <a:solidFill>
                  <a:srgbClr val="333333"/>
                </a:solidFill>
                <a:latin typeface="Calibri"/>
              </a:rPr>
              <a:t>8. Figure-Ground</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NOT in VCAA 2024</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These principles are often taught but are </a:t>
            </a:r>
            <a:r>
              <a:rPr sz="1800" b="1" i="0">
                <a:solidFill>
                  <a:srgbClr val="1F3A5F"/>
                </a:solidFill>
                <a:latin typeface="Calibri"/>
              </a:rPr>
              <a:t>NOT part of the VCAA 2024 study design:</a:t>
            </a:r>
          </a:p>
          <a:p>
            <a:pPr lvl="1">
              <a:spcAft>
                <a:spcPts val="1000"/>
              </a:spcAft>
            </a:pPr>
            <a:r>
              <a:rPr sz="1800" b="0" i="0">
                <a:solidFill>
                  <a:srgbClr val="333333"/>
                </a:solidFill>
                <a:latin typeface="Calibri"/>
              </a:rPr>
              <a:t>Emphasis</a:t>
            </a:r>
          </a:p>
          <a:p>
            <a:pPr lvl="1">
              <a:spcAft>
                <a:spcPts val="1000"/>
              </a:spcAft>
            </a:pPr>
            <a:r>
              <a:rPr sz="1800" b="0" i="0">
                <a:solidFill>
                  <a:srgbClr val="333333"/>
                </a:solidFill>
                <a:latin typeface="Calibri"/>
              </a:rPr>
              <a:t>Unity</a:t>
            </a:r>
          </a:p>
          <a:p>
            <a:pPr lvl="1">
              <a:spcAft>
                <a:spcPts val="1000"/>
              </a:spcAft>
            </a:pPr>
            <a:r>
              <a:rPr sz="1800" b="0" i="0">
                <a:solidFill>
                  <a:srgbClr val="333333"/>
                </a:solidFill>
                <a:latin typeface="Calibri"/>
              </a:rPr>
              <a:t>Harmony</a:t>
            </a:r>
          </a:p>
          <a:p>
            <a:pPr lvl="1">
              <a:spcAft>
                <a:spcPts val="1000"/>
              </a:spcAft>
            </a:pPr>
            <a:r>
              <a:rPr sz="1800" b="0" i="0">
                <a:solidFill>
                  <a:srgbClr val="333333"/>
                </a:solidFill>
                <a:latin typeface="Calibri"/>
              </a:rPr>
              <a:t>Rhythm</a:t>
            </a:r>
          </a:p>
          <a:p>
            <a:pPr lvl="1">
              <a:spcAft>
                <a:spcPts val="1000"/>
              </a:spcAft>
            </a:pPr>
            <a:r>
              <a:rPr sz="1800" b="0" i="0">
                <a:solidFill>
                  <a:srgbClr val="333333"/>
                </a:solidFill>
                <a:latin typeface="Calibri"/>
              </a:rPr>
              <a:t>Dominance</a:t>
            </a:r>
          </a:p>
          <a:p>
            <a:pPr lvl="1">
              <a:spcAft>
                <a:spcPts val="1000"/>
              </a:spcAft>
            </a:pPr>
            <a:r>
              <a:rPr sz="1800" b="0" i="0">
                <a:solidFill>
                  <a:srgbClr val="333333"/>
                </a:solidFill>
                <a:latin typeface="Calibri"/>
              </a:rPr>
              <a:t>Using these in the exam will cost you marks. Stick to the 8 official VCAA 2024 principles.</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Balance</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The distribution of visual weight across a design. Balance creates stability or intentional tension and affects how the viewer perceives the composition.</a:t>
            </a:r>
          </a:p>
          <a:p>
            <a:pPr lvl="1">
              <a:spcAft>
                <a:spcPts val="1000"/>
              </a:spcAft>
            </a:pPr>
            <a:r>
              <a:rPr sz="1800" b="0" i="0">
                <a:solidFill>
                  <a:srgbClr val="333333"/>
                </a:solidFill>
                <a:latin typeface="Calibri"/>
              </a:rPr>
              <a:t>Three Types</a:t>
            </a:r>
          </a:p>
          <a:p>
            <a:pPr lvl="1">
              <a:spcAft>
                <a:spcPts val="1000"/>
              </a:spcAft>
            </a:pPr>
            <a:r>
              <a:rPr sz="1800" b="1" i="0">
                <a:solidFill>
                  <a:srgbClr val="1F3A5F"/>
                </a:solidFill>
                <a:latin typeface="Calibri"/>
              </a:rPr>
              <a:t>Symmetrical</a:t>
            </a:r>
            <a:r>
              <a:rPr sz="1800" b="0" i="0">
                <a:solidFill>
                  <a:srgbClr val="333333"/>
                </a:solidFill>
                <a:latin typeface="Calibri"/>
              </a:rPr>
              <a:t> — mirrored halves. Formal, stable, trustworthy.</a:t>
            </a:r>
          </a:p>
          <a:p>
            <a:pPr lvl="1">
              <a:spcAft>
                <a:spcPts val="1000"/>
              </a:spcAft>
            </a:pPr>
            <a:r>
              <a:rPr sz="1800" b="1" i="0">
                <a:solidFill>
                  <a:srgbClr val="1F3A5F"/>
                </a:solidFill>
                <a:latin typeface="Calibri"/>
              </a:rPr>
              <a:t>Asymmetrical</a:t>
            </a:r>
            <a:r>
              <a:rPr sz="1800" b="0" i="0">
                <a:solidFill>
                  <a:srgbClr val="333333"/>
                </a:solidFill>
                <a:latin typeface="Calibri"/>
              </a:rPr>
              <a:t> — different elements, equal visual weight. Dynamic, modern, interesting.</a:t>
            </a:r>
          </a:p>
          <a:p>
            <a:pPr lvl="1">
              <a:spcAft>
                <a:spcPts val="1000"/>
              </a:spcAft>
            </a:pPr>
            <a:r>
              <a:rPr sz="1800" b="1" i="0">
                <a:solidFill>
                  <a:srgbClr val="1F3A5F"/>
                </a:solidFill>
                <a:latin typeface="Calibri"/>
              </a:rPr>
              <a:t>Radial</a:t>
            </a:r>
            <a:r>
              <a:rPr sz="1800" b="0" i="0">
                <a:solidFill>
                  <a:srgbClr val="333333"/>
                </a:solidFill>
                <a:latin typeface="Calibri"/>
              </a:rPr>
              <a:t> — elements radiate from a central point. Energy, movement, focus.</a:t>
            </a:r>
          </a:p>
          <a:p>
            <a:pPr lvl="1">
              <a:spcAft>
                <a:spcPts val="1000"/>
              </a:spcAft>
            </a:pPr>
            <a:r>
              <a:rPr sz="1600" b="1" i="1">
                <a:solidFill>
                  <a:srgbClr val="1F3A5F"/>
                </a:solidFill>
                <a:latin typeface="Calibri"/>
              </a:rPr>
              <a:t>Exam vocab:</a:t>
            </a:r>
            <a:r>
              <a:rPr sz="1600" b="0" i="1">
                <a:solidFill>
                  <a:srgbClr val="333333"/>
                </a:solidFill>
                <a:latin typeface="Calibri"/>
              </a:rPr>
              <a:t> symmetrical, asymmetrical, radial, visual weight, equilibrium, formal, informal, off-centre</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Contrast</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The juxtaposition of opposing visual qualities to create visual interest, emphasis and separation between elements. Contrast draws the viewer's eye.</a:t>
            </a:r>
          </a:p>
          <a:p>
            <a:pPr lvl="1">
              <a:spcAft>
                <a:spcPts val="1000"/>
              </a:spcAft>
            </a:pPr>
            <a:r>
              <a:rPr sz="1800" b="0" i="0">
                <a:solidFill>
                  <a:srgbClr val="333333"/>
                </a:solidFill>
                <a:latin typeface="Calibri"/>
              </a:rPr>
              <a:t>Types of Contrast</a:t>
            </a:r>
          </a:p>
          <a:p>
            <a:pPr lvl="1">
              <a:spcAft>
                <a:spcPts val="1000"/>
              </a:spcAft>
            </a:pPr>
            <a:r>
              <a:rPr sz="1800" b="1" i="0">
                <a:solidFill>
                  <a:srgbClr val="1F3A5F"/>
                </a:solidFill>
                <a:latin typeface="Calibri"/>
              </a:rPr>
              <a:t>Tonal contrast</a:t>
            </a:r>
            <a:r>
              <a:rPr sz="1800" b="0" i="0">
                <a:solidFill>
                  <a:srgbClr val="333333"/>
                </a:solidFill>
                <a:latin typeface="Calibri"/>
              </a:rPr>
              <a:t> — light vs dark</a:t>
            </a:r>
          </a:p>
          <a:p>
            <a:pPr lvl="1">
              <a:spcAft>
                <a:spcPts val="1000"/>
              </a:spcAft>
            </a:pPr>
            <a:r>
              <a:rPr sz="1800" b="1" i="0">
                <a:solidFill>
                  <a:srgbClr val="1F3A5F"/>
                </a:solidFill>
                <a:latin typeface="Calibri"/>
              </a:rPr>
              <a:t>Colour contrast</a:t>
            </a:r>
            <a:r>
              <a:rPr sz="1800" b="0" i="0">
                <a:solidFill>
                  <a:srgbClr val="333333"/>
                </a:solidFill>
                <a:latin typeface="Calibri"/>
              </a:rPr>
              <a:t> — complementary colours, warm vs cool</a:t>
            </a:r>
          </a:p>
          <a:p>
            <a:pPr lvl="1">
              <a:spcAft>
                <a:spcPts val="1000"/>
              </a:spcAft>
            </a:pPr>
            <a:r>
              <a:rPr sz="1800" b="1" i="0">
                <a:solidFill>
                  <a:srgbClr val="1F3A5F"/>
                </a:solidFill>
                <a:latin typeface="Calibri"/>
              </a:rPr>
              <a:t>Scale contrast</a:t>
            </a:r>
            <a:r>
              <a:rPr sz="1800" b="0" i="0">
                <a:solidFill>
                  <a:srgbClr val="333333"/>
                </a:solidFill>
                <a:latin typeface="Calibri"/>
              </a:rPr>
              <a:t> — large vs small elements</a:t>
            </a:r>
          </a:p>
          <a:p>
            <a:pPr lvl="1">
              <a:spcAft>
                <a:spcPts val="1000"/>
              </a:spcAft>
            </a:pPr>
            <a:r>
              <a:rPr sz="1800" b="1" i="0">
                <a:solidFill>
                  <a:srgbClr val="1F3A5F"/>
                </a:solidFill>
                <a:latin typeface="Calibri"/>
              </a:rPr>
              <a:t>Texture contrast</a:t>
            </a:r>
            <a:r>
              <a:rPr sz="1800" b="0" i="0">
                <a:solidFill>
                  <a:srgbClr val="333333"/>
                </a:solidFill>
                <a:latin typeface="Calibri"/>
              </a:rPr>
              <a:t> — rough vs smooth</a:t>
            </a:r>
          </a:p>
          <a:p>
            <a:pPr lvl="1">
              <a:spcAft>
                <a:spcPts val="1000"/>
              </a:spcAft>
            </a:pPr>
            <a:r>
              <a:rPr sz="1800" b="1" i="0">
                <a:solidFill>
                  <a:srgbClr val="1F3A5F"/>
                </a:solidFill>
                <a:latin typeface="Calibri"/>
              </a:rPr>
              <a:t>Typographic contrast</a:t>
            </a:r>
            <a:r>
              <a:rPr sz="1800" b="0" i="0">
                <a:solidFill>
                  <a:srgbClr val="333333"/>
                </a:solidFill>
                <a:latin typeface="Calibri"/>
              </a:rPr>
              <a:t> — bold vs light, serif vs sans-serif</a:t>
            </a:r>
          </a:p>
          <a:p>
            <a:pPr lvl="1">
              <a:spcAft>
                <a:spcPts val="1000"/>
              </a:spcAft>
            </a:pPr>
            <a:r>
              <a:rPr sz="1600" b="1" i="1">
                <a:solidFill>
                  <a:srgbClr val="1F3A5F"/>
                </a:solidFill>
                <a:latin typeface="Calibri"/>
              </a:rPr>
              <a:t>Exam vocab:</a:t>
            </a:r>
            <a:r>
              <a:rPr sz="1600" b="0" i="1">
                <a:solidFill>
                  <a:srgbClr val="333333"/>
                </a:solidFill>
                <a:latin typeface="Calibri"/>
              </a:rPr>
              <a:t> high contrast, low contrast, juxtaposition, opposition, visual tension, emphasis, differentiation</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Cropping</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How much of a subject or image is shown within the frame. Cropping controls what the viewer sees, directs focus and creates compositional interest.</a:t>
            </a:r>
          </a:p>
          <a:p>
            <a:pPr lvl="1">
              <a:spcAft>
                <a:spcPts val="1000"/>
              </a:spcAft>
            </a:pPr>
            <a:r>
              <a:rPr sz="1800" b="0" i="0">
                <a:solidFill>
                  <a:srgbClr val="333333"/>
                </a:solidFill>
                <a:latin typeface="Calibri"/>
              </a:rPr>
              <a:t>Effect of Cropping</a:t>
            </a:r>
          </a:p>
          <a:p>
            <a:pPr lvl="1">
              <a:spcAft>
                <a:spcPts val="1000"/>
              </a:spcAft>
            </a:pPr>
            <a:r>
              <a:rPr sz="1800" b="1" i="0">
                <a:solidFill>
                  <a:srgbClr val="1F3A5F"/>
                </a:solidFill>
                <a:latin typeface="Calibri"/>
              </a:rPr>
              <a:t>Tight crop</a:t>
            </a:r>
            <a:r>
              <a:rPr sz="1800" b="0" i="0">
                <a:solidFill>
                  <a:srgbClr val="333333"/>
                </a:solidFill>
                <a:latin typeface="Calibri"/>
              </a:rPr>
              <a:t> — creates intimacy, drama, focus on detail</a:t>
            </a:r>
          </a:p>
          <a:p>
            <a:pPr lvl="1">
              <a:spcAft>
                <a:spcPts val="1000"/>
              </a:spcAft>
            </a:pPr>
            <a:r>
              <a:rPr sz="1800" b="1" i="0">
                <a:solidFill>
                  <a:srgbClr val="1F3A5F"/>
                </a:solidFill>
                <a:latin typeface="Calibri"/>
              </a:rPr>
              <a:t>Wide crop</a:t>
            </a:r>
            <a:r>
              <a:rPr sz="1800" b="0" i="0">
                <a:solidFill>
                  <a:srgbClr val="333333"/>
                </a:solidFill>
                <a:latin typeface="Calibri"/>
              </a:rPr>
              <a:t> — shows context and environment</a:t>
            </a:r>
          </a:p>
          <a:p>
            <a:pPr lvl="1">
              <a:spcAft>
                <a:spcPts val="1000"/>
              </a:spcAft>
            </a:pPr>
            <a:r>
              <a:rPr sz="1800" b="1" i="0">
                <a:solidFill>
                  <a:srgbClr val="1F3A5F"/>
                </a:solidFill>
                <a:latin typeface="Calibri"/>
              </a:rPr>
              <a:t>Partial crop</a:t>
            </a:r>
            <a:r>
              <a:rPr sz="1800" b="0" i="0">
                <a:solidFill>
                  <a:srgbClr val="333333"/>
                </a:solidFill>
                <a:latin typeface="Calibri"/>
              </a:rPr>
              <a:t> — implies the subject extends beyond the frame, creates energy</a:t>
            </a:r>
          </a:p>
          <a:p>
            <a:pPr lvl="1">
              <a:spcAft>
                <a:spcPts val="1000"/>
              </a:spcAft>
            </a:pPr>
            <a:r>
              <a:rPr sz="1800" b="1" i="0">
                <a:solidFill>
                  <a:srgbClr val="1F3A5F"/>
                </a:solidFill>
                <a:latin typeface="Calibri"/>
              </a:rPr>
              <a:t>Rule of thirds</a:t>
            </a:r>
            <a:r>
              <a:rPr sz="1800" b="0" i="0">
                <a:solidFill>
                  <a:srgbClr val="333333"/>
                </a:solidFill>
                <a:latin typeface="Calibri"/>
              </a:rPr>
              <a:t> — off-centre cropping creates visual interest</a:t>
            </a:r>
          </a:p>
          <a:p>
            <a:pPr lvl="1">
              <a:spcAft>
                <a:spcPts val="1000"/>
              </a:spcAft>
            </a:pPr>
            <a:r>
              <a:rPr sz="1600" b="1" i="1">
                <a:solidFill>
                  <a:srgbClr val="1F3A5F"/>
                </a:solidFill>
                <a:latin typeface="Calibri"/>
              </a:rPr>
              <a:t>Exam vocab:</a:t>
            </a:r>
            <a:r>
              <a:rPr sz="1600" b="0" i="1">
                <a:solidFill>
                  <a:srgbClr val="333333"/>
                </a:solidFill>
                <a:latin typeface="Calibri"/>
              </a:rPr>
              <a:t> tight crop, wide shot, close-up, rule of thirds, frame, bleed, partial, compositional, foreground, background</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Scale</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The size of an element relative to other elements in the design. Scale creates visual hierarchy, depth, drama and communicates relative importance.</a:t>
            </a:r>
          </a:p>
          <a:p>
            <a:pPr lvl="1">
              <a:spcAft>
                <a:spcPts val="1000"/>
              </a:spcAft>
            </a:pPr>
            <a:r>
              <a:rPr sz="1800" b="0" i="0">
                <a:solidFill>
                  <a:srgbClr val="333333"/>
                </a:solidFill>
                <a:latin typeface="Calibri"/>
              </a:rPr>
              <a:t>Scale vs Proportion</a:t>
            </a:r>
          </a:p>
          <a:p>
            <a:pPr lvl="1">
              <a:spcAft>
                <a:spcPts val="1000"/>
              </a:spcAft>
            </a:pPr>
            <a:r>
              <a:rPr sz="1800" b="1" i="0">
                <a:solidFill>
                  <a:srgbClr val="1F3A5F"/>
                </a:solidFill>
                <a:latin typeface="Calibri"/>
              </a:rPr>
              <a:t>Scale</a:t>
            </a:r>
            <a:r>
              <a:rPr sz="1800" b="0" i="0">
                <a:solidFill>
                  <a:srgbClr val="333333"/>
                </a:solidFill>
                <a:latin typeface="Calibri"/>
              </a:rPr>
              <a:t> = size of one element compared to another element </a:t>
            </a:r>
            <a:r>
              <a:rPr sz="1800" b="1" i="0">
                <a:solidFill>
                  <a:srgbClr val="1F3A5F"/>
                </a:solidFill>
                <a:latin typeface="Calibri"/>
              </a:rPr>
              <a:t>Proportion</a:t>
            </a:r>
            <a:r>
              <a:rPr sz="1800" b="0" i="0">
                <a:solidFill>
                  <a:srgbClr val="333333"/>
                </a:solidFill>
                <a:latin typeface="Calibri"/>
              </a:rPr>
              <a:t> = relationship between parts within the same element </a:t>
            </a:r>
          </a:p>
          <a:p>
            <a:pPr lvl="1">
              <a:spcAft>
                <a:spcPts val="1000"/>
              </a:spcAft>
            </a:pPr>
            <a:r>
              <a:rPr sz="1800" b="1" i="0">
                <a:solidFill>
                  <a:srgbClr val="1F3A5F"/>
                </a:solidFill>
                <a:latin typeface="Calibri"/>
              </a:rPr>
              <a:t>Large scale</a:t>
            </a:r>
            <a:r>
              <a:rPr sz="1800" b="0" i="0">
                <a:solidFill>
                  <a:srgbClr val="333333"/>
                </a:solidFill>
                <a:latin typeface="Calibri"/>
              </a:rPr>
              <a:t> — importance, dominance, closeness</a:t>
            </a:r>
          </a:p>
          <a:p>
            <a:pPr lvl="1">
              <a:spcAft>
                <a:spcPts val="1000"/>
              </a:spcAft>
            </a:pPr>
            <a:r>
              <a:rPr sz="1800" b="1" i="0">
                <a:solidFill>
                  <a:srgbClr val="1F3A5F"/>
                </a:solidFill>
                <a:latin typeface="Calibri"/>
              </a:rPr>
              <a:t>Small scale</a:t>
            </a:r>
            <a:r>
              <a:rPr sz="1800" b="0" i="0">
                <a:solidFill>
                  <a:srgbClr val="333333"/>
                </a:solidFill>
                <a:latin typeface="Calibri"/>
              </a:rPr>
              <a:t> — distance, subordination, delicacy</a:t>
            </a:r>
          </a:p>
          <a:p>
            <a:pPr lvl="1">
              <a:spcAft>
                <a:spcPts val="1000"/>
              </a:spcAft>
            </a:pPr>
            <a:r>
              <a:rPr sz="1800" b="1" i="0">
                <a:solidFill>
                  <a:srgbClr val="1F3A5F"/>
                </a:solidFill>
                <a:latin typeface="Calibri"/>
              </a:rPr>
              <a:t>Exaggerated scale</a:t>
            </a:r>
            <a:r>
              <a:rPr sz="1800" b="0" i="0">
                <a:solidFill>
                  <a:srgbClr val="333333"/>
                </a:solidFill>
                <a:latin typeface="Calibri"/>
              </a:rPr>
              <a:t> — drama, surrealism, visual impact</a:t>
            </a:r>
          </a:p>
          <a:p>
            <a:pPr lvl="1">
              <a:spcAft>
                <a:spcPts val="1000"/>
              </a:spcAft>
            </a:pPr>
            <a:r>
              <a:rPr sz="1600" b="1" i="1">
                <a:solidFill>
                  <a:srgbClr val="1F3A5F"/>
                </a:solidFill>
                <a:latin typeface="Calibri"/>
              </a:rPr>
              <a:t>Exam vocab:</a:t>
            </a:r>
            <a:r>
              <a:rPr sz="1600" b="0" i="1">
                <a:solidFill>
                  <a:srgbClr val="333333"/>
                </a:solidFill>
                <a:latin typeface="Calibri"/>
              </a:rPr>
              <a:t> large-scale, small-scale, relative size, dominance, exaggerated, monumental, intimate, depth, hierarchy</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Proportion</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The relationship between the parts of a design or between a part and the whole. Good proportion creates harmony; distorted proportion creates unease or emphasis.</a:t>
            </a:r>
          </a:p>
          <a:p>
            <a:pPr lvl="1">
              <a:spcAft>
                <a:spcPts val="1000"/>
              </a:spcAft>
            </a:pPr>
            <a:r>
              <a:rPr sz="1800" b="0" i="0">
                <a:solidFill>
                  <a:srgbClr val="333333"/>
                </a:solidFill>
                <a:latin typeface="Calibri"/>
              </a:rPr>
              <a:t>Key Ideas</a:t>
            </a:r>
          </a:p>
          <a:p>
            <a:pPr lvl="1">
              <a:spcAft>
                <a:spcPts val="1000"/>
              </a:spcAft>
            </a:pPr>
            <a:r>
              <a:rPr sz="1800" b="1" i="0">
                <a:solidFill>
                  <a:srgbClr val="1F3A5F"/>
                </a:solidFill>
                <a:latin typeface="Calibri"/>
              </a:rPr>
              <a:t>Golden ratio (φ = 1:1.618)</a:t>
            </a:r>
            <a:r>
              <a:rPr sz="1800" b="0" i="0">
                <a:solidFill>
                  <a:srgbClr val="333333"/>
                </a:solidFill>
                <a:latin typeface="Calibri"/>
              </a:rPr>
              <a:t> — mathematically harmonious proportion found in nature and classical design</a:t>
            </a:r>
          </a:p>
          <a:p>
            <a:pPr lvl="1">
              <a:spcAft>
                <a:spcPts val="1000"/>
              </a:spcAft>
            </a:pPr>
            <a:r>
              <a:rPr sz="1800" b="1" i="0">
                <a:solidFill>
                  <a:srgbClr val="1F3A5F"/>
                </a:solidFill>
                <a:latin typeface="Calibri"/>
              </a:rPr>
              <a:t>Rule of thirds</a:t>
            </a:r>
            <a:r>
              <a:rPr sz="1800" b="0" i="0">
                <a:solidFill>
                  <a:srgbClr val="333333"/>
                </a:solidFill>
                <a:latin typeface="Calibri"/>
              </a:rPr>
              <a:t> — dividing composition into thirds creates natural proportion</a:t>
            </a:r>
          </a:p>
          <a:p>
            <a:pPr lvl="1">
              <a:spcAft>
                <a:spcPts val="1000"/>
              </a:spcAft>
            </a:pPr>
            <a:r>
              <a:rPr sz="1800" b="1" i="0">
                <a:solidFill>
                  <a:srgbClr val="1F3A5F"/>
                </a:solidFill>
                <a:latin typeface="Calibri"/>
              </a:rPr>
              <a:t>Distorted proportion</a:t>
            </a:r>
            <a:r>
              <a:rPr sz="1800" b="0" i="0">
                <a:solidFill>
                  <a:srgbClr val="333333"/>
                </a:solidFill>
                <a:latin typeface="Calibri"/>
              </a:rPr>
              <a:t> — used deliberately for emphasis, satire or surrealism</a:t>
            </a:r>
          </a:p>
          <a:p>
            <a:pPr lvl="1">
              <a:spcAft>
                <a:spcPts val="1000"/>
              </a:spcAft>
            </a:pPr>
            <a:r>
              <a:rPr sz="1800" b="1" i="0">
                <a:solidFill>
                  <a:srgbClr val="1F3A5F"/>
                </a:solidFill>
                <a:latin typeface="Calibri"/>
              </a:rPr>
              <a:t>Page proportion</a:t>
            </a:r>
            <a:r>
              <a:rPr sz="1800" b="0" i="0">
                <a:solidFill>
                  <a:srgbClr val="333333"/>
                </a:solidFill>
                <a:latin typeface="Calibri"/>
              </a:rPr>
              <a:t> — margins, columns and gutters in layout design</a:t>
            </a:r>
          </a:p>
          <a:p>
            <a:pPr lvl="1">
              <a:spcAft>
                <a:spcPts val="1000"/>
              </a:spcAft>
            </a:pPr>
            <a:r>
              <a:rPr sz="1600" b="1" i="1">
                <a:solidFill>
                  <a:srgbClr val="1F3A5F"/>
                </a:solidFill>
                <a:latin typeface="Calibri"/>
              </a:rPr>
              <a:t>Exam vocab:</a:t>
            </a:r>
            <a:r>
              <a:rPr sz="1600" b="0" i="1">
                <a:solidFill>
                  <a:srgbClr val="333333"/>
                </a:solidFill>
                <a:latin typeface="Calibri"/>
              </a:rPr>
              <a:t> golden ratio, harmonious, distorted, exaggerated, relative, balanced, classical, natural proportion</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Hierarchy</a:t>
            </a:r>
          </a:p>
        </p:txBody>
      </p:sp>
      <p:sp>
        <p:nvSpPr>
          <p:cNvPr id="3" name="Content Placeholder 2"/>
          <p:cNvSpPr>
            <a:spLocks noGrp="1"/>
          </p:cNvSpPr>
          <p:nvPr>
            <p:ph idx="1" sz="half"/>
          </p:nvPr>
        </p:nvSpPr>
        <p:spPr/>
        <p:txBody>
          <a:bodyPr wrap="square"/>
          <a:lstStyle/>
          <a:p>
            <a:pPr>
              <a:spcAft>
                <a:spcPts val="1000"/>
              </a:spcAft>
            </a:pPr>
            <a:r>
              <a:rPr sz="2000" b="0" i="0">
                <a:solidFill>
                  <a:srgbClr val="333333"/>
                </a:solidFill>
                <a:latin typeface="Calibri"/>
              </a:rPr>
              <a:t>The visual organisation of elements by order of importance. Hierarchy guides the viewer's eye through the design in a deliberate sequence.</a:t>
            </a:r>
          </a:p>
          <a:p>
            <a:pPr lvl="1">
              <a:spcAft>
                <a:spcPts val="1000"/>
              </a:spcAft>
            </a:pPr>
            <a:r>
              <a:rPr sz="1800" b="0" i="0">
                <a:solidFill>
                  <a:srgbClr val="333333"/>
                </a:solidFill>
                <a:latin typeface="Calibri"/>
              </a:rPr>
              <a:t>How to Create Hierarchy</a:t>
            </a:r>
          </a:p>
          <a:p>
            <a:pPr lvl="1">
              <a:spcAft>
                <a:spcPts val="1000"/>
              </a:spcAft>
            </a:pPr>
            <a:r>
              <a:rPr sz="1800" b="1" i="0">
                <a:solidFill>
                  <a:srgbClr val="1F3A5F"/>
                </a:solidFill>
                <a:latin typeface="Calibri"/>
              </a:rPr>
              <a:t>Size</a:t>
            </a:r>
            <a:r>
              <a:rPr sz="1800" b="0" i="0">
                <a:solidFill>
                  <a:srgbClr val="333333"/>
                </a:solidFill>
                <a:latin typeface="Calibri"/>
              </a:rPr>
              <a:t> — larger = more important</a:t>
            </a:r>
          </a:p>
          <a:p>
            <a:pPr lvl="1">
              <a:spcAft>
                <a:spcPts val="1000"/>
              </a:spcAft>
            </a:pPr>
            <a:r>
              <a:rPr sz="1800" b="1" i="0">
                <a:solidFill>
                  <a:srgbClr val="1F3A5F"/>
                </a:solidFill>
                <a:latin typeface="Calibri"/>
              </a:rPr>
              <a:t>Weight</a:t>
            </a:r>
            <a:r>
              <a:rPr sz="1800" b="0" i="0">
                <a:solidFill>
                  <a:srgbClr val="333333"/>
                </a:solidFill>
                <a:latin typeface="Calibri"/>
              </a:rPr>
              <a:t> — bold attracts before light</a:t>
            </a:r>
          </a:p>
          <a:p>
            <a:pPr lvl="1">
              <a:spcAft>
                <a:spcPts val="1000"/>
              </a:spcAft>
            </a:pPr>
            <a:r>
              <a:rPr sz="1800" b="1" i="0">
                <a:solidFill>
                  <a:srgbClr val="1F3A5F"/>
                </a:solidFill>
                <a:latin typeface="Calibri"/>
              </a:rPr>
              <a:t>Colour</a:t>
            </a:r>
            <a:r>
              <a:rPr sz="1800" b="0" i="0">
                <a:solidFill>
                  <a:srgbClr val="333333"/>
                </a:solidFill>
                <a:latin typeface="Calibri"/>
              </a:rPr>
              <a:t> — saturated/bright draws eye first</a:t>
            </a:r>
          </a:p>
          <a:p>
            <a:pPr lvl="1">
              <a:spcAft>
                <a:spcPts val="1000"/>
              </a:spcAft>
            </a:pPr>
            <a:r>
              <a:rPr sz="1800" b="1" i="0">
                <a:solidFill>
                  <a:srgbClr val="1F3A5F"/>
                </a:solidFill>
                <a:latin typeface="Calibri"/>
              </a:rPr>
              <a:t>Position</a:t>
            </a:r>
            <a:r>
              <a:rPr sz="1800" b="0" i="0">
                <a:solidFill>
                  <a:srgbClr val="333333"/>
                </a:solidFill>
                <a:latin typeface="Calibri"/>
              </a:rPr>
              <a:t> — top-left is read first in Western convention</a:t>
            </a:r>
          </a:p>
          <a:p>
            <a:pPr lvl="1">
              <a:spcAft>
                <a:spcPts val="1000"/>
              </a:spcAft>
            </a:pPr>
            <a:r>
              <a:rPr sz="1800" b="1" i="0">
                <a:solidFill>
                  <a:srgbClr val="1F3A5F"/>
                </a:solidFill>
                <a:latin typeface="Calibri"/>
              </a:rPr>
              <a:t>White space</a:t>
            </a:r>
            <a:r>
              <a:rPr sz="1800" b="0" i="0">
                <a:solidFill>
                  <a:srgbClr val="333333"/>
                </a:solidFill>
                <a:latin typeface="Calibri"/>
              </a:rPr>
              <a:t> — isolation gives importance</a:t>
            </a:r>
          </a:p>
          <a:p>
            <a:pPr lvl="1">
              <a:spcAft>
                <a:spcPts val="1000"/>
              </a:spcAft>
            </a:pPr>
            <a:r>
              <a:rPr sz="1800" b="1" i="0">
                <a:solidFill>
                  <a:srgbClr val="1F3A5F"/>
                </a:solidFill>
                <a:latin typeface="Calibri"/>
              </a:rPr>
              <a:t>Contrast</a:t>
            </a:r>
            <a:r>
              <a:rPr sz="1800" b="0" i="0">
                <a:solidFill>
                  <a:srgbClr val="333333"/>
                </a:solidFill>
                <a:latin typeface="Calibri"/>
              </a:rPr>
              <a:t> — most contrasting element is seen first</a:t>
            </a:r>
          </a:p>
          <a:p>
            <a:pPr>
              <a:spcAft>
                <a:spcPts val="1000"/>
              </a:spcAft>
            </a:pPr>
            <a:r>
              <a:rPr sz="1800" b="1" i="1">
                <a:solidFill>
                  <a:srgbClr val="1F3A5F"/>
                </a:solidFill>
                <a:latin typeface="Calibri"/>
              </a:rPr>
              <a:t>Exam vocab:</a:t>
            </a:r>
            <a:r>
              <a:rPr sz="1800" b="0" i="1">
                <a:solidFill>
                  <a:srgbClr val="333333"/>
                </a:solidFill>
                <a:latin typeface="Calibri"/>
              </a:rPr>
              <a:t> visual hierarchy, primary, secondary, tertiary, reading order, dominant, subordinate, entry point</a:t>
            </a:r>
          </a:p>
        </p:txBody>
      </p:sp>
      <p:sp>
        <p:nvSpPr>
          <p:cNvPr id="4" name="Content Placeholder 3"/>
          <p:cNvSpPr>
            <a:spLocks noGrp="1"/>
          </p:cNvSpPr>
          <p:nvPr>
            <p:ph idx="2" sz="half"/>
          </p:nvPr>
        </p:nvSpPr>
        <p:spPr/>
        <p:txBody>
          <a:bodyPr wrap="square"/>
          <a:lstStyle/>
          <a:p>
            <a:pPr>
              <a:spcAft>
                <a:spcPts val="1000"/>
              </a:spcAft>
            </a:pPr>
            <a:r>
              <a:rPr sz="2000" b="0" i="0">
                <a:solidFill>
                  <a:srgbClr val="333333"/>
                </a:solidFill>
                <a:latin typeface="Calibri"/>
              </a:rPr>
              <a:t>Typographic Hierarchy Example</a:t>
            </a:r>
          </a:p>
          <a:p>
            <a:pPr>
              <a:spcAft>
                <a:spcPts val="1000"/>
              </a:spcAft>
            </a:pPr>
            <a:r>
              <a:rPr sz="2000" b="0" i="0">
                <a:solidFill>
                  <a:srgbClr val="333333"/>
                </a:solidFill>
                <a:latin typeface="Calibri"/>
              </a:rPr>
              <a:t>HEADING</a:t>
            </a:r>
          </a:p>
          <a:p>
            <a:pPr>
              <a:spcAft>
                <a:spcPts val="1000"/>
              </a:spcAft>
            </a:pPr>
            <a:r>
              <a:rPr sz="2000" b="0" i="0">
                <a:solidFill>
                  <a:srgbClr val="333333"/>
                </a:solidFill>
                <a:latin typeface="Calibri"/>
              </a:rPr>
              <a:t>Subheading level two</a:t>
            </a:r>
          </a:p>
          <a:p>
            <a:pPr>
              <a:spcAft>
                <a:spcPts val="1000"/>
              </a:spcAft>
            </a:pPr>
            <a:r>
              <a:rPr sz="2000" b="0" i="0">
                <a:solidFill>
                  <a:srgbClr val="333333"/>
                </a:solidFill>
                <a:latin typeface="Calibri"/>
              </a:rPr>
              <a:t>Body text at third level — readable but subordinate to the headings above. Guides the reader through information.</a:t>
            </a:r>
          </a:p>
          <a:p>
            <a:pPr>
              <a:spcAft>
                <a:spcPts val="1000"/>
              </a:spcAft>
            </a:pPr>
            <a:r>
              <a:rPr sz="2000" b="0" i="0">
                <a:solidFill>
                  <a:srgbClr val="333333"/>
                </a:solidFill>
                <a:latin typeface="Calibri"/>
              </a:rPr>
              <a:t>Call to action →</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Pattern</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The repetition of a visual element (shape, line, colour, texture) to create visual cohesion, rhythm, texture and decoration.</a:t>
            </a:r>
          </a:p>
          <a:p>
            <a:pPr lvl="1">
              <a:spcAft>
                <a:spcPts val="1000"/>
              </a:spcAft>
            </a:pPr>
            <a:r>
              <a:rPr sz="1800" b="0" i="0">
                <a:solidFill>
                  <a:srgbClr val="333333"/>
                </a:solidFill>
                <a:latin typeface="Calibri"/>
              </a:rPr>
              <a:t>Key Ideas</a:t>
            </a:r>
          </a:p>
          <a:p>
            <a:pPr lvl="1">
              <a:spcAft>
                <a:spcPts val="1000"/>
              </a:spcAft>
            </a:pPr>
            <a:r>
              <a:rPr sz="1800" b="1" i="0">
                <a:solidFill>
                  <a:srgbClr val="1F3A5F"/>
                </a:solidFill>
                <a:latin typeface="Calibri"/>
              </a:rPr>
              <a:t>Regular pattern</a:t>
            </a:r>
            <a:r>
              <a:rPr sz="1800" b="0" i="0">
                <a:solidFill>
                  <a:srgbClr val="333333"/>
                </a:solidFill>
                <a:latin typeface="Calibri"/>
              </a:rPr>
              <a:t> — predictable repetition, creates order and calm</a:t>
            </a:r>
          </a:p>
          <a:p>
            <a:pPr lvl="1">
              <a:spcAft>
                <a:spcPts val="1000"/>
              </a:spcAft>
            </a:pPr>
            <a:r>
              <a:rPr sz="1800" b="1" i="0">
                <a:solidFill>
                  <a:srgbClr val="1F3A5F"/>
                </a:solidFill>
                <a:latin typeface="Calibri"/>
              </a:rPr>
              <a:t>Random pattern</a:t>
            </a:r>
            <a:r>
              <a:rPr sz="1800" b="0" i="0">
                <a:solidFill>
                  <a:srgbClr val="333333"/>
                </a:solidFill>
                <a:latin typeface="Calibri"/>
              </a:rPr>
              <a:t> — irregular repetition, feels organic and natural</a:t>
            </a:r>
          </a:p>
          <a:p>
            <a:pPr lvl="1">
              <a:spcAft>
                <a:spcPts val="1000"/>
              </a:spcAft>
            </a:pPr>
            <a:r>
              <a:rPr sz="1800" b="1" i="0">
                <a:solidFill>
                  <a:srgbClr val="1F3A5F"/>
                </a:solidFill>
                <a:latin typeface="Calibri"/>
              </a:rPr>
              <a:t>Pattern break</a:t>
            </a:r>
            <a:r>
              <a:rPr sz="1800" b="0" i="0">
                <a:solidFill>
                  <a:srgbClr val="333333"/>
                </a:solidFill>
                <a:latin typeface="Calibri"/>
              </a:rPr>
              <a:t> — interrupting a pattern draws immediate attention</a:t>
            </a:r>
          </a:p>
          <a:p>
            <a:pPr lvl="1">
              <a:spcAft>
                <a:spcPts val="1000"/>
              </a:spcAft>
            </a:pPr>
            <a:r>
              <a:rPr sz="1800" b="1" i="0">
                <a:solidFill>
                  <a:srgbClr val="1F3A5F"/>
                </a:solidFill>
                <a:latin typeface="Calibri"/>
              </a:rPr>
              <a:t>Cultural patterns</a:t>
            </a:r>
            <a:r>
              <a:rPr sz="1800" b="0" i="0">
                <a:solidFill>
                  <a:srgbClr val="333333"/>
                </a:solidFill>
                <a:latin typeface="Calibri"/>
              </a:rPr>
              <a:t> — indigenous, geometric, motif-based carry meaning</a:t>
            </a:r>
          </a:p>
          <a:p>
            <a:pPr lvl="1">
              <a:spcAft>
                <a:spcPts val="1000"/>
              </a:spcAft>
            </a:pPr>
            <a:r>
              <a:rPr sz="1800" b="1" i="0">
                <a:solidFill>
                  <a:srgbClr val="1F3A5F"/>
                </a:solidFill>
                <a:latin typeface="Calibri"/>
              </a:rPr>
              <a:t> Exam tip:</a:t>
            </a:r>
            <a:r>
              <a:rPr sz="1800" b="0" i="0">
                <a:solidFill>
                  <a:srgbClr val="333333"/>
                </a:solidFill>
                <a:latin typeface="Calibri"/>
              </a:rPr>
              <a:t> Pattern can be created by any element — repeated lines, dots, shapes or colours. </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Figure-Ground</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The perceptual relationship between a subject (figure) and its background (ground). The viewer's brain naturally separates figure from ground to find meaning.</a:t>
            </a:r>
          </a:p>
          <a:p>
            <a:pPr lvl="1">
              <a:spcAft>
                <a:spcPts val="1000"/>
              </a:spcAft>
            </a:pPr>
            <a:r>
              <a:rPr sz="1800" b="0" i="0">
                <a:solidFill>
                  <a:srgbClr val="333333"/>
                </a:solidFill>
                <a:latin typeface="Calibri"/>
              </a:rPr>
              <a:t>Key Concepts</a:t>
            </a:r>
          </a:p>
          <a:p>
            <a:pPr lvl="1">
              <a:spcAft>
                <a:spcPts val="1000"/>
              </a:spcAft>
            </a:pPr>
            <a:r>
              <a:rPr sz="1800" b="1" i="0">
                <a:solidFill>
                  <a:srgbClr val="1F3A5F"/>
                </a:solidFill>
                <a:latin typeface="Calibri"/>
              </a:rPr>
              <a:t>Figure</a:t>
            </a:r>
            <a:r>
              <a:rPr sz="1800" b="0" i="0">
                <a:solidFill>
                  <a:srgbClr val="333333"/>
                </a:solidFill>
                <a:latin typeface="Calibri"/>
              </a:rPr>
              <a:t> — the subject, appears to come forward</a:t>
            </a:r>
          </a:p>
          <a:p>
            <a:pPr lvl="1">
              <a:spcAft>
                <a:spcPts val="1000"/>
              </a:spcAft>
            </a:pPr>
            <a:r>
              <a:rPr sz="1800" b="1" i="0">
                <a:solidFill>
                  <a:srgbClr val="1F3A5F"/>
                </a:solidFill>
                <a:latin typeface="Calibri"/>
              </a:rPr>
              <a:t>Ground</a:t>
            </a:r>
            <a:r>
              <a:rPr sz="1800" b="0" i="0">
                <a:solidFill>
                  <a:srgbClr val="333333"/>
                </a:solidFill>
                <a:latin typeface="Calibri"/>
              </a:rPr>
              <a:t> — the background, appears to recede</a:t>
            </a:r>
          </a:p>
          <a:p>
            <a:pPr lvl="1">
              <a:spcAft>
                <a:spcPts val="1000"/>
              </a:spcAft>
            </a:pPr>
            <a:r>
              <a:rPr sz="1800" b="1" i="0">
                <a:solidFill>
                  <a:srgbClr val="1F3A5F"/>
                </a:solidFill>
                <a:latin typeface="Calibri"/>
              </a:rPr>
              <a:t>Stable</a:t>
            </a:r>
            <a:r>
              <a:rPr sz="1800" b="0" i="0">
                <a:solidFill>
                  <a:srgbClr val="333333"/>
                </a:solidFill>
                <a:latin typeface="Calibri"/>
              </a:rPr>
              <a:t> — clear separation (figure reads easily)</a:t>
            </a:r>
          </a:p>
          <a:p>
            <a:pPr lvl="1">
              <a:spcAft>
                <a:spcPts val="1000"/>
              </a:spcAft>
            </a:pPr>
            <a:r>
              <a:rPr sz="1800" b="1" i="0">
                <a:solidFill>
                  <a:srgbClr val="1F3A5F"/>
                </a:solidFill>
                <a:latin typeface="Calibri"/>
              </a:rPr>
              <a:t>Ambiguous/Reversible</a:t>
            </a:r>
            <a:r>
              <a:rPr sz="1800" b="0" i="0">
                <a:solidFill>
                  <a:srgbClr val="333333"/>
                </a:solidFill>
                <a:latin typeface="Calibri"/>
              </a:rPr>
              <a:t> — both figure and ground compete (e.g. Rubin's Vase) — used deliberately for engagement</a:t>
            </a:r>
          </a:p>
          <a:p>
            <a:pPr lvl="1">
              <a:spcAft>
                <a:spcPts val="1000"/>
              </a:spcAft>
            </a:pPr>
            <a:r>
              <a:rPr sz="1600" b="1" i="1">
                <a:solidFill>
                  <a:srgbClr val="1F3A5F"/>
                </a:solidFill>
                <a:latin typeface="Calibri"/>
              </a:rPr>
              <a:t>Exam vocab:</a:t>
            </a:r>
            <a:r>
              <a:rPr sz="1600" b="0" i="1">
                <a:solidFill>
                  <a:srgbClr val="333333"/>
                </a:solidFill>
                <a:latin typeface="Calibri"/>
              </a:rPr>
              <a:t> figure, ground, positive space, negative space, stable, ambiguous, reversible, foreground, background, depth</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Analysing Principles in the Exam</a:t>
            </a:r>
          </a:p>
        </p:txBody>
      </p:sp>
      <p:sp>
        <p:nvSpPr>
          <p:cNvPr id="3" name="Content Placeholder 2"/>
          <p:cNvSpPr>
            <a:spLocks noGrp="1"/>
          </p:cNvSpPr>
          <p:nvPr>
            <p:ph idx="1" sz="half"/>
          </p:nvPr>
        </p:nvSpPr>
        <p:spPr/>
        <p:txBody>
          <a:bodyPr wrap="square"/>
          <a:lstStyle/>
          <a:p>
            <a:pPr lvl="1">
              <a:spcAft>
                <a:spcPts val="1000"/>
              </a:spcAft>
            </a:pPr>
            <a:r>
              <a:rPr sz="1800" b="0" i="0">
                <a:solidFill>
                  <a:srgbClr val="333333"/>
                </a:solidFill>
                <a:latin typeface="Calibri"/>
              </a:rPr>
              <a:t>Principle → Use → Effect on Audience</a:t>
            </a:r>
          </a:p>
          <a:p>
            <a:pPr lvl="1">
              <a:spcAft>
                <a:spcPts val="1000"/>
              </a:spcAft>
            </a:pPr>
            <a:r>
              <a:rPr sz="1800" b="0" i="0">
                <a:solidFill>
                  <a:srgbClr val="333333"/>
                </a:solidFill>
                <a:latin typeface="Calibri"/>
              </a:rPr>
              <a:t>1. Name the principle</a:t>
            </a:r>
          </a:p>
          <a:p>
            <a:pPr lvl="1">
              <a:spcAft>
                <a:spcPts val="1000"/>
              </a:spcAft>
            </a:pPr>
            <a:r>
              <a:rPr sz="1800" b="0" i="0">
                <a:solidFill>
                  <a:srgbClr val="333333"/>
                </a:solidFill>
                <a:latin typeface="Calibri"/>
              </a:rPr>
              <a:t>2. Describe how it's applied in the design</a:t>
            </a:r>
          </a:p>
          <a:p>
            <a:pPr lvl="1">
              <a:spcAft>
                <a:spcPts val="1000"/>
              </a:spcAft>
            </a:pPr>
            <a:r>
              <a:rPr sz="1800" b="0" i="0">
                <a:solidFill>
                  <a:srgbClr val="333333"/>
                </a:solidFill>
                <a:latin typeface="Calibri"/>
              </a:rPr>
              <a:t>3. Explain the effect on the target audience</a:t>
            </a:r>
          </a:p>
          <a:p>
            <a:pPr lvl="1">
              <a:spcAft>
                <a:spcPts val="1000"/>
              </a:spcAft>
            </a:pPr>
            <a:r>
              <a:rPr sz="1800" b="0" i="0">
                <a:solidFill>
                  <a:srgbClr val="333333"/>
                </a:solidFill>
                <a:latin typeface="Calibri"/>
              </a:rPr>
              <a:t> Do NOT write:</a:t>
            </a:r>
          </a:p>
          <a:p>
            <a:pPr lvl="1">
              <a:spcAft>
                <a:spcPts val="1000"/>
              </a:spcAft>
            </a:pPr>
            <a:r>
              <a:rPr sz="1800" b="0" i="0">
                <a:solidFill>
                  <a:srgbClr val="333333"/>
                </a:solidFill>
                <a:latin typeface="Calibri"/>
              </a:rPr>
              <a:t>"The design has good balance and looks nice."</a:t>
            </a:r>
          </a:p>
          <a:p>
            <a:pPr lvl="1">
              <a:spcAft>
                <a:spcPts val="1000"/>
              </a:spcAft>
            </a:pPr>
            <a:r>
              <a:rPr sz="1800" b="0" i="0">
                <a:solidFill>
                  <a:srgbClr val="333333"/>
                </a:solidFill>
                <a:latin typeface="Calibri"/>
              </a:rPr>
              <a:t> Write this instead:</a:t>
            </a:r>
          </a:p>
          <a:p>
            <a:pPr lvl="1">
              <a:spcAft>
                <a:spcPts val="1000"/>
              </a:spcAft>
            </a:pPr>
            <a:r>
              <a:rPr sz="1800" b="0" i="0">
                <a:solidFill>
                  <a:srgbClr val="333333"/>
                </a:solidFill>
                <a:latin typeface="Calibri"/>
              </a:rPr>
              <a:t>"Asymmetrical balance is achieved through a large product image on the left counterweighted by dense typographic content on the right, creating a dynamic yet stable composition that prevents the design from feeling static."</a:t>
            </a:r>
          </a:p>
        </p:txBody>
      </p:sp>
      <p:sp>
        <p:nvSpPr>
          <p:cNvPr id="4" name="Content Placeholder 3"/>
          <p:cNvSpPr>
            <a:spLocks noGrp="1"/>
          </p:cNvSpPr>
          <p:nvPr>
            <p:ph idx="2" sz="half"/>
          </p:nvPr>
        </p:nvSpPr>
        <p:spPr/>
        <p:txBody>
          <a:bodyPr wrap="square"/>
          <a:lstStyle/>
          <a:p>
            <a:pPr>
              <a:spcAft>
                <a:spcPts val="1000"/>
              </a:spcAft>
            </a:pPr>
            <a:r>
              <a:rPr sz="1800" b="0" i="1">
                <a:solidFill>
                  <a:srgbClr val="333333"/>
                </a:solidFill>
                <a:latin typeface="Calibri"/>
              </a:rPr>
              <a:t>Sentence Starters</a:t>
            </a:r>
          </a:p>
          <a:p>
            <a:pPr lvl="1">
              <a:spcAft>
                <a:spcPts val="1000"/>
              </a:spcAft>
            </a:pPr>
            <a:r>
              <a:rPr sz="1800" b="0" i="0">
                <a:solidFill>
                  <a:srgbClr val="333333"/>
                </a:solidFill>
                <a:latin typeface="Calibri"/>
              </a:rPr>
              <a:t>" Hierarchical contrast is established through..."</a:t>
            </a:r>
          </a:p>
          <a:p>
            <a:pPr lvl="1">
              <a:spcAft>
                <a:spcPts val="1000"/>
              </a:spcAft>
            </a:pPr>
            <a:r>
              <a:rPr sz="1800" b="0" i="0">
                <a:solidFill>
                  <a:srgbClr val="333333"/>
                </a:solidFill>
                <a:latin typeface="Calibri"/>
              </a:rPr>
              <a:t>"The use of asymmetrical balance creates..."</a:t>
            </a:r>
          </a:p>
          <a:p>
            <a:pPr lvl="1">
              <a:spcAft>
                <a:spcPts val="1000"/>
              </a:spcAft>
            </a:pPr>
            <a:r>
              <a:rPr sz="1800" b="0" i="0">
                <a:solidFill>
                  <a:srgbClr val="333333"/>
                </a:solidFill>
                <a:latin typeface="Calibri"/>
              </a:rPr>
              <a:t>" Scale contrast between [X] and [Y] conveys..."</a:t>
            </a:r>
          </a:p>
          <a:p>
            <a:pPr lvl="1">
              <a:spcAft>
                <a:spcPts val="1000"/>
              </a:spcAft>
            </a:pPr>
            <a:r>
              <a:rPr sz="1800" b="0" i="0">
                <a:solidFill>
                  <a:srgbClr val="333333"/>
                </a:solidFill>
                <a:latin typeface="Calibri"/>
              </a:rPr>
              <a:t>"The figure-ground relationship is [stable/ambiguous], which..."</a:t>
            </a:r>
          </a:p>
          <a:p>
            <a:pPr lvl="1">
              <a:spcAft>
                <a:spcPts val="1000"/>
              </a:spcAft>
            </a:pPr>
            <a:r>
              <a:rPr sz="1800" b="0" i="0">
                <a:solidFill>
                  <a:srgbClr val="333333"/>
                </a:solidFill>
                <a:latin typeface="Calibri"/>
              </a:rPr>
              <a:t>"Through tight cropping of the [subject], the designer..."</a:t>
            </a:r>
          </a:p>
          <a:p>
            <a:pPr lvl="1">
              <a:spcAft>
                <a:spcPts val="1000"/>
              </a:spcAft>
            </a:pPr>
            <a:r>
              <a:rPr sz="1800" b="0" i="0">
                <a:solidFill>
                  <a:srgbClr val="333333"/>
                </a:solidFill>
                <a:latin typeface="Calibri"/>
              </a:rPr>
              <a:t>"Repetition of [X] creates a pattern that..."</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All 8 Principles — Quick Reference</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Balance</a:t>
            </a:r>
          </a:p>
          <a:p>
            <a:pPr lvl="1">
              <a:spcAft>
                <a:spcPts val="1000"/>
              </a:spcAft>
            </a:pPr>
            <a:r>
              <a:rPr sz="1800" b="0" i="0">
                <a:solidFill>
                  <a:srgbClr val="333333"/>
                </a:solidFill>
                <a:latin typeface="Calibri"/>
              </a:rPr>
              <a:t>Distribution of visual weight. Symmetrical, asymmetrical or radial.</a:t>
            </a:r>
          </a:p>
          <a:p>
            <a:pPr lvl="1">
              <a:spcAft>
                <a:spcPts val="1000"/>
              </a:spcAft>
            </a:pPr>
            <a:r>
              <a:rPr sz="1800" b="0" i="0">
                <a:solidFill>
                  <a:srgbClr val="333333"/>
                </a:solidFill>
                <a:latin typeface="Calibri"/>
              </a:rPr>
              <a:t>Contrast</a:t>
            </a:r>
          </a:p>
          <a:p>
            <a:pPr lvl="1">
              <a:spcAft>
                <a:spcPts val="1000"/>
              </a:spcAft>
            </a:pPr>
            <a:r>
              <a:rPr sz="1800" b="0" i="0">
                <a:solidFill>
                  <a:srgbClr val="333333"/>
                </a:solidFill>
                <a:latin typeface="Calibri"/>
              </a:rPr>
              <a:t>Opposition of visual qualities. Draws the eye, creates emphasis.</a:t>
            </a:r>
          </a:p>
          <a:p>
            <a:pPr lvl="1">
              <a:spcAft>
                <a:spcPts val="1000"/>
              </a:spcAft>
            </a:pPr>
            <a:r>
              <a:rPr sz="1800" b="0" i="0">
                <a:solidFill>
                  <a:srgbClr val="333333"/>
                </a:solidFill>
                <a:latin typeface="Calibri"/>
              </a:rPr>
              <a:t>Cropping</a:t>
            </a:r>
          </a:p>
          <a:p>
            <a:pPr lvl="1">
              <a:spcAft>
                <a:spcPts val="1000"/>
              </a:spcAft>
            </a:pPr>
            <a:r>
              <a:rPr sz="1800" b="0" i="0">
                <a:solidFill>
                  <a:srgbClr val="333333"/>
                </a:solidFill>
                <a:latin typeface="Calibri"/>
              </a:rPr>
              <a:t>How much is shown in the frame. Controls focus and energy.</a:t>
            </a:r>
          </a:p>
          <a:p>
            <a:pPr lvl="1">
              <a:spcAft>
                <a:spcPts val="1000"/>
              </a:spcAft>
            </a:pPr>
            <a:r>
              <a:rPr sz="1800" b="0" i="0">
                <a:solidFill>
                  <a:srgbClr val="333333"/>
                </a:solidFill>
                <a:latin typeface="Calibri"/>
              </a:rPr>
              <a:t>Scale</a:t>
            </a:r>
          </a:p>
          <a:p>
            <a:pPr lvl="1">
              <a:spcAft>
                <a:spcPts val="1000"/>
              </a:spcAft>
            </a:pPr>
            <a:r>
              <a:rPr sz="1800" b="0" i="0">
                <a:solidFill>
                  <a:srgbClr val="333333"/>
                </a:solidFill>
                <a:latin typeface="Calibri"/>
              </a:rPr>
              <a:t>Relative size between elements. Creates hierarchy and depth.</a:t>
            </a:r>
          </a:p>
          <a:p>
            <a:pPr lvl="1">
              <a:spcAft>
                <a:spcPts val="1000"/>
              </a:spcAft>
            </a:pPr>
            <a:r>
              <a:rPr sz="1800" b="0" i="0">
                <a:solidFill>
                  <a:srgbClr val="333333"/>
                </a:solidFill>
                <a:latin typeface="Calibri"/>
              </a:rPr>
              <a:t>Proportion</a:t>
            </a:r>
          </a:p>
          <a:p>
            <a:pPr lvl="1">
              <a:spcAft>
                <a:spcPts val="1000"/>
              </a:spcAft>
            </a:pPr>
            <a:r>
              <a:rPr sz="1800" b="0" i="0">
                <a:solidFill>
                  <a:srgbClr val="333333"/>
                </a:solidFill>
                <a:latin typeface="Calibri"/>
              </a:rPr>
              <a:t>Relationship between parts of an element. Harmony or distortion.</a:t>
            </a:r>
          </a:p>
          <a:p>
            <a:pPr lvl="1">
              <a:spcAft>
                <a:spcPts val="1000"/>
              </a:spcAft>
            </a:pPr>
            <a:r>
              <a:rPr sz="1800" b="0" i="0">
                <a:solidFill>
                  <a:srgbClr val="333333"/>
                </a:solidFill>
                <a:latin typeface="Calibri"/>
              </a:rPr>
              <a:t>Hierarchy</a:t>
            </a:r>
          </a:p>
          <a:p>
            <a:pPr lvl="1">
              <a:spcAft>
                <a:spcPts val="1000"/>
              </a:spcAft>
            </a:pPr>
            <a:r>
              <a:rPr sz="1800" b="0" i="0">
                <a:solidFill>
                  <a:srgbClr val="333333"/>
                </a:solidFill>
                <a:latin typeface="Calibri"/>
              </a:rPr>
              <a:t>Ordering by importance. Guides reading order through the design.</a:t>
            </a:r>
          </a:p>
          <a:p>
            <a:pPr lvl="1">
              <a:spcAft>
                <a:spcPts val="1000"/>
              </a:spcAft>
            </a:pPr>
            <a:r>
              <a:rPr sz="1800" b="0" i="0">
                <a:solidFill>
                  <a:srgbClr val="333333"/>
                </a:solidFill>
                <a:latin typeface="Calibri"/>
              </a:rPr>
              <a:t>Pattern</a:t>
            </a:r>
          </a:p>
          <a:p>
            <a:pPr lvl="1">
              <a:spcAft>
                <a:spcPts val="1000"/>
              </a:spcAft>
            </a:pPr>
            <a:r>
              <a:rPr sz="1800" b="0" i="0">
                <a:solidFill>
                  <a:srgbClr val="333333"/>
                </a:solidFill>
                <a:latin typeface="Calibri"/>
              </a:rPr>
              <a:t>Repetition of elements. Creates texture, rhythm and cohesion.</a:t>
            </a:r>
          </a:p>
          <a:p>
            <a:pPr lvl="1">
              <a:spcAft>
                <a:spcPts val="1000"/>
              </a:spcAft>
            </a:pPr>
            <a:r>
              <a:rPr sz="1800" b="0" i="0">
                <a:solidFill>
                  <a:srgbClr val="333333"/>
                </a:solidFill>
                <a:latin typeface="Calibri"/>
              </a:rPr>
              <a:t>Figure-Ground</a:t>
            </a:r>
          </a:p>
          <a:p>
            <a:pPr lvl="1">
              <a:spcAft>
                <a:spcPts val="1000"/>
              </a:spcAft>
            </a:pPr>
            <a:r>
              <a:rPr sz="1800" b="0" i="0">
                <a:solidFill>
                  <a:srgbClr val="333333"/>
                </a:solidFill>
                <a:latin typeface="Calibri"/>
              </a:rPr>
              <a:t>Subject vs background relationship. Stable or ambiguous.</a:t>
            </a:r>
          </a:p>
          <a:p>
            <a:pPr>
              <a:spcAft>
                <a:spcPts val="1000"/>
              </a:spcAft>
            </a:pPr>
            <a:r>
              <a:rPr sz="2000" b="0" i="0">
                <a:solidFill>
                  <a:srgbClr val="333333"/>
                </a:solidFill>
                <a:latin typeface="Calibri"/>
              </a:rPr>
              <a:t> Reminder: </a:t>
            </a:r>
            <a:r>
              <a:rPr sz="2000" b="1" i="0">
                <a:solidFill>
                  <a:srgbClr val="1F3A5F"/>
                </a:solidFill>
                <a:latin typeface="Calibri"/>
              </a:rPr>
              <a:t>Emphasis, Unity, Harmony, Rhythm and Dominance are NOT in VCAA 2024.</a:t>
            </a:r>
            <a:r>
              <a:rPr sz="2000" b="0" i="0">
                <a:solidFill>
                  <a:srgbClr val="333333"/>
                </a:solidFill>
                <a:latin typeface="Calibri"/>
              </a:rPr>
              <a:t> Do not use them in exam responses. </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FFFFFF"/>
                </a:solidFill>
                <a:latin typeface="Cambria"/>
              </a:rPr>
              <a:t>Gestalt Principles</a:t>
            </a:r>
          </a:p>
        </p:txBody>
      </p:sp>
      <p:sp>
        <p:nvSpPr>
          <p:cNvPr id="3" name="Text Placeholder 2"/>
          <p:cNvSpPr>
            <a:spLocks noGrp="1"/>
          </p:cNvSpPr>
          <p:nvPr>
            <p:ph type="body" idx="1"/>
          </p:nvPr>
        </p:nvSpPr>
        <p:spPr/>
        <p:txBody>
          <a:bodyPr/>
          <a:lstStyle/>
          <a:p>
            <a:r>
              <a:rPr sz="1800">
                <a:solidFill>
                  <a:srgbClr val="E5E5E5"/>
                </a:solidFill>
                <a:latin typeface="Calibri"/>
              </a:rPr>
              <a:t>AOS 1 · Understanding Design Thinking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What is Gestalt?</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Gestalt is a German word meaning </a:t>
            </a:r>
            <a:r>
              <a:rPr sz="1800" b="1" i="0">
                <a:solidFill>
                  <a:srgbClr val="1F3A5F"/>
                </a:solidFill>
                <a:latin typeface="Calibri"/>
              </a:rPr>
              <a:t>"unified whole"</a:t>
            </a:r>
            <a:r>
              <a:rPr sz="1800" b="0" i="0">
                <a:solidFill>
                  <a:srgbClr val="333333"/>
                </a:solidFill>
                <a:latin typeface="Calibri"/>
              </a:rPr>
              <a:t>. Gestalt psychology studies how we perceive visual elements as organised patterns rather than individual parts.</a:t>
            </a:r>
          </a:p>
          <a:p>
            <a:pPr lvl="1">
              <a:spcAft>
                <a:spcPts val="1000"/>
              </a:spcAft>
            </a:pPr>
            <a:r>
              <a:rPr sz="1800" b="0" i="0">
                <a:solidFill>
                  <a:srgbClr val="333333"/>
                </a:solidFill>
                <a:latin typeface="Calibri"/>
              </a:rPr>
              <a:t>The core idea: "The whole is greater than the sum of its parts."</a:t>
            </a:r>
          </a:p>
          <a:p>
            <a:pPr lvl="1">
              <a:spcAft>
                <a:spcPts val="1000"/>
              </a:spcAft>
            </a:pPr>
            <a:r>
              <a:rPr sz="1800" b="0" i="0">
                <a:solidFill>
                  <a:srgbClr val="333333"/>
                </a:solidFill>
                <a:latin typeface="Calibri"/>
              </a:rPr>
              <a:t> Why it matters in VCD Explains how viewers "read" designs Helps designers guide the eye Creates visual relationships between elements Underpins effective layout decisions </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Critical: What's in VCAA 2024?</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 VCAA 2024 Gestalt Principles (USE THESE) </a:t>
            </a:r>
            <a:r>
              <a:rPr sz="1800" b="1" i="0">
                <a:solidFill>
                  <a:srgbClr val="1F3A5F"/>
                </a:solidFill>
                <a:latin typeface="Calibri"/>
              </a:rPr>
              <a:t>Similarity</a:t>
            </a:r>
            <a:r>
              <a:rPr sz="1800" b="1" i="0">
                <a:solidFill>
                  <a:srgbClr val="1F3A5F"/>
                </a:solidFill>
                <a:latin typeface="Calibri"/>
              </a:rPr>
              <a:t>Proximity</a:t>
            </a:r>
            <a:r>
              <a:rPr sz="1800" b="1" i="0">
                <a:solidFill>
                  <a:srgbClr val="1F3A5F"/>
                </a:solidFill>
                <a:latin typeface="Calibri"/>
              </a:rPr>
              <a:t>Closure</a:t>
            </a:r>
            <a:r>
              <a:rPr sz="1800" b="1" i="0">
                <a:solidFill>
                  <a:srgbClr val="1F3A5F"/>
                </a:solidFill>
                <a:latin typeface="Calibri"/>
              </a:rPr>
              <a:t>Figure-Ground</a:t>
            </a:r>
            <a:r>
              <a:rPr sz="1800" b="1" i="0">
                <a:solidFill>
                  <a:srgbClr val="1F3A5F"/>
                </a:solidFill>
                <a:latin typeface="Calibri"/>
              </a:rPr>
              <a:t>Continuation</a:t>
            </a:r>
            <a:r>
              <a:rPr sz="1800" b="0" i="0">
                <a:solidFill>
                  <a:srgbClr val="333333"/>
                </a:solidFill>
                <a:latin typeface="Calibri"/>
              </a:rPr>
              <a:t> ← correct spelling </a:t>
            </a:r>
            <a:r>
              <a:rPr sz="1800" b="1" i="0">
                <a:solidFill>
                  <a:srgbClr val="1F3A5F"/>
                </a:solidFill>
                <a:latin typeface="Calibri"/>
              </a:rPr>
              <a:t>Area / Prägnanz</a:t>
            </a:r>
          </a:p>
          <a:p>
            <a:pPr lvl="1">
              <a:spcAft>
                <a:spcPts val="1000"/>
              </a:spcAft>
            </a:pPr>
            <a:r>
              <a:rPr sz="1800" b="0" i="0">
                <a:solidFill>
                  <a:srgbClr val="333333"/>
                </a:solidFill>
                <a:latin typeface="Calibri"/>
              </a:rPr>
              <a:t> Common Mistakes — Do NOT use</a:t>
            </a:r>
          </a:p>
          <a:p>
            <a:pPr lvl="1">
              <a:spcAft>
                <a:spcPts val="1000"/>
              </a:spcAft>
            </a:pPr>
            <a:r>
              <a:rPr sz="1800" b="0" i="0">
                <a:solidFill>
                  <a:srgbClr val="333333"/>
                </a:solidFill>
                <a:latin typeface="Calibri"/>
              </a:rPr>
              <a:t> Continuity → write </a:t>
            </a:r>
            <a:r>
              <a:rPr sz="1800" b="1" i="0">
                <a:solidFill>
                  <a:srgbClr val="1F3A5F"/>
                </a:solidFill>
                <a:latin typeface="Calibri"/>
              </a:rPr>
              <a:t>Continuation</a:t>
            </a:r>
            <a:r>
              <a:rPr sz="1800" b="0" i="0">
                <a:solidFill>
                  <a:srgbClr val="333333"/>
                </a:solidFill>
                <a:latin typeface="Calibri"/>
              </a:rPr>
              <a:t> Common Region — not a VCAA principle Symmetry — not separately listed Connectedness — not in VCAA 2024 </a:t>
            </a:r>
          </a:p>
          <a:p>
            <a:pPr lvl="1">
              <a:spcAft>
                <a:spcPts val="1000"/>
              </a:spcAft>
            </a:pPr>
            <a:r>
              <a:rPr sz="1800" b="0" i="0">
                <a:solidFill>
                  <a:srgbClr val="333333"/>
                </a:solidFill>
                <a:latin typeface="Calibri"/>
              </a:rPr>
              <a:t>Always check: Similarity, Proximity, Closure, Figure-Ground, Continuation, Area</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Similarity</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Elements that share </a:t>
            </a:r>
            <a:r>
              <a:rPr sz="1800" b="1" i="0">
                <a:solidFill>
                  <a:srgbClr val="1F3A5F"/>
                </a:solidFill>
                <a:latin typeface="Calibri"/>
              </a:rPr>
              <a:t>visual characteristics</a:t>
            </a:r>
            <a:r>
              <a:rPr sz="1800" b="0" i="0">
                <a:solidFill>
                  <a:srgbClr val="333333"/>
                </a:solidFill>
                <a:latin typeface="Calibri"/>
              </a:rPr>
              <a:t> (colour, shape, size, texture, orientation) are perceived as belonging together.</a:t>
            </a:r>
          </a:p>
          <a:p>
            <a:pPr lvl="1">
              <a:spcAft>
                <a:spcPts val="1000"/>
              </a:spcAft>
            </a:pPr>
            <a:r>
              <a:rPr sz="1800" b="0" i="0">
                <a:solidFill>
                  <a:srgbClr val="333333"/>
                </a:solidFill>
                <a:latin typeface="Calibri"/>
              </a:rPr>
              <a:t> Types of Similarity </a:t>
            </a:r>
            <a:r>
              <a:rPr sz="1800" b="1" i="0">
                <a:solidFill>
                  <a:srgbClr val="1F3A5F"/>
                </a:solidFill>
                <a:latin typeface="Calibri"/>
              </a:rPr>
              <a:t>Colour similarity</a:t>
            </a:r>
            <a:r>
              <a:rPr sz="1800" b="0" i="0">
                <a:solidFill>
                  <a:srgbClr val="333333"/>
                </a:solidFill>
                <a:latin typeface="Calibri"/>
              </a:rPr>
              <a:t> — same hue groups elements </a:t>
            </a:r>
            <a:r>
              <a:rPr sz="1800" b="1" i="0">
                <a:solidFill>
                  <a:srgbClr val="1F3A5F"/>
                </a:solidFill>
                <a:latin typeface="Calibri"/>
              </a:rPr>
              <a:t>Shape similarity</a:t>
            </a:r>
            <a:r>
              <a:rPr sz="1800" b="0" i="0">
                <a:solidFill>
                  <a:srgbClr val="333333"/>
                </a:solidFill>
                <a:latin typeface="Calibri"/>
              </a:rPr>
              <a:t> — repeated forms create unity </a:t>
            </a:r>
            <a:r>
              <a:rPr sz="1800" b="1" i="0">
                <a:solidFill>
                  <a:srgbClr val="1F3A5F"/>
                </a:solidFill>
                <a:latin typeface="Calibri"/>
              </a:rPr>
              <a:t>Size similarity</a:t>
            </a:r>
            <a:r>
              <a:rPr sz="1800" b="0" i="0">
                <a:solidFill>
                  <a:srgbClr val="333333"/>
                </a:solidFill>
                <a:latin typeface="Calibri"/>
              </a:rPr>
              <a:t> — equal-sized items group </a:t>
            </a:r>
            <a:r>
              <a:rPr sz="1800" b="1" i="0">
                <a:solidFill>
                  <a:srgbClr val="1F3A5F"/>
                </a:solidFill>
                <a:latin typeface="Calibri"/>
              </a:rPr>
              <a:t>Texture similarity</a:t>
            </a:r>
            <a:r>
              <a:rPr sz="1800" b="0" i="0">
                <a:solidFill>
                  <a:srgbClr val="333333"/>
                </a:solidFill>
                <a:latin typeface="Calibri"/>
              </a:rPr>
              <a:t> — matching surface quality </a:t>
            </a:r>
          </a:p>
          <a:p>
            <a:pPr lvl="1">
              <a:spcAft>
                <a:spcPts val="1000"/>
              </a:spcAft>
            </a:pPr>
            <a:r>
              <a:rPr sz="1800" b="0" i="0">
                <a:solidFill>
                  <a:srgbClr val="333333"/>
                </a:solidFill>
                <a:latin typeface="Calibri"/>
              </a:rPr>
              <a:t>e.g. Navigation menu items in the same font weight and colour are read as a group even with space between them.</a:t>
            </a:r>
          </a:p>
          <a:p>
            <a:pPr lvl="1">
              <a:spcAft>
                <a:spcPts val="1000"/>
              </a:spcAft>
            </a:pPr>
            <a:r>
              <a:rPr sz="1800" b="0" i="0">
                <a:solidFill>
                  <a:srgbClr val="333333"/>
                </a:solidFill>
                <a:latin typeface="Calibri"/>
              </a:rPr>
              <a:t>Exam Sentence Starter</a:t>
            </a:r>
          </a:p>
          <a:p>
            <a:pPr lvl="1">
              <a:spcAft>
                <a:spcPts val="1000"/>
              </a:spcAft>
            </a:pPr>
            <a:r>
              <a:rPr sz="1800" b="0" i="0">
                <a:solidFill>
                  <a:srgbClr val="333333"/>
                </a:solidFill>
                <a:latin typeface="Calibri"/>
              </a:rPr>
              <a:t>"The principle of </a:t>
            </a:r>
            <a:r>
              <a:rPr sz="1800" b="1" i="0">
                <a:solidFill>
                  <a:srgbClr val="1F3A5F"/>
                </a:solidFill>
                <a:latin typeface="Calibri"/>
              </a:rPr>
              <a:t>similarity</a:t>
            </a:r>
            <a:r>
              <a:rPr sz="1800" b="0" i="0">
                <a:solidFill>
                  <a:srgbClr val="333333"/>
                </a:solidFill>
                <a:latin typeface="Calibri"/>
              </a:rPr>
              <a:t> is used in this design through the repetition of [element], which groups [objects] together and creates visual cohesion."</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Proximity</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Elements that are </a:t>
            </a:r>
            <a:r>
              <a:rPr sz="1800" b="1" i="0">
                <a:solidFill>
                  <a:srgbClr val="1F3A5F"/>
                </a:solidFill>
                <a:latin typeface="Calibri"/>
              </a:rPr>
              <a:t>close together</a:t>
            </a:r>
            <a:r>
              <a:rPr sz="1800" b="0" i="0">
                <a:solidFill>
                  <a:srgbClr val="333333"/>
                </a:solidFill>
                <a:latin typeface="Calibri"/>
              </a:rPr>
              <a:t> are perceived as a group, regardless of their visual differences.</a:t>
            </a:r>
          </a:p>
          <a:p>
            <a:pPr lvl="1">
              <a:spcAft>
                <a:spcPts val="1000"/>
              </a:spcAft>
            </a:pPr>
            <a:r>
              <a:rPr sz="1800" b="0" i="0">
                <a:solidFill>
                  <a:srgbClr val="333333"/>
                </a:solidFill>
                <a:latin typeface="Calibri"/>
              </a:rPr>
              <a:t> Key Idea Spatial closeness overrides differences in shape or colour. The designer can create or break groups purely through positioning. </a:t>
            </a:r>
          </a:p>
          <a:p>
            <a:pPr lvl="1">
              <a:spcAft>
                <a:spcPts val="1000"/>
              </a:spcAft>
            </a:pPr>
            <a:r>
              <a:rPr sz="1800" b="0" i="0">
                <a:solidFill>
                  <a:srgbClr val="333333"/>
                </a:solidFill>
                <a:latin typeface="Calibri"/>
              </a:rPr>
              <a:t>e.g. A label placed directly beneath an image is understood to caption it, even without a line connecting them.</a:t>
            </a:r>
          </a:p>
          <a:p>
            <a:pPr lvl="1">
              <a:spcAft>
                <a:spcPts val="1000"/>
              </a:spcAft>
            </a:pPr>
            <a:r>
              <a:rPr sz="1800" b="0" i="0">
                <a:solidFill>
                  <a:srgbClr val="333333"/>
                </a:solidFill>
                <a:latin typeface="Calibri"/>
              </a:rPr>
              <a:t>Exam Sentence Starter</a:t>
            </a:r>
          </a:p>
          <a:p>
            <a:pPr lvl="1">
              <a:spcAft>
                <a:spcPts val="1000"/>
              </a:spcAft>
            </a:pPr>
            <a:r>
              <a:rPr sz="1800" b="0" i="0">
                <a:solidFill>
                  <a:srgbClr val="333333"/>
                </a:solidFill>
                <a:latin typeface="Calibri"/>
              </a:rPr>
              <a:t>"The principle of </a:t>
            </a:r>
            <a:r>
              <a:rPr sz="1800" b="1" i="0">
                <a:solidFill>
                  <a:srgbClr val="1F3A5F"/>
                </a:solidFill>
                <a:latin typeface="Calibri"/>
              </a:rPr>
              <a:t>proximity</a:t>
            </a:r>
            <a:r>
              <a:rPr sz="1800" b="0" i="0">
                <a:solidFill>
                  <a:srgbClr val="333333"/>
                </a:solidFill>
                <a:latin typeface="Calibri"/>
              </a:rPr>
              <a:t> is evident in the grouping of [elements] in the [location], which communicates that they are related and guides the viewer's understanding of the design."</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Closure</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The mind fills in </a:t>
            </a:r>
            <a:r>
              <a:rPr sz="1800" b="1" i="0">
                <a:solidFill>
                  <a:srgbClr val="1F3A5F"/>
                </a:solidFill>
                <a:latin typeface="Calibri"/>
              </a:rPr>
              <a:t>missing information</a:t>
            </a:r>
            <a:r>
              <a:rPr sz="1800" b="0" i="0">
                <a:solidFill>
                  <a:srgbClr val="333333"/>
                </a:solidFill>
                <a:latin typeface="Calibri"/>
              </a:rPr>
              <a:t> to perceive a complete, familiar shape or form.</a:t>
            </a:r>
          </a:p>
          <a:p>
            <a:pPr lvl="1">
              <a:spcAft>
                <a:spcPts val="1000"/>
              </a:spcAft>
            </a:pPr>
            <a:r>
              <a:rPr sz="1800" b="0" i="0">
                <a:solidFill>
                  <a:srgbClr val="333333"/>
                </a:solidFill>
                <a:latin typeface="Calibri"/>
              </a:rPr>
              <a:t> Key Idea Viewers don't need to see every line or edge — the brain "closes" incomplete shapes automatically. Designers use this to create intrigue and save visual space. </a:t>
            </a:r>
          </a:p>
          <a:p>
            <a:pPr lvl="1">
              <a:spcAft>
                <a:spcPts val="1000"/>
              </a:spcAft>
            </a:pPr>
            <a:r>
              <a:rPr sz="1800" b="0" i="0">
                <a:solidFill>
                  <a:srgbClr val="333333"/>
                </a:solidFill>
                <a:latin typeface="Calibri"/>
              </a:rPr>
              <a:t>e.g. The WWF panda logo is made of black shapes on white; the brain completes the outline of the panda. The NBC peacock logo uses coloured shapes to imply feathers.</a:t>
            </a:r>
          </a:p>
          <a:p>
            <a:pPr lvl="1">
              <a:spcAft>
                <a:spcPts val="1000"/>
              </a:spcAft>
            </a:pPr>
            <a:r>
              <a:rPr sz="1800" b="0" i="0">
                <a:solidFill>
                  <a:srgbClr val="333333"/>
                </a:solidFill>
                <a:latin typeface="Calibri"/>
              </a:rPr>
              <a:t>Exam Sentence Starter</a:t>
            </a:r>
          </a:p>
          <a:p>
            <a:pPr lvl="1">
              <a:spcAft>
                <a:spcPts val="1000"/>
              </a:spcAft>
            </a:pPr>
            <a:r>
              <a:rPr sz="1800" b="0" i="0">
                <a:solidFill>
                  <a:srgbClr val="333333"/>
                </a:solidFill>
                <a:latin typeface="Calibri"/>
              </a:rPr>
              <a:t>"The principle of </a:t>
            </a:r>
            <a:r>
              <a:rPr sz="1800" b="1" i="0">
                <a:solidFill>
                  <a:srgbClr val="1F3A5F"/>
                </a:solidFill>
                <a:latin typeface="Calibri"/>
              </a:rPr>
              <a:t>closure</a:t>
            </a:r>
            <a:r>
              <a:rPr sz="1800" b="0" i="0">
                <a:solidFill>
                  <a:srgbClr val="333333"/>
                </a:solidFill>
                <a:latin typeface="Calibri"/>
              </a:rPr>
              <a:t> is used in this design as the viewer's eye completes the [shape/form], creating a sense of [unity/recognition/intrigue]."</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Figure-Ground</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The eye separates an image into a </a:t>
            </a:r>
            <a:r>
              <a:rPr sz="1800" b="1" i="0">
                <a:solidFill>
                  <a:srgbClr val="1F3A5F"/>
                </a:solidFill>
                <a:latin typeface="Calibri"/>
              </a:rPr>
              <a:t>figure</a:t>
            </a:r>
            <a:r>
              <a:rPr sz="1800" b="0" i="0">
                <a:solidFill>
                  <a:srgbClr val="333333"/>
                </a:solidFill>
                <a:latin typeface="Calibri"/>
              </a:rPr>
              <a:t> (foreground subject) and a </a:t>
            </a:r>
            <a:r>
              <a:rPr sz="1800" b="1" i="0">
                <a:solidFill>
                  <a:srgbClr val="1F3A5F"/>
                </a:solidFill>
                <a:latin typeface="Calibri"/>
              </a:rPr>
              <a:t>ground</a:t>
            </a:r>
            <a:r>
              <a:rPr sz="1800" b="0" i="0">
                <a:solidFill>
                  <a:srgbClr val="333333"/>
                </a:solidFill>
                <a:latin typeface="Calibri"/>
              </a:rPr>
              <a:t> (background). Sometimes the two can be reversed (ambiguous figure-ground).</a:t>
            </a:r>
          </a:p>
          <a:p>
            <a:pPr lvl="1">
              <a:spcAft>
                <a:spcPts val="1000"/>
              </a:spcAft>
            </a:pPr>
            <a:r>
              <a:rPr sz="1800" b="0" i="0">
                <a:solidFill>
                  <a:srgbClr val="333333"/>
                </a:solidFill>
                <a:latin typeface="Calibri"/>
              </a:rPr>
              <a:t> Types </a:t>
            </a:r>
            <a:r>
              <a:rPr sz="1800" b="1" i="0">
                <a:solidFill>
                  <a:srgbClr val="1F3A5F"/>
                </a:solidFill>
                <a:latin typeface="Calibri"/>
              </a:rPr>
              <a:t>Stable</a:t>
            </a:r>
            <a:r>
              <a:rPr sz="1800" b="0" i="0">
                <a:solidFill>
                  <a:srgbClr val="333333"/>
                </a:solidFill>
                <a:latin typeface="Calibri"/>
              </a:rPr>
              <a:t> — clear separation of figure and ground </a:t>
            </a:r>
            <a:r>
              <a:rPr sz="1800" b="1" i="0">
                <a:solidFill>
                  <a:srgbClr val="1F3A5F"/>
                </a:solidFill>
                <a:latin typeface="Calibri"/>
              </a:rPr>
              <a:t>Ambiguous</a:t>
            </a:r>
            <a:r>
              <a:rPr sz="1800" b="0" i="0">
                <a:solidFill>
                  <a:srgbClr val="333333"/>
                </a:solidFill>
                <a:latin typeface="Calibri"/>
              </a:rPr>
              <a:t> — figure and ground can be switched (e.g. Rubin's Vase) </a:t>
            </a:r>
            <a:r>
              <a:rPr sz="1800" b="1" i="0">
                <a:solidFill>
                  <a:srgbClr val="1F3A5F"/>
                </a:solidFill>
                <a:latin typeface="Calibri"/>
              </a:rPr>
              <a:t>Reversible</a:t>
            </a:r>
            <a:r>
              <a:rPr sz="1800" b="0" i="0">
                <a:solidFill>
                  <a:srgbClr val="333333"/>
                </a:solidFill>
                <a:latin typeface="Calibri"/>
              </a:rPr>
              <a:t> — design intentionally uses both readings </a:t>
            </a:r>
          </a:p>
          <a:p>
            <a:pPr lvl="1">
              <a:spcAft>
                <a:spcPts val="1000"/>
              </a:spcAft>
            </a:pPr>
            <a:r>
              <a:rPr sz="1800" b="0" i="0">
                <a:solidFill>
                  <a:srgbClr val="333333"/>
                </a:solidFill>
                <a:latin typeface="Calibri"/>
              </a:rPr>
              <a:t>e.g. The FedEx logo uses negative space between E and x to form an arrow (ground used as meaningful figure).</a:t>
            </a:r>
          </a:p>
          <a:p>
            <a:pPr lvl="1">
              <a:spcAft>
                <a:spcPts val="1000"/>
              </a:spcAft>
            </a:pPr>
            <a:r>
              <a:rPr sz="1800" b="0" i="0">
                <a:solidFill>
                  <a:srgbClr val="333333"/>
                </a:solidFill>
                <a:latin typeface="Calibri"/>
              </a:rPr>
              <a:t>Exam Sentence Starter</a:t>
            </a:r>
          </a:p>
          <a:p>
            <a:pPr lvl="1">
              <a:spcAft>
                <a:spcPts val="1000"/>
              </a:spcAft>
            </a:pPr>
            <a:r>
              <a:rPr sz="1800" b="0" i="0">
                <a:solidFill>
                  <a:srgbClr val="333333"/>
                </a:solidFill>
                <a:latin typeface="Calibri"/>
              </a:rPr>
              <a:t>"The principle of </a:t>
            </a:r>
            <a:r>
              <a:rPr sz="1800" b="1" i="0">
                <a:solidFill>
                  <a:srgbClr val="1F3A5F"/>
                </a:solidFill>
                <a:latin typeface="Calibri"/>
              </a:rPr>
              <a:t>figure-ground</a:t>
            </a:r>
            <a:r>
              <a:rPr sz="1800" b="0" i="0">
                <a:solidFill>
                  <a:srgbClr val="333333"/>
                </a:solidFill>
                <a:latin typeface="Calibri"/>
              </a:rPr>
              <a:t> is used in this design through the [contrast/negative space/colour], which clearly separates the [subject] from the [background], directing the viewer's attention to [focal point]."</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Continuation</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The eye follows the smoothest </a:t>
            </a:r>
            <a:r>
              <a:rPr sz="1800" b="1" i="0">
                <a:solidFill>
                  <a:srgbClr val="1F3A5F"/>
                </a:solidFill>
                <a:latin typeface="Calibri"/>
              </a:rPr>
              <a:t>path or direction</a:t>
            </a:r>
            <a:r>
              <a:rPr sz="1800" b="0" i="0">
                <a:solidFill>
                  <a:srgbClr val="333333"/>
                </a:solidFill>
                <a:latin typeface="Calibri"/>
              </a:rPr>
              <a:t> through elements, even when a line is interrupted or changes form.</a:t>
            </a:r>
          </a:p>
          <a:p>
            <a:pPr lvl="1">
              <a:spcAft>
                <a:spcPts val="1000"/>
              </a:spcAft>
            </a:pPr>
            <a:r>
              <a:rPr sz="1800" b="0" i="0">
                <a:solidFill>
                  <a:srgbClr val="333333"/>
                </a:solidFill>
                <a:latin typeface="Calibri"/>
              </a:rPr>
              <a:t> Key Idea Once the eye begins moving in a direction, it continues in that trajectory. Lines, edges, and curves create "rivers" through a design that guide viewing order. </a:t>
            </a:r>
          </a:p>
          <a:p>
            <a:pPr lvl="1">
              <a:spcAft>
                <a:spcPts val="1000"/>
              </a:spcAft>
            </a:pPr>
            <a:r>
              <a:rPr sz="1800" b="0" i="0">
                <a:solidFill>
                  <a:srgbClr val="333333"/>
                </a:solidFill>
                <a:latin typeface="Calibri"/>
              </a:rPr>
              <a:t> Spelling note: "Continuation" NOT "Continuity" </a:t>
            </a:r>
          </a:p>
          <a:p>
            <a:pPr lvl="1">
              <a:spcAft>
                <a:spcPts val="1000"/>
              </a:spcAft>
            </a:pPr>
            <a:r>
              <a:rPr sz="1800" b="0" i="0">
                <a:solidFill>
                  <a:srgbClr val="333333"/>
                </a:solidFill>
                <a:latin typeface="Calibri"/>
              </a:rPr>
              <a:t>e.g. An arrow or a row of images creates a flow that leads the viewer's eye across the page in a specific direction.</a:t>
            </a:r>
          </a:p>
          <a:p>
            <a:pPr lvl="1">
              <a:spcAft>
                <a:spcPts val="1000"/>
              </a:spcAft>
            </a:pPr>
            <a:r>
              <a:rPr sz="1800" b="0" i="0">
                <a:solidFill>
                  <a:srgbClr val="333333"/>
                </a:solidFill>
                <a:latin typeface="Calibri"/>
              </a:rPr>
              <a:t>Exam Sentence Starter</a:t>
            </a:r>
          </a:p>
          <a:p>
            <a:pPr lvl="1">
              <a:spcAft>
                <a:spcPts val="1000"/>
              </a:spcAft>
            </a:pPr>
            <a:r>
              <a:rPr sz="1800" b="0" i="0">
                <a:solidFill>
                  <a:srgbClr val="333333"/>
                </a:solidFill>
                <a:latin typeface="Calibri"/>
              </a:rPr>
              <a:t>"The principle of </a:t>
            </a:r>
            <a:r>
              <a:rPr sz="1800" b="1" i="0">
                <a:solidFill>
                  <a:srgbClr val="1F3A5F"/>
                </a:solidFill>
                <a:latin typeface="Calibri"/>
              </a:rPr>
              <a:t>continuation</a:t>
            </a:r>
            <a:r>
              <a:rPr sz="1800" b="0" i="0">
                <a:solidFill>
                  <a:srgbClr val="333333"/>
                </a:solidFill>
                <a:latin typeface="Calibri"/>
              </a:rPr>
              <a:t> is evident through the [line/curve/edge] which leads the viewer's eye from [point A] to [point B], creating a sense of movement and directing attention to [focal point]."</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Area (Prägnanz)</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When two shapes overlap, the </a:t>
            </a:r>
            <a:r>
              <a:rPr sz="1800" b="1" i="0">
                <a:solidFill>
                  <a:srgbClr val="1F3A5F"/>
                </a:solidFill>
                <a:latin typeface="Calibri"/>
              </a:rPr>
              <a:t>smaller shape</a:t>
            </a:r>
            <a:r>
              <a:rPr sz="1800" b="0" i="0">
                <a:solidFill>
                  <a:srgbClr val="333333"/>
                </a:solidFill>
                <a:latin typeface="Calibri"/>
              </a:rPr>
              <a:t> is perceived as the figure (foreground), and the larger shape as the ground (background).</a:t>
            </a:r>
          </a:p>
          <a:p>
            <a:pPr lvl="1">
              <a:spcAft>
                <a:spcPts val="1000"/>
              </a:spcAft>
            </a:pPr>
            <a:r>
              <a:rPr sz="1800" b="0" i="0">
                <a:solidFill>
                  <a:srgbClr val="333333"/>
                </a:solidFill>
                <a:latin typeface="Calibri"/>
              </a:rPr>
              <a:t> Prägnanz (Law of Good Form) Also called the law of simplicity — the brain always prefers the simplest, most stable interpretation of a visual stimulus. Sometimes also referred to as the "law of good form." </a:t>
            </a:r>
          </a:p>
          <a:p>
            <a:pPr lvl="1">
              <a:spcAft>
                <a:spcPts val="1000"/>
              </a:spcAft>
            </a:pPr>
            <a:r>
              <a:rPr sz="1800" b="0" i="0">
                <a:solidFill>
                  <a:srgbClr val="333333"/>
                </a:solidFill>
                <a:latin typeface="Calibri"/>
              </a:rPr>
              <a:t>e.g. When a circle overlaps a rectangle, we see the circle as sitting "on top of" the rectangle — not as a rectangle with a circular hole.</a:t>
            </a:r>
          </a:p>
          <a:p>
            <a:pPr lvl="1">
              <a:spcAft>
                <a:spcPts val="1000"/>
              </a:spcAft>
            </a:pPr>
            <a:r>
              <a:rPr sz="1800" b="0" i="0">
                <a:solidFill>
                  <a:srgbClr val="333333"/>
                </a:solidFill>
                <a:latin typeface="Calibri"/>
              </a:rPr>
              <a:t>Exam Sentence Starter</a:t>
            </a:r>
          </a:p>
          <a:p>
            <a:pPr lvl="1">
              <a:spcAft>
                <a:spcPts val="1000"/>
              </a:spcAft>
            </a:pPr>
            <a:r>
              <a:rPr sz="1800" b="0" i="0">
                <a:solidFill>
                  <a:srgbClr val="333333"/>
                </a:solidFill>
                <a:latin typeface="Calibri"/>
              </a:rPr>
              <a:t>"The gestalt principle of </a:t>
            </a:r>
            <a:r>
              <a:rPr sz="1800" b="1" i="0">
                <a:solidFill>
                  <a:srgbClr val="1F3A5F"/>
                </a:solidFill>
                <a:latin typeface="Calibri"/>
              </a:rPr>
              <a:t>area</a:t>
            </a:r>
            <a:r>
              <a:rPr sz="1800" b="0" i="0">
                <a:solidFill>
                  <a:srgbClr val="333333"/>
                </a:solidFill>
                <a:latin typeface="Calibri"/>
              </a:rPr>
              <a:t> is used in this design as the smaller [shape] is perceived as the figure against the larger [shape] as ground, creating visual depth and hierarchy."</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Applying Gestalt in Design</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 Logo Design Closure → hidden shapes in negative space Figure-ground → dual meanings Similarity → brand system consistency </a:t>
            </a:r>
          </a:p>
          <a:p>
            <a:pPr lvl="1">
              <a:spcAft>
                <a:spcPts val="1000"/>
              </a:spcAft>
            </a:pPr>
            <a:r>
              <a:rPr sz="1800" b="0" i="0">
                <a:solidFill>
                  <a:srgbClr val="333333"/>
                </a:solidFill>
                <a:latin typeface="Calibri"/>
              </a:rPr>
              <a:t> Page Layout Proximity → caption below image Continuation → reading flow left→right Similarity → navigation items grouped </a:t>
            </a:r>
          </a:p>
          <a:p>
            <a:pPr lvl="1">
              <a:spcAft>
                <a:spcPts val="1000"/>
              </a:spcAft>
            </a:pPr>
            <a:r>
              <a:rPr sz="1800" b="0" i="0">
                <a:solidFill>
                  <a:srgbClr val="333333"/>
                </a:solidFill>
                <a:latin typeface="Calibri"/>
              </a:rPr>
              <a:t> Wayfinding / UI Figure-ground → button vs background Proximity → related controls together Area → small icon on large background </a:t>
            </a:r>
          </a:p>
          <a:p>
            <a:pPr>
              <a:spcAft>
                <a:spcPts val="1000"/>
              </a:spcAft>
            </a:pPr>
            <a:r>
              <a:rPr sz="2000" b="0" i="0">
                <a:solidFill>
                  <a:srgbClr val="333333"/>
                </a:solidFill>
                <a:latin typeface="Calibri"/>
              </a:rPr>
              <a:t> Key VCE Exam Tip When answering analysis questions, always </a:t>
            </a:r>
            <a:r>
              <a:rPr sz="2000" b="1" i="0">
                <a:solidFill>
                  <a:srgbClr val="1F3A5F"/>
                </a:solidFill>
                <a:latin typeface="Calibri"/>
              </a:rPr>
              <a:t>name the gestalt principle</a:t>
            </a:r>
            <a:r>
              <a:rPr sz="2000" b="0" i="0">
                <a:solidFill>
                  <a:srgbClr val="333333"/>
                </a:solidFill>
                <a:latin typeface="Calibri"/>
              </a:rPr>
              <a:t>, </a:t>
            </a:r>
            <a:r>
              <a:rPr sz="2000" b="1" i="0">
                <a:solidFill>
                  <a:srgbClr val="1F3A5F"/>
                </a:solidFill>
                <a:latin typeface="Calibri"/>
              </a:rPr>
              <a:t>describe how it appears</a:t>
            </a:r>
            <a:r>
              <a:rPr sz="2000" b="0" i="0">
                <a:solidFill>
                  <a:srgbClr val="333333"/>
                </a:solidFill>
                <a:latin typeface="Calibri"/>
              </a:rPr>
              <a:t> in the design (specific visual evidence), and explain the </a:t>
            </a:r>
            <a:r>
              <a:rPr sz="2000" b="1" i="0">
                <a:solidFill>
                  <a:srgbClr val="1F3A5F"/>
                </a:solidFill>
                <a:latin typeface="Calibri"/>
              </a:rPr>
              <a:t>effect on the viewer</a:t>
            </a:r>
            <a:r>
              <a:rPr sz="2000" b="0" i="0">
                <a:solidFill>
                  <a:srgbClr val="333333"/>
                </a:solidFill>
                <a:latin typeface="Calibri"/>
              </a:rPr>
              <a:t>. Three parts = full marks. </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Writing Gestalt Analysis</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Use the </a:t>
            </a:r>
            <a:r>
              <a:rPr sz="1800" b="1" i="0">
                <a:solidFill>
                  <a:srgbClr val="1F3A5F"/>
                </a:solidFill>
                <a:latin typeface="Calibri"/>
              </a:rPr>
              <a:t>NAME → EVIDENCE → EFFECT</a:t>
            </a:r>
            <a:r>
              <a:rPr sz="1800" b="0" i="0">
                <a:solidFill>
                  <a:srgbClr val="333333"/>
                </a:solidFill>
                <a:latin typeface="Calibri"/>
              </a:rPr>
              <a:t> structure for full marks.</a:t>
            </a:r>
          </a:p>
          <a:p>
            <a:pPr lvl="1">
              <a:spcAft>
                <a:spcPts val="1000"/>
              </a:spcAft>
            </a:pPr>
            <a:r>
              <a:rPr sz="1800" b="0" i="0">
                <a:solidFill>
                  <a:srgbClr val="333333"/>
                </a:solidFill>
                <a:latin typeface="Calibri"/>
              </a:rPr>
              <a:t> Strong Response (full marks)</a:t>
            </a:r>
          </a:p>
          <a:p>
            <a:pPr lvl="1">
              <a:spcAft>
                <a:spcPts val="1000"/>
              </a:spcAft>
            </a:pPr>
            <a:r>
              <a:rPr sz="1800" b="0" i="0">
                <a:solidFill>
                  <a:srgbClr val="333333"/>
                </a:solidFill>
                <a:latin typeface="Calibri"/>
              </a:rPr>
              <a:t>"The </a:t>
            </a:r>
            <a:r>
              <a:rPr sz="1800" b="1" i="0">
                <a:solidFill>
                  <a:srgbClr val="1F3A5F"/>
                </a:solidFill>
                <a:latin typeface="Calibri"/>
              </a:rPr>
              <a:t>gestalt principle of proximity</a:t>
            </a:r>
            <a:r>
              <a:rPr sz="1800" b="0" i="0">
                <a:solidFill>
                  <a:srgbClr val="333333"/>
                </a:solidFill>
                <a:latin typeface="Calibri"/>
              </a:rPr>
              <a:t> is used in this poster design through the placement of the event name, date and venue text in tight vertical grouping in the lower third. This clusters the key information, signalling to the viewer that the three text elements are functionally related, making the poster easier to read quickly."</a:t>
            </a:r>
          </a:p>
          <a:p>
            <a:pPr lvl="1">
              <a:spcAft>
                <a:spcPts val="1000"/>
              </a:spcAft>
            </a:pPr>
            <a:r>
              <a:rPr sz="1800" b="0" i="0">
                <a:solidFill>
                  <a:srgbClr val="333333"/>
                </a:solidFill>
                <a:latin typeface="Calibri"/>
              </a:rPr>
              <a:t> Weak Response (partial marks)</a:t>
            </a:r>
          </a:p>
          <a:p>
            <a:pPr lvl="1">
              <a:spcAft>
                <a:spcPts val="1000"/>
              </a:spcAft>
            </a:pPr>
            <a:r>
              <a:rPr sz="1800" b="0" i="0">
                <a:solidFill>
                  <a:srgbClr val="333333"/>
                </a:solidFill>
                <a:latin typeface="Calibri"/>
              </a:rPr>
              <a:t>"Proximity is used because the text is close together."</a:t>
            </a:r>
          </a:p>
          <a:p>
            <a:pPr lvl="1">
              <a:spcAft>
                <a:spcPts val="1000"/>
              </a:spcAft>
            </a:pPr>
            <a:r>
              <a:rPr sz="1800" b="0" i="0">
                <a:solidFill>
                  <a:srgbClr val="333333"/>
                </a:solidFill>
                <a:latin typeface="Calibri"/>
              </a:rPr>
              <a:t> The 3-Part Formula </a:t>
            </a:r>
            <a:r>
              <a:rPr sz="1800" b="1" i="0">
                <a:solidFill>
                  <a:srgbClr val="1F3A5F"/>
                </a:solidFill>
                <a:latin typeface="Calibri"/>
              </a:rPr>
              <a:t>1. Name</a:t>
            </a:r>
            <a:r>
              <a:rPr sz="1800" b="0" i="0">
                <a:solidFill>
                  <a:srgbClr val="333333"/>
                </a:solidFill>
                <a:latin typeface="Calibri"/>
              </a:rPr>
              <a:t> the gestalt principle </a:t>
            </a:r>
            <a:r>
              <a:rPr sz="1800" b="1" i="0">
                <a:solidFill>
                  <a:srgbClr val="1F3A5F"/>
                </a:solidFill>
                <a:latin typeface="Calibri"/>
              </a:rPr>
              <a:t>2. Evidence</a:t>
            </a:r>
            <a:r>
              <a:rPr sz="1800" b="0" i="0">
                <a:solidFill>
                  <a:srgbClr val="333333"/>
                </a:solidFill>
                <a:latin typeface="Calibri"/>
              </a:rPr>
              <a:t> — specific visual detail </a:t>
            </a:r>
            <a:r>
              <a:rPr sz="1800" b="1" i="0">
                <a:solidFill>
                  <a:srgbClr val="1F3A5F"/>
                </a:solidFill>
                <a:latin typeface="Calibri"/>
              </a:rPr>
              <a:t>3. Effect</a:t>
            </a:r>
            <a:r>
              <a:rPr sz="1800" b="0" i="0">
                <a:solidFill>
                  <a:srgbClr val="333333"/>
                </a:solidFill>
                <a:latin typeface="Calibri"/>
              </a:rPr>
              <a:t> — impact on the viewer </a:t>
            </a:r>
          </a:p>
          <a:p>
            <a:pPr lvl="1">
              <a:spcAft>
                <a:spcPts val="1000"/>
              </a:spcAft>
            </a:pPr>
            <a:r>
              <a:rPr sz="1800" b="0" i="0">
                <a:solidFill>
                  <a:srgbClr val="333333"/>
                </a:solidFill>
                <a:latin typeface="Calibri"/>
              </a:rPr>
              <a:t> Useful Effect Phrases "...directing the viewer's attention to..." "...creating a sense of unity/cohesion..." "...implying a visual relationship between..." "...guiding the eye from X to Y..." "...communicating that [elements] are related..." </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All 6 Gestalt Principles</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Similarity</a:t>
            </a:r>
          </a:p>
          <a:p>
            <a:pPr lvl="1">
              <a:spcAft>
                <a:spcPts val="1000"/>
              </a:spcAft>
            </a:pPr>
            <a:r>
              <a:rPr sz="1800" b="0" i="0">
                <a:solidFill>
                  <a:srgbClr val="333333"/>
                </a:solidFill>
                <a:latin typeface="Calibri"/>
              </a:rPr>
              <a:t>Shared visual traits group elements</a:t>
            </a:r>
          </a:p>
          <a:p>
            <a:pPr lvl="1">
              <a:spcAft>
                <a:spcPts val="1000"/>
              </a:spcAft>
            </a:pPr>
            <a:r>
              <a:rPr sz="1800" b="0" i="0">
                <a:solidFill>
                  <a:srgbClr val="333333"/>
                </a:solidFill>
                <a:latin typeface="Calibri"/>
              </a:rPr>
              <a:t>⦿ ⦿</a:t>
            </a:r>
          </a:p>
          <a:p>
            <a:pPr lvl="1">
              <a:spcAft>
                <a:spcPts val="1000"/>
              </a:spcAft>
            </a:pPr>
            <a:r>
              <a:rPr sz="1800" b="0" i="0">
                <a:solidFill>
                  <a:srgbClr val="333333"/>
                </a:solidFill>
                <a:latin typeface="Calibri"/>
              </a:rPr>
              <a:t>Proximity</a:t>
            </a:r>
          </a:p>
          <a:p>
            <a:pPr lvl="1">
              <a:spcAft>
                <a:spcPts val="1000"/>
              </a:spcAft>
            </a:pPr>
            <a:r>
              <a:rPr sz="1800" b="0" i="0">
                <a:solidFill>
                  <a:srgbClr val="333333"/>
                </a:solidFill>
                <a:latin typeface="Calibri"/>
              </a:rPr>
              <a:t>Closeness implies relationship</a:t>
            </a:r>
          </a:p>
          <a:p>
            <a:pPr lvl="1">
              <a:spcAft>
                <a:spcPts val="1000"/>
              </a:spcAft>
            </a:pPr>
            <a:r>
              <a:rPr sz="1800" b="0" i="0">
                <a:solidFill>
                  <a:srgbClr val="333333"/>
                </a:solidFill>
                <a:latin typeface="Calibri"/>
              </a:rPr>
              <a:t>○ ◯</a:t>
            </a:r>
          </a:p>
          <a:p>
            <a:pPr lvl="1">
              <a:spcAft>
                <a:spcPts val="1000"/>
              </a:spcAft>
            </a:pPr>
            <a:r>
              <a:rPr sz="1800" b="0" i="0">
                <a:solidFill>
                  <a:srgbClr val="333333"/>
                </a:solidFill>
                <a:latin typeface="Calibri"/>
              </a:rPr>
              <a:t>Closure</a:t>
            </a:r>
          </a:p>
          <a:p>
            <a:pPr lvl="1">
              <a:spcAft>
                <a:spcPts val="1000"/>
              </a:spcAft>
            </a:pPr>
            <a:r>
              <a:rPr sz="1800" b="0" i="0">
                <a:solidFill>
                  <a:srgbClr val="333333"/>
                </a:solidFill>
                <a:latin typeface="Calibri"/>
              </a:rPr>
              <a:t>Mind fills in missing parts</a:t>
            </a:r>
          </a:p>
          <a:p>
            <a:pPr lvl="1">
              <a:spcAft>
                <a:spcPts val="1000"/>
              </a:spcAft>
            </a:pPr>
            <a:r>
              <a:rPr sz="1800" b="0" i="0">
                <a:solidFill>
                  <a:srgbClr val="333333"/>
                </a:solidFill>
                <a:latin typeface="Calibri"/>
              </a:rPr>
              <a:t>◐</a:t>
            </a:r>
          </a:p>
          <a:p>
            <a:pPr lvl="1">
              <a:spcAft>
                <a:spcPts val="1000"/>
              </a:spcAft>
            </a:pPr>
            <a:r>
              <a:rPr sz="1800" b="0" i="0">
                <a:solidFill>
                  <a:srgbClr val="333333"/>
                </a:solidFill>
                <a:latin typeface="Calibri"/>
              </a:rPr>
              <a:t>Figure-Ground</a:t>
            </a:r>
          </a:p>
          <a:p>
            <a:pPr lvl="1">
              <a:spcAft>
                <a:spcPts val="1000"/>
              </a:spcAft>
            </a:pPr>
            <a:r>
              <a:rPr sz="1800" b="0" i="0">
                <a:solidFill>
                  <a:srgbClr val="333333"/>
                </a:solidFill>
                <a:latin typeface="Calibri"/>
              </a:rPr>
              <a:t>Subject vs background separation</a:t>
            </a:r>
          </a:p>
          <a:p>
            <a:pPr lvl="1">
              <a:spcAft>
                <a:spcPts val="1000"/>
              </a:spcAft>
            </a:pPr>
            <a:r>
              <a:rPr sz="1800" b="0" i="0">
                <a:solidFill>
                  <a:srgbClr val="333333"/>
                </a:solidFill>
                <a:latin typeface="Calibri"/>
              </a:rPr>
              <a:t>↗</a:t>
            </a:r>
          </a:p>
          <a:p>
            <a:pPr lvl="1">
              <a:spcAft>
                <a:spcPts val="1000"/>
              </a:spcAft>
            </a:pPr>
            <a:r>
              <a:rPr sz="1800" b="0" i="0">
                <a:solidFill>
                  <a:srgbClr val="333333"/>
                </a:solidFill>
                <a:latin typeface="Calibri"/>
              </a:rPr>
              <a:t>Continuation</a:t>
            </a:r>
          </a:p>
          <a:p>
            <a:pPr lvl="1">
              <a:spcAft>
                <a:spcPts val="1000"/>
              </a:spcAft>
            </a:pPr>
            <a:r>
              <a:rPr sz="1800" b="0" i="0">
                <a:solidFill>
                  <a:srgbClr val="333333"/>
                </a:solidFill>
                <a:latin typeface="Calibri"/>
              </a:rPr>
              <a:t>Eye follows smooth paths</a:t>
            </a:r>
          </a:p>
          <a:p>
            <a:pPr lvl="1">
              <a:spcAft>
                <a:spcPts val="1000"/>
              </a:spcAft>
            </a:pPr>
            <a:r>
              <a:rPr sz="1800" b="0" i="0">
                <a:solidFill>
                  <a:srgbClr val="333333"/>
                </a:solidFill>
                <a:latin typeface="Calibri"/>
              </a:rPr>
              <a:t>⬛</a:t>
            </a:r>
          </a:p>
          <a:p>
            <a:pPr lvl="1">
              <a:spcAft>
                <a:spcPts val="1000"/>
              </a:spcAft>
            </a:pPr>
            <a:r>
              <a:rPr sz="1800" b="0" i="0">
                <a:solidFill>
                  <a:srgbClr val="333333"/>
                </a:solidFill>
                <a:latin typeface="Calibri"/>
              </a:rPr>
              <a:t>Area</a:t>
            </a:r>
          </a:p>
          <a:p>
            <a:pPr lvl="1">
              <a:spcAft>
                <a:spcPts val="1000"/>
              </a:spcAft>
            </a:pPr>
            <a:r>
              <a:rPr sz="1800" b="0" i="0">
                <a:solidFill>
                  <a:srgbClr val="333333"/>
                </a:solidFill>
                <a:latin typeface="Calibri"/>
              </a:rPr>
              <a:t>Smaller = figure, larger = ground</a:t>
            </a:r>
          </a:p>
          <a:p>
            <a:pPr>
              <a:spcAft>
                <a:spcPts val="1000"/>
              </a:spcAft>
            </a:pPr>
            <a:r>
              <a:rPr sz="2000" b="0" i="0">
                <a:solidFill>
                  <a:srgbClr val="333333"/>
                </a:solidFill>
                <a:latin typeface="Calibri"/>
              </a:rPr>
              <a:t> Remember: Similarity · Proximity · Closure · Figure-Ground · Continuation · Area VCAA 2024 VCE VCD — Unit 1 AOS 1 </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FFFFFF"/>
                </a:solidFill>
                <a:latin typeface="Cambria"/>
              </a:rPr>
              <a:t>Typography</a:t>
            </a:r>
          </a:p>
        </p:txBody>
      </p:sp>
      <p:sp>
        <p:nvSpPr>
          <p:cNvPr id="3" name="Text Placeholder 2"/>
          <p:cNvSpPr>
            <a:spLocks noGrp="1"/>
          </p:cNvSpPr>
          <p:nvPr>
            <p:ph type="body" idx="1"/>
          </p:nvPr>
        </p:nvSpPr>
        <p:spPr/>
        <p:txBody>
          <a:bodyPr/>
          <a:lstStyle/>
          <a:p>
            <a:r>
              <a:rPr sz="1800">
                <a:solidFill>
                  <a:srgbClr val="E5E5E5"/>
                </a:solidFill>
                <a:latin typeface="Calibri"/>
              </a:rPr>
              <a:t>AOS 1 · Understanding Design Thinking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Why Typography Matters</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Typography is the art and technique of arranging type to make written language </a:t>
            </a:r>
            <a:r>
              <a:rPr sz="1800" b="1" i="0">
                <a:solidFill>
                  <a:srgbClr val="1F3A5F"/>
                </a:solidFill>
                <a:latin typeface="Calibri"/>
              </a:rPr>
              <a:t>legible, readable, and visually appealing</a:t>
            </a:r>
            <a:r>
              <a:rPr sz="1800" b="0" i="0">
                <a:solidFill>
                  <a:srgbClr val="333333"/>
                </a:solidFill>
                <a:latin typeface="Calibri"/>
              </a:rPr>
              <a:t> when displayed.</a:t>
            </a:r>
          </a:p>
          <a:p>
            <a:pPr lvl="1">
              <a:spcAft>
                <a:spcPts val="1000"/>
              </a:spcAft>
            </a:pPr>
            <a:r>
              <a:rPr sz="1800" b="0" i="0">
                <a:solidFill>
                  <a:srgbClr val="333333"/>
                </a:solidFill>
                <a:latin typeface="Calibri"/>
              </a:rPr>
              <a:t>Type is not just letters — it carries </a:t>
            </a:r>
            <a:r>
              <a:rPr sz="1800" b="1" i="0">
                <a:solidFill>
                  <a:srgbClr val="1F3A5F"/>
                </a:solidFill>
                <a:latin typeface="Calibri"/>
              </a:rPr>
              <a:t>tone, personality, authority, and emotion</a:t>
            </a:r>
            <a:r>
              <a:rPr sz="1800" b="0" i="0">
                <a:solidFill>
                  <a:srgbClr val="333333"/>
                </a:solidFill>
                <a:latin typeface="Calibri"/>
              </a:rPr>
              <a:t>. The right typeface communicates before a single word is read.</a:t>
            </a:r>
          </a:p>
          <a:p>
            <a:pPr lvl="1">
              <a:spcAft>
                <a:spcPts val="1000"/>
              </a:spcAft>
            </a:pPr>
            <a:r>
              <a:rPr sz="1800" b="0" i="0">
                <a:solidFill>
                  <a:srgbClr val="333333"/>
                </a:solidFill>
                <a:latin typeface="Calibri"/>
              </a:rPr>
              <a:t> VCAA Requires You to Know Anatomy of type (parts of a letterform) 4 typeface classifications Typographic hierarchy Spacing: tracking, kerning, leading Type as a design element </a:t>
            </a:r>
          </a:p>
          <a:p>
            <a:pPr lvl="1">
              <a:spcAft>
                <a:spcPts val="1000"/>
              </a:spcAft>
            </a:pPr>
            <a:r>
              <a:rPr sz="1800" b="0" i="0">
                <a:solidFill>
                  <a:srgbClr val="333333"/>
                </a:solidFill>
                <a:latin typeface="Calibri"/>
              </a:rPr>
              <a:t>Aa</a:t>
            </a:r>
          </a:p>
          <a:p>
            <a:pPr lvl="1">
              <a:spcAft>
                <a:spcPts val="1000"/>
              </a:spcAft>
            </a:pPr>
            <a:r>
              <a:rPr sz="1800" b="0" i="0">
                <a:solidFill>
                  <a:srgbClr val="333333"/>
                </a:solidFill>
                <a:latin typeface="Calibri"/>
              </a:rPr>
              <a:t>Aa</a:t>
            </a:r>
          </a:p>
          <a:p>
            <a:pPr lvl="1">
              <a:spcAft>
                <a:spcPts val="1000"/>
              </a:spcAft>
            </a:pPr>
            <a:r>
              <a:rPr sz="1800" b="0" i="0">
                <a:solidFill>
                  <a:srgbClr val="333333"/>
                </a:solidFill>
                <a:latin typeface="Calibri"/>
              </a:rPr>
              <a:t>Aa</a:t>
            </a:r>
          </a:p>
          <a:p>
            <a:pPr lvl="1">
              <a:spcAft>
                <a:spcPts val="1000"/>
              </a:spcAft>
            </a:pPr>
            <a:r>
              <a:rPr sz="1800" b="0" i="0">
                <a:solidFill>
                  <a:srgbClr val="333333"/>
                </a:solidFill>
                <a:latin typeface="Calibri"/>
              </a:rPr>
              <a:t>Same letters, different personality</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Anatomy of a Letterform</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 Baseline Line letters sit on </a:t>
            </a:r>
          </a:p>
          <a:p>
            <a:pPr lvl="1">
              <a:spcAft>
                <a:spcPts val="1000"/>
              </a:spcAft>
            </a:pPr>
            <a:r>
              <a:rPr sz="1800" b="0" i="0">
                <a:solidFill>
                  <a:srgbClr val="333333"/>
                </a:solidFill>
                <a:latin typeface="Calibri"/>
              </a:rPr>
              <a:t> x-height Height of lowercase letter "x" </a:t>
            </a:r>
          </a:p>
          <a:p>
            <a:pPr lvl="1">
              <a:spcAft>
                <a:spcPts val="1000"/>
              </a:spcAft>
            </a:pPr>
            <a:r>
              <a:rPr sz="1800" b="0" i="0">
                <a:solidFill>
                  <a:srgbClr val="333333"/>
                </a:solidFill>
                <a:latin typeface="Calibri"/>
              </a:rPr>
              <a:t> Cap Height Height of uppercase letters </a:t>
            </a:r>
          </a:p>
          <a:p>
            <a:pPr lvl="1">
              <a:spcAft>
                <a:spcPts val="1000"/>
              </a:spcAft>
            </a:pPr>
            <a:r>
              <a:rPr sz="1800" b="0" i="0">
                <a:solidFill>
                  <a:srgbClr val="333333"/>
                </a:solidFill>
                <a:latin typeface="Calibri"/>
              </a:rPr>
              <a:t> Ascender Stroke rising above x-height </a:t>
            </a:r>
          </a:p>
          <a:p>
            <a:pPr lvl="1">
              <a:spcAft>
                <a:spcPts val="1000"/>
              </a:spcAft>
            </a:pPr>
            <a:r>
              <a:rPr sz="1800" b="0" i="0">
                <a:solidFill>
                  <a:srgbClr val="333333"/>
                </a:solidFill>
                <a:latin typeface="Calibri"/>
              </a:rPr>
              <a:t> Descender Stroke below baseline (p, g, y) </a:t>
            </a:r>
          </a:p>
          <a:p>
            <a:pPr lvl="1">
              <a:spcAft>
                <a:spcPts val="1000"/>
              </a:spcAft>
            </a:pPr>
            <a:r>
              <a:rPr sz="1800" b="0" i="0">
                <a:solidFill>
                  <a:srgbClr val="333333"/>
                </a:solidFill>
                <a:latin typeface="Calibri"/>
              </a:rPr>
              <a:t> Serif Small foot/stroke at letter end </a:t>
            </a:r>
          </a:p>
          <a:p>
            <a:pPr lvl="1">
              <a:spcAft>
                <a:spcPts val="1000"/>
              </a:spcAft>
            </a:pPr>
            <a:r>
              <a:rPr sz="1800" b="0" i="0">
                <a:solidFill>
                  <a:srgbClr val="333333"/>
                </a:solidFill>
                <a:latin typeface="Calibri"/>
              </a:rPr>
              <a:t> Counter Enclosed/partially enclosed space (inside o, e, d) </a:t>
            </a:r>
          </a:p>
          <a:p>
            <a:pPr lvl="1">
              <a:spcAft>
                <a:spcPts val="1000"/>
              </a:spcAft>
            </a:pPr>
            <a:r>
              <a:rPr sz="1800" b="0" i="0">
                <a:solidFill>
                  <a:srgbClr val="333333"/>
                </a:solidFill>
                <a:latin typeface="Calibri"/>
              </a:rPr>
              <a:t> Stem Main vertical/diagonal stroke </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4 Typeface Classifications</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Serif</a:t>
            </a:r>
          </a:p>
          <a:p>
            <a:pPr lvl="1">
              <a:spcAft>
                <a:spcPts val="1000"/>
              </a:spcAft>
            </a:pPr>
            <a:r>
              <a:rPr sz="1800" b="0" i="0">
                <a:solidFill>
                  <a:srgbClr val="333333"/>
                </a:solidFill>
                <a:latin typeface="Calibri"/>
              </a:rPr>
              <a:t>Serif</a:t>
            </a:r>
          </a:p>
          <a:p>
            <a:pPr lvl="1">
              <a:spcAft>
                <a:spcPts val="1000"/>
              </a:spcAft>
            </a:pPr>
            <a:r>
              <a:rPr sz="1800" b="0" i="0">
                <a:solidFill>
                  <a:srgbClr val="333333"/>
                </a:solidFill>
                <a:latin typeface="Calibri"/>
              </a:rPr>
              <a:t>Small strokes at letter ends. Traditional, authoritative, trustworthy.</a:t>
            </a:r>
          </a:p>
          <a:p>
            <a:pPr lvl="1">
              <a:spcAft>
                <a:spcPts val="1000"/>
              </a:spcAft>
            </a:pPr>
            <a:r>
              <a:rPr sz="1800" b="0" i="0">
                <a:solidFill>
                  <a:srgbClr val="333333"/>
                </a:solidFill>
                <a:latin typeface="Calibri"/>
              </a:rPr>
              <a:t>e.g. Times New Roman, Garamond, Georgia</a:t>
            </a:r>
          </a:p>
          <a:p>
            <a:pPr lvl="1">
              <a:spcAft>
                <a:spcPts val="1000"/>
              </a:spcAft>
            </a:pPr>
            <a:r>
              <a:rPr sz="1800" b="0" i="0">
                <a:solidFill>
                  <a:srgbClr val="333333"/>
                </a:solidFill>
                <a:latin typeface="Calibri"/>
              </a:rPr>
              <a:t>Use: formal documents, books, newspapers</a:t>
            </a:r>
          </a:p>
          <a:p>
            <a:pPr lvl="1">
              <a:spcAft>
                <a:spcPts val="1000"/>
              </a:spcAft>
            </a:pPr>
            <a:r>
              <a:rPr sz="1800" b="0" i="0">
                <a:solidFill>
                  <a:srgbClr val="333333"/>
                </a:solidFill>
                <a:latin typeface="Calibri"/>
              </a:rPr>
              <a:t>Sans</a:t>
            </a:r>
          </a:p>
          <a:p>
            <a:pPr lvl="1">
              <a:spcAft>
                <a:spcPts val="1000"/>
              </a:spcAft>
            </a:pPr>
            <a:r>
              <a:rPr sz="1800" b="0" i="0">
                <a:solidFill>
                  <a:srgbClr val="333333"/>
                </a:solidFill>
                <a:latin typeface="Calibri"/>
              </a:rPr>
              <a:t>Sans-Serif</a:t>
            </a:r>
          </a:p>
          <a:p>
            <a:pPr lvl="1">
              <a:spcAft>
                <a:spcPts val="1000"/>
              </a:spcAft>
            </a:pPr>
            <a:r>
              <a:rPr sz="1800" b="0" i="0">
                <a:solidFill>
                  <a:srgbClr val="333333"/>
                </a:solidFill>
                <a:latin typeface="Calibri"/>
              </a:rPr>
              <a:t>No strokes at ends. Modern, clean, accessible.</a:t>
            </a:r>
          </a:p>
          <a:p>
            <a:pPr lvl="1">
              <a:spcAft>
                <a:spcPts val="1000"/>
              </a:spcAft>
            </a:pPr>
            <a:r>
              <a:rPr sz="1800" b="0" i="0">
                <a:solidFill>
                  <a:srgbClr val="333333"/>
                </a:solidFill>
                <a:latin typeface="Calibri"/>
              </a:rPr>
              <a:t>e.g. Helvetica, Arial, Futura, Gill Sans</a:t>
            </a:r>
          </a:p>
          <a:p>
            <a:pPr lvl="1">
              <a:spcAft>
                <a:spcPts val="1000"/>
              </a:spcAft>
            </a:pPr>
            <a:r>
              <a:rPr sz="1800" b="0" i="0">
                <a:solidFill>
                  <a:srgbClr val="333333"/>
                </a:solidFill>
                <a:latin typeface="Calibri"/>
              </a:rPr>
              <a:t>Use: screens, signage, modern design</a:t>
            </a:r>
          </a:p>
          <a:p>
            <a:pPr lvl="1">
              <a:spcAft>
                <a:spcPts val="1000"/>
              </a:spcAft>
            </a:pPr>
            <a:r>
              <a:rPr sz="1800" b="0" i="0">
                <a:solidFill>
                  <a:srgbClr val="333333"/>
                </a:solidFill>
                <a:latin typeface="Calibri"/>
              </a:rPr>
              <a:t>Mono</a:t>
            </a:r>
          </a:p>
          <a:p>
            <a:pPr lvl="1">
              <a:spcAft>
                <a:spcPts val="1000"/>
              </a:spcAft>
            </a:pPr>
            <a:r>
              <a:rPr sz="1800" b="0" i="0">
                <a:solidFill>
                  <a:srgbClr val="333333"/>
                </a:solidFill>
                <a:latin typeface="Calibri"/>
              </a:rPr>
              <a:t>Monospaced</a:t>
            </a:r>
          </a:p>
          <a:p>
            <a:pPr lvl="1">
              <a:spcAft>
                <a:spcPts val="1000"/>
              </a:spcAft>
            </a:pPr>
            <a:r>
              <a:rPr sz="1800" b="0" i="0">
                <a:solidFill>
                  <a:srgbClr val="333333"/>
                </a:solidFill>
                <a:latin typeface="Calibri"/>
              </a:rPr>
              <a:t>Each character occupies equal width. Technical, precise.</a:t>
            </a:r>
          </a:p>
          <a:p>
            <a:pPr lvl="1">
              <a:spcAft>
                <a:spcPts val="1000"/>
              </a:spcAft>
            </a:pPr>
            <a:r>
              <a:rPr sz="1800" b="0" i="0">
                <a:solidFill>
                  <a:srgbClr val="333333"/>
                </a:solidFill>
                <a:latin typeface="Calibri"/>
              </a:rPr>
              <a:t>e.g. Courier, Space Mono, Consolas</a:t>
            </a:r>
          </a:p>
          <a:p>
            <a:pPr lvl="1">
              <a:spcAft>
                <a:spcPts val="1000"/>
              </a:spcAft>
            </a:pPr>
            <a:r>
              <a:rPr sz="1800" b="0" i="0">
                <a:solidFill>
                  <a:srgbClr val="333333"/>
                </a:solidFill>
                <a:latin typeface="Calibri"/>
              </a:rPr>
              <a:t>Use: code, forms, typewriter aesthetic</a:t>
            </a:r>
          </a:p>
          <a:p>
            <a:pPr lvl="1">
              <a:spcAft>
                <a:spcPts val="1000"/>
              </a:spcAft>
            </a:pPr>
            <a:r>
              <a:rPr sz="1800" b="0" i="0">
                <a:solidFill>
                  <a:srgbClr val="333333"/>
                </a:solidFill>
                <a:latin typeface="Calibri"/>
              </a:rPr>
              <a:t>Script</a:t>
            </a:r>
          </a:p>
          <a:p>
            <a:pPr lvl="1">
              <a:spcAft>
                <a:spcPts val="1000"/>
              </a:spcAft>
            </a:pPr>
            <a:r>
              <a:rPr sz="1800" b="0" i="0">
                <a:solidFill>
                  <a:srgbClr val="333333"/>
                </a:solidFill>
                <a:latin typeface="Calibri"/>
              </a:rPr>
              <a:t>Script / Decorative</a:t>
            </a:r>
          </a:p>
          <a:p>
            <a:pPr lvl="1">
              <a:spcAft>
                <a:spcPts val="1000"/>
              </a:spcAft>
            </a:pPr>
            <a:r>
              <a:rPr sz="1800" b="0" i="0">
                <a:solidFill>
                  <a:srgbClr val="333333"/>
                </a:solidFill>
                <a:latin typeface="Calibri"/>
              </a:rPr>
              <a:t>Mimics handwriting or has unique styling. Expressive, personal.</a:t>
            </a:r>
          </a:p>
          <a:p>
            <a:pPr lvl="1">
              <a:spcAft>
                <a:spcPts val="1000"/>
              </a:spcAft>
            </a:pPr>
            <a:r>
              <a:rPr sz="1800" b="0" i="0">
                <a:solidFill>
                  <a:srgbClr val="333333"/>
                </a:solidFill>
                <a:latin typeface="Calibri"/>
              </a:rPr>
              <a:t>e.g. Brush Script, Comic Sans, Display fonts</a:t>
            </a:r>
          </a:p>
          <a:p>
            <a:pPr lvl="1">
              <a:spcAft>
                <a:spcPts val="1000"/>
              </a:spcAft>
            </a:pPr>
            <a:r>
              <a:rPr sz="1800" b="0" i="0">
                <a:solidFill>
                  <a:srgbClr val="333333"/>
                </a:solidFill>
                <a:latin typeface="Calibri"/>
              </a:rPr>
              <a:t>Use: invitations, branding, titles (not body)</a:t>
            </a:r>
          </a:p>
          <a:p>
            <a:pPr>
              <a:spcAft>
                <a:spcPts val="1000"/>
              </a:spcAft>
            </a:pPr>
            <a:r>
              <a:rPr sz="2000" b="0" i="0">
                <a:solidFill>
                  <a:srgbClr val="333333"/>
                </a:solidFill>
                <a:latin typeface="Calibri"/>
              </a:rPr>
              <a:t> Legibility tip Serif and sans-serif are most legible for body text. Script/decorative should be used sparingly — for display headings only, never for long text passages. </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Typographic Hierarchy</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Typographic hierarchy is the arrangement of type to </a:t>
            </a:r>
            <a:r>
              <a:rPr sz="1800" b="1" i="0">
                <a:solidFill>
                  <a:srgbClr val="1F3A5F"/>
                </a:solidFill>
                <a:latin typeface="Calibri"/>
              </a:rPr>
              <a:t>guide the viewer's reading order</a:t>
            </a:r>
            <a:r>
              <a:rPr sz="1800" b="0" i="0">
                <a:solidFill>
                  <a:srgbClr val="333333"/>
                </a:solidFill>
                <a:latin typeface="Calibri"/>
              </a:rPr>
              <a:t> by signalling what is most important.</a:t>
            </a:r>
          </a:p>
          <a:p>
            <a:pPr lvl="1">
              <a:spcAft>
                <a:spcPts val="1000"/>
              </a:spcAft>
            </a:pPr>
            <a:r>
              <a:rPr sz="1800" b="0" i="0">
                <a:solidFill>
                  <a:srgbClr val="333333"/>
                </a:solidFill>
                <a:latin typeface="Calibri"/>
              </a:rPr>
              <a:t> Creating Hierarchy Through </a:t>
            </a:r>
            <a:r>
              <a:rPr sz="1800" b="1" i="0">
                <a:solidFill>
                  <a:srgbClr val="1F3A5F"/>
                </a:solidFill>
                <a:latin typeface="Calibri"/>
              </a:rPr>
              <a:t>Size</a:t>
            </a:r>
            <a:r>
              <a:rPr sz="1800" b="0" i="0">
                <a:solidFill>
                  <a:srgbClr val="333333"/>
                </a:solidFill>
                <a:latin typeface="Calibri"/>
              </a:rPr>
              <a:t> — larger = more important </a:t>
            </a:r>
            <a:r>
              <a:rPr sz="1800" b="1" i="0">
                <a:solidFill>
                  <a:srgbClr val="1F3A5F"/>
                </a:solidFill>
                <a:latin typeface="Calibri"/>
              </a:rPr>
              <a:t>Weight</a:t>
            </a:r>
            <a:r>
              <a:rPr sz="1800" b="0" i="0">
                <a:solidFill>
                  <a:srgbClr val="333333"/>
                </a:solidFill>
                <a:latin typeface="Calibri"/>
              </a:rPr>
              <a:t> — bold draws the eye first </a:t>
            </a:r>
            <a:r>
              <a:rPr sz="1800" b="1" i="0">
                <a:solidFill>
                  <a:srgbClr val="1F3A5F"/>
                </a:solidFill>
                <a:latin typeface="Calibri"/>
              </a:rPr>
              <a:t>Colour/Contrast</a:t>
            </a:r>
            <a:r>
              <a:rPr sz="1800" b="0" i="0">
                <a:solidFill>
                  <a:srgbClr val="333333"/>
                </a:solidFill>
                <a:latin typeface="Calibri"/>
              </a:rPr>
              <a:t> — saturated vs muted </a:t>
            </a:r>
            <a:r>
              <a:rPr sz="1800" b="1" i="0">
                <a:solidFill>
                  <a:srgbClr val="1F3A5F"/>
                </a:solidFill>
                <a:latin typeface="Calibri"/>
              </a:rPr>
              <a:t>Position</a:t>
            </a:r>
            <a:r>
              <a:rPr sz="1800" b="0" i="0">
                <a:solidFill>
                  <a:srgbClr val="333333"/>
                </a:solidFill>
                <a:latin typeface="Calibri"/>
              </a:rPr>
              <a:t> — top/centre = primary </a:t>
            </a:r>
            <a:r>
              <a:rPr sz="1800" b="1" i="0">
                <a:solidFill>
                  <a:srgbClr val="1F3A5F"/>
                </a:solidFill>
                <a:latin typeface="Calibri"/>
              </a:rPr>
              <a:t>Typeface</a:t>
            </a:r>
            <a:r>
              <a:rPr sz="1800" b="0" i="0">
                <a:solidFill>
                  <a:srgbClr val="333333"/>
                </a:solidFill>
                <a:latin typeface="Calibri"/>
              </a:rPr>
              <a:t> — serif heading + sans body </a:t>
            </a:r>
            <a:r>
              <a:rPr sz="1800" b="1" i="0">
                <a:solidFill>
                  <a:srgbClr val="1F3A5F"/>
                </a:solidFill>
                <a:latin typeface="Calibri"/>
              </a:rPr>
              <a:t>Spacing</a:t>
            </a:r>
            <a:r>
              <a:rPr sz="1800" b="0" i="0">
                <a:solidFill>
                  <a:srgbClr val="333333"/>
                </a:solidFill>
                <a:latin typeface="Calibri"/>
              </a:rPr>
              <a:t> — isolation = importance </a:t>
            </a:r>
          </a:p>
          <a:p>
            <a:pPr lvl="1">
              <a:spcAft>
                <a:spcPts val="1000"/>
              </a:spcAft>
            </a:pPr>
            <a:r>
              <a:rPr sz="1800" b="0" i="0">
                <a:solidFill>
                  <a:srgbClr val="333333"/>
                </a:solidFill>
                <a:latin typeface="Calibri"/>
              </a:rPr>
              <a:t>Exam Sentence Starter</a:t>
            </a:r>
          </a:p>
          <a:p>
            <a:pPr lvl="1">
              <a:spcAft>
                <a:spcPts val="1000"/>
              </a:spcAft>
            </a:pPr>
            <a:r>
              <a:rPr sz="1800" b="0" i="0">
                <a:solidFill>
                  <a:srgbClr val="333333"/>
                </a:solidFill>
                <a:latin typeface="Calibri"/>
              </a:rPr>
              <a:t>"Typographic hierarchy is established through the use of [larger/bolder/coloured] type for the [heading], which signals to the viewer that this information has greater priority than the [body text/caption]."</a:t>
            </a:r>
          </a:p>
          <a:p>
            <a:pPr lvl="1">
              <a:spcAft>
                <a:spcPts val="1000"/>
              </a:spcAft>
            </a:pPr>
            <a:r>
              <a:rPr sz="1800" b="0" i="0">
                <a:solidFill>
                  <a:srgbClr val="333333"/>
                </a:solidFill>
                <a:latin typeface="Calibri"/>
              </a:rPr>
              <a:t>HEADLINE</a:t>
            </a:r>
          </a:p>
          <a:p>
            <a:pPr lvl="1">
              <a:spcAft>
                <a:spcPts val="1000"/>
              </a:spcAft>
            </a:pPr>
            <a:r>
              <a:rPr sz="1800" b="0" i="0">
                <a:solidFill>
                  <a:srgbClr val="333333"/>
                </a:solidFill>
                <a:latin typeface="Calibri"/>
              </a:rPr>
              <a:t>Subheading establishes context</a:t>
            </a:r>
          </a:p>
          <a:p>
            <a:pPr lvl="1">
              <a:spcAft>
                <a:spcPts val="1000"/>
              </a:spcAft>
            </a:pPr>
            <a:r>
              <a:rPr sz="1800" b="0" i="0">
                <a:solidFill>
                  <a:srgbClr val="333333"/>
                </a:solidFill>
                <a:latin typeface="Calibri"/>
              </a:rPr>
              <a:t>Body text provides detailed information for the reader. It is smaller and lower contrast so the eye processes it after the headline and subheading have established context.</a:t>
            </a:r>
          </a:p>
          <a:p>
            <a:pPr lvl="1">
              <a:spcAft>
                <a:spcPts val="1000"/>
              </a:spcAft>
            </a:pPr>
            <a:r>
              <a:rPr sz="1800" b="0" i="0">
                <a:solidFill>
                  <a:srgbClr val="333333"/>
                </a:solidFill>
                <a:latin typeface="Calibri"/>
              </a:rPr>
              <a:t>Caption — smallest, lowest priority</a:t>
            </a:r>
          </a:p>
          <a:p>
            <a:pPr lvl="1">
              <a:spcAft>
                <a:spcPts val="1000"/>
              </a:spcAft>
            </a:pPr>
            <a:r>
              <a:rPr sz="1800" b="0" i="0">
                <a:solidFill>
                  <a:srgbClr val="333333"/>
                </a:solidFill>
                <a:latin typeface="Calibri"/>
              </a:rPr>
              <a:t> ① Headline → ② Sub → ③ Body → ④ Caption </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Spacing: Kerning, Tracking, Leading</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Kerning</a:t>
            </a:r>
          </a:p>
          <a:p>
            <a:pPr lvl="1">
              <a:spcAft>
                <a:spcPts val="1000"/>
              </a:spcAft>
            </a:pPr>
            <a:r>
              <a:rPr sz="1800" b="0" i="0">
                <a:solidFill>
                  <a:srgbClr val="333333"/>
                </a:solidFill>
                <a:latin typeface="Calibri"/>
              </a:rPr>
              <a:t>AV</a:t>
            </a:r>
          </a:p>
          <a:p>
            <a:pPr lvl="1">
              <a:spcAft>
                <a:spcPts val="1000"/>
              </a:spcAft>
            </a:pPr>
            <a:r>
              <a:rPr sz="1800" b="0" i="0">
                <a:solidFill>
                  <a:srgbClr val="333333"/>
                </a:solidFill>
                <a:latin typeface="Calibri"/>
              </a:rPr>
              <a:t>AV</a:t>
            </a:r>
          </a:p>
          <a:p>
            <a:pPr lvl="1">
              <a:spcAft>
                <a:spcPts val="1000"/>
              </a:spcAft>
            </a:pPr>
            <a:r>
              <a:rPr sz="1800" b="0" i="0">
                <a:solidFill>
                  <a:srgbClr val="333333"/>
                </a:solidFill>
                <a:latin typeface="Calibri"/>
              </a:rPr>
              <a:t>Adjustment of space </a:t>
            </a:r>
            <a:r>
              <a:rPr sz="1800" b="1" i="0">
                <a:solidFill>
                  <a:srgbClr val="1F3A5F"/>
                </a:solidFill>
                <a:latin typeface="Calibri"/>
              </a:rPr>
              <a:t>between two specific characters</a:t>
            </a:r>
            <a:r>
              <a:rPr sz="1800" b="0" i="0">
                <a:solidFill>
                  <a:srgbClr val="333333"/>
                </a:solidFill>
                <a:latin typeface="Calibri"/>
              </a:rPr>
              <a:t>. Corrects optically uneven pairs like AV, WA, To, Ty.</a:t>
            </a:r>
          </a:p>
          <a:p>
            <a:pPr lvl="1">
              <a:spcAft>
                <a:spcPts val="1000"/>
              </a:spcAft>
            </a:pPr>
            <a:r>
              <a:rPr sz="1800" b="0" i="0">
                <a:solidFill>
                  <a:srgbClr val="333333"/>
                </a:solidFill>
                <a:latin typeface="Calibri"/>
              </a:rPr>
              <a:t>Without kerning: A V looks wrong With kerning: AV looks right</a:t>
            </a:r>
          </a:p>
          <a:p>
            <a:pPr lvl="1">
              <a:spcAft>
                <a:spcPts val="1000"/>
              </a:spcAft>
            </a:pPr>
            <a:r>
              <a:rPr sz="1800" b="0" i="0">
                <a:solidFill>
                  <a:srgbClr val="333333"/>
                </a:solidFill>
                <a:latin typeface="Calibri"/>
              </a:rPr>
              <a:t>Tracking</a:t>
            </a:r>
          </a:p>
          <a:p>
            <a:pPr lvl="1">
              <a:spcAft>
                <a:spcPts val="1000"/>
              </a:spcAft>
            </a:pPr>
            <a:r>
              <a:rPr sz="1800" b="0" i="0">
                <a:solidFill>
                  <a:srgbClr val="333333"/>
                </a:solidFill>
                <a:latin typeface="Calibri"/>
              </a:rPr>
              <a:t>TRACKING</a:t>
            </a:r>
          </a:p>
          <a:p>
            <a:pPr lvl="1">
              <a:spcAft>
                <a:spcPts val="1000"/>
              </a:spcAft>
            </a:pPr>
            <a:r>
              <a:rPr sz="1800" b="0" i="0">
                <a:solidFill>
                  <a:srgbClr val="333333"/>
                </a:solidFill>
                <a:latin typeface="Calibri"/>
              </a:rPr>
              <a:t>TRACKING</a:t>
            </a:r>
          </a:p>
          <a:p>
            <a:pPr lvl="1">
              <a:spcAft>
                <a:spcPts val="1000"/>
              </a:spcAft>
            </a:pPr>
            <a:r>
              <a:rPr sz="1800" b="0" i="0">
                <a:solidFill>
                  <a:srgbClr val="333333"/>
                </a:solidFill>
                <a:latin typeface="Calibri"/>
              </a:rPr>
              <a:t>Adjustment of space </a:t>
            </a:r>
            <a:r>
              <a:rPr sz="1800" b="1" i="0">
                <a:solidFill>
                  <a:srgbClr val="1F3A5F"/>
                </a:solidFill>
                <a:latin typeface="Calibri"/>
              </a:rPr>
              <a:t>across a range of characters</a:t>
            </a:r>
            <a:r>
              <a:rPr sz="1800" b="0" i="0">
                <a:solidFill>
                  <a:srgbClr val="333333"/>
                </a:solidFill>
                <a:latin typeface="Calibri"/>
              </a:rPr>
              <a:t> (whole word, line or paragraph). Affects the overall density and mood of text.</a:t>
            </a:r>
          </a:p>
          <a:p>
            <a:pPr lvl="1">
              <a:spcAft>
                <a:spcPts val="1000"/>
              </a:spcAft>
            </a:pPr>
            <a:r>
              <a:rPr sz="1800" b="0" i="0">
                <a:solidFill>
                  <a:srgbClr val="333333"/>
                </a:solidFill>
                <a:latin typeface="Calibri"/>
              </a:rPr>
              <a:t>Loose tracking → airy, luxury feel Tight tracking → dense, urgent feel</a:t>
            </a:r>
          </a:p>
          <a:p>
            <a:pPr lvl="1">
              <a:spcAft>
                <a:spcPts val="1000"/>
              </a:spcAft>
            </a:pPr>
            <a:r>
              <a:rPr sz="1800" b="0" i="0">
                <a:solidFill>
                  <a:srgbClr val="333333"/>
                </a:solidFill>
                <a:latin typeface="Calibri"/>
              </a:rPr>
              <a:t>Leading</a:t>
            </a:r>
          </a:p>
          <a:p>
            <a:pPr lvl="1">
              <a:spcAft>
                <a:spcPts val="1000"/>
              </a:spcAft>
            </a:pPr>
            <a:r>
              <a:rPr sz="1800" b="0" i="0">
                <a:solidFill>
                  <a:srgbClr val="333333"/>
                </a:solidFill>
                <a:latin typeface="Calibri"/>
              </a:rPr>
              <a:t>Line one tight</a:t>
            </a:r>
          </a:p>
          <a:p>
            <a:pPr lvl="1">
              <a:spcAft>
                <a:spcPts val="1000"/>
              </a:spcAft>
            </a:pPr>
            <a:r>
              <a:rPr sz="1800" b="0" i="0">
                <a:solidFill>
                  <a:srgbClr val="333333"/>
                </a:solidFill>
                <a:latin typeface="Calibri"/>
              </a:rPr>
              <a:t>Line two tight</a:t>
            </a:r>
          </a:p>
          <a:p>
            <a:pPr lvl="1">
              <a:spcAft>
                <a:spcPts val="1000"/>
              </a:spcAft>
            </a:pPr>
            <a:r>
              <a:rPr sz="1800" b="0" i="0">
                <a:solidFill>
                  <a:srgbClr val="333333"/>
                </a:solidFill>
                <a:latin typeface="Calibri"/>
              </a:rPr>
              <a:t>Line one loose</a:t>
            </a:r>
          </a:p>
          <a:p>
            <a:pPr lvl="1">
              <a:spcAft>
                <a:spcPts val="1000"/>
              </a:spcAft>
            </a:pPr>
            <a:r>
              <a:rPr sz="1800" b="0" i="0">
                <a:solidFill>
                  <a:srgbClr val="333333"/>
                </a:solidFill>
                <a:latin typeface="Calibri"/>
              </a:rPr>
              <a:t>Line two loose</a:t>
            </a:r>
          </a:p>
          <a:p>
            <a:pPr lvl="1">
              <a:spcAft>
                <a:spcPts val="1000"/>
              </a:spcAft>
            </a:pPr>
            <a:r>
              <a:rPr sz="1800" b="0" i="0">
                <a:solidFill>
                  <a:srgbClr val="333333"/>
                </a:solidFill>
                <a:latin typeface="Calibri"/>
              </a:rPr>
              <a:t>The vertical space </a:t>
            </a:r>
            <a:r>
              <a:rPr sz="1800" b="1" i="0">
                <a:solidFill>
                  <a:srgbClr val="1F3A5F"/>
                </a:solidFill>
                <a:latin typeface="Calibri"/>
              </a:rPr>
              <a:t>between lines of text</a:t>
            </a:r>
            <a:r>
              <a:rPr sz="1800" b="0" i="0">
                <a:solidFill>
                  <a:srgbClr val="333333"/>
                </a:solidFill>
                <a:latin typeface="Calibri"/>
              </a:rPr>
              <a:t>. Named after the lead strips used in manual typesetting. Affects readability of body text.</a:t>
            </a:r>
          </a:p>
          <a:p>
            <a:pPr>
              <a:spcAft>
                <a:spcPts val="1000"/>
              </a:spcAft>
            </a:pPr>
            <a:r>
              <a:rPr sz="2000" b="0" i="0">
                <a:solidFill>
                  <a:srgbClr val="333333"/>
                </a:solidFill>
                <a:latin typeface="Calibri"/>
              </a:rPr>
              <a:t> Memory aid </a:t>
            </a:r>
            <a:r>
              <a:rPr sz="2000" b="1" i="0">
                <a:solidFill>
                  <a:srgbClr val="1F3A5F"/>
                </a:solidFill>
                <a:latin typeface="Calibri"/>
              </a:rPr>
              <a:t>K</a:t>
            </a:r>
            <a:r>
              <a:rPr sz="2000" b="0" i="0">
                <a:solidFill>
                  <a:srgbClr val="333333"/>
                </a:solidFill>
                <a:latin typeface="Calibri"/>
              </a:rPr>
              <a:t> erning = two characters · </a:t>
            </a:r>
            <a:r>
              <a:rPr sz="2000" b="1" i="0">
                <a:solidFill>
                  <a:srgbClr val="1F3A5F"/>
                </a:solidFill>
                <a:latin typeface="Calibri"/>
              </a:rPr>
              <a:t>T</a:t>
            </a:r>
            <a:r>
              <a:rPr sz="2000" b="0" i="0">
                <a:solidFill>
                  <a:srgbClr val="333333"/>
                </a:solidFill>
                <a:latin typeface="Calibri"/>
              </a:rPr>
              <a:t> racking = a range of text · </a:t>
            </a:r>
            <a:r>
              <a:rPr sz="2000" b="1" i="0">
                <a:solidFill>
                  <a:srgbClr val="1F3A5F"/>
                </a:solidFill>
                <a:latin typeface="Calibri"/>
              </a:rPr>
              <a:t>L</a:t>
            </a:r>
            <a:r>
              <a:rPr sz="2000" b="0" i="0">
                <a:solidFill>
                  <a:srgbClr val="333333"/>
                </a:solidFill>
                <a:latin typeface="Calibri"/>
              </a:rPr>
              <a:t> eading = line spacing (vertical) </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Type as a Design Element</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In VCD, type is not just content — it is a </a:t>
            </a:r>
            <a:r>
              <a:rPr sz="1800" b="1" i="0">
                <a:solidFill>
                  <a:srgbClr val="1F3A5F"/>
                </a:solidFill>
                <a:latin typeface="Calibri"/>
              </a:rPr>
              <a:t>visual element</a:t>
            </a:r>
            <a:r>
              <a:rPr sz="1800" b="0" i="0">
                <a:solidFill>
                  <a:srgbClr val="333333"/>
                </a:solidFill>
                <a:latin typeface="Calibri"/>
              </a:rPr>
              <a:t> that contributes line, shape, tone, texture, and rhythm to a design.</a:t>
            </a:r>
          </a:p>
          <a:p>
            <a:pPr lvl="1">
              <a:spcAft>
                <a:spcPts val="1000"/>
              </a:spcAft>
            </a:pPr>
            <a:r>
              <a:rPr sz="1800" b="0" i="0">
                <a:solidFill>
                  <a:srgbClr val="333333"/>
                </a:solidFill>
                <a:latin typeface="Calibri"/>
              </a:rPr>
              <a:t> Type Contributes to Elements </a:t>
            </a:r>
            <a:r>
              <a:rPr sz="1800" b="1" i="0">
                <a:solidFill>
                  <a:srgbClr val="1F3A5F"/>
                </a:solidFill>
                <a:latin typeface="Calibri"/>
              </a:rPr>
              <a:t>Line</a:t>
            </a:r>
            <a:r>
              <a:rPr sz="1800" b="0" i="0">
                <a:solidFill>
                  <a:srgbClr val="333333"/>
                </a:solidFill>
                <a:latin typeface="Calibri"/>
              </a:rPr>
              <a:t> — strokes and stems of letterforms </a:t>
            </a:r>
            <a:r>
              <a:rPr sz="1800" b="1" i="0">
                <a:solidFill>
                  <a:srgbClr val="1F3A5F"/>
                </a:solidFill>
                <a:latin typeface="Calibri"/>
              </a:rPr>
              <a:t>Shape</a:t>
            </a:r>
            <a:r>
              <a:rPr sz="1800" b="0" i="0">
                <a:solidFill>
                  <a:srgbClr val="333333"/>
                </a:solidFill>
                <a:latin typeface="Calibri"/>
              </a:rPr>
              <a:t> — the silhouette of type blocks </a:t>
            </a:r>
            <a:r>
              <a:rPr sz="1800" b="1" i="0">
                <a:solidFill>
                  <a:srgbClr val="1F3A5F"/>
                </a:solidFill>
                <a:latin typeface="Calibri"/>
              </a:rPr>
              <a:t>Tone</a:t>
            </a:r>
            <a:r>
              <a:rPr sz="1800" b="0" i="0">
                <a:solidFill>
                  <a:srgbClr val="333333"/>
                </a:solidFill>
                <a:latin typeface="Calibri"/>
              </a:rPr>
              <a:t> — weight variations (light to black) </a:t>
            </a:r>
            <a:r>
              <a:rPr sz="1800" b="1" i="0">
                <a:solidFill>
                  <a:srgbClr val="1F3A5F"/>
                </a:solidFill>
                <a:latin typeface="Calibri"/>
              </a:rPr>
              <a:t>Texture</a:t>
            </a:r>
            <a:r>
              <a:rPr sz="1800" b="0" i="0">
                <a:solidFill>
                  <a:srgbClr val="333333"/>
                </a:solidFill>
                <a:latin typeface="Calibri"/>
              </a:rPr>
              <a:t> — body text creates a tonal texture </a:t>
            </a:r>
            <a:r>
              <a:rPr sz="1800" b="1" i="0">
                <a:solidFill>
                  <a:srgbClr val="1F3A5F"/>
                </a:solidFill>
                <a:latin typeface="Calibri"/>
              </a:rPr>
              <a:t>Point</a:t>
            </a:r>
            <a:r>
              <a:rPr sz="1800" b="0" i="0">
                <a:solidFill>
                  <a:srgbClr val="333333"/>
                </a:solidFill>
                <a:latin typeface="Calibri"/>
              </a:rPr>
              <a:t> — a single character as a focal mark </a:t>
            </a:r>
          </a:p>
          <a:p>
            <a:pPr lvl="1">
              <a:spcAft>
                <a:spcPts val="1000"/>
              </a:spcAft>
            </a:pPr>
            <a:r>
              <a:rPr sz="1800" b="0" i="0">
                <a:solidFill>
                  <a:srgbClr val="333333"/>
                </a:solidFill>
                <a:latin typeface="Calibri"/>
              </a:rPr>
              <a:t>Exam Sentence Starter</a:t>
            </a:r>
          </a:p>
          <a:p>
            <a:pPr lvl="1">
              <a:spcAft>
                <a:spcPts val="1000"/>
              </a:spcAft>
            </a:pPr>
            <a:r>
              <a:rPr sz="1800" b="0" i="0">
                <a:solidFill>
                  <a:srgbClr val="333333"/>
                </a:solidFill>
                <a:latin typeface="Calibri"/>
              </a:rPr>
              <a:t>"The [serif/sans-serif] typeface used for the heading contributes [visual weight/authority/elegance] to the design, while the [classification] body text ensures legibility and creates a [tonal texture/visual rhythm]."</a:t>
            </a:r>
          </a:p>
          <a:p>
            <a:pPr lvl="1">
              <a:spcAft>
                <a:spcPts val="1000"/>
              </a:spcAft>
            </a:pPr>
            <a:r>
              <a:rPr sz="1800" b="0" i="0">
                <a:solidFill>
                  <a:srgbClr val="333333"/>
                </a:solidFill>
                <a:latin typeface="Calibri"/>
              </a:rPr>
              <a:t>Aa Bb Cc</a:t>
            </a:r>
          </a:p>
          <a:p>
            <a:pPr lvl="1">
              <a:spcAft>
                <a:spcPts val="1000"/>
              </a:spcAft>
            </a:pPr>
            <a:r>
              <a:rPr sz="1800" b="0" i="0">
                <a:solidFill>
                  <a:srgbClr val="333333"/>
                </a:solidFill>
                <a:latin typeface="Calibri"/>
              </a:rPr>
              <a:t>Lorem ipsum dolor sit amet consectetur adipiscing elit sed do eiusmod tempor incididunt ut labore et dolore magna aliqua ut enim ad minim veniam quis nostrud exercitation ullamco laboris nisi aliquip ex ea commodo consequat</a:t>
            </a:r>
          </a:p>
          <a:p>
            <a:pPr lvl="1">
              <a:spcAft>
                <a:spcPts val="1000"/>
              </a:spcAft>
            </a:pPr>
            <a:r>
              <a:rPr sz="1800" b="0" i="0">
                <a:solidFill>
                  <a:srgbClr val="333333"/>
                </a:solidFill>
                <a:latin typeface="Calibri"/>
              </a:rPr>
              <a:t>↑ Body text creates visual texture through repeated letterforms</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Choosing the Right Typeface</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 Serif — When to use Formal, traditional, authoritative tone Print body text (easier to read in print) Law firms, banks, newspapers, books When you want to convey heritage or trust </a:t>
            </a:r>
          </a:p>
          <a:p>
            <a:pPr lvl="1">
              <a:spcAft>
                <a:spcPts val="1000"/>
              </a:spcAft>
            </a:pPr>
            <a:r>
              <a:rPr sz="1800" b="0" i="0">
                <a:solidFill>
                  <a:srgbClr val="333333"/>
                </a:solidFill>
                <a:latin typeface="Calibri"/>
              </a:rPr>
              <a:t> Sans-Serif — When to use Modern, clean, accessible designs Screen interfaces and apps Signage and wayfinding Tech companies, startups, modern brands </a:t>
            </a:r>
          </a:p>
          <a:p>
            <a:pPr lvl="1">
              <a:spcAft>
                <a:spcPts val="1000"/>
              </a:spcAft>
            </a:pPr>
            <a:r>
              <a:rPr sz="1800" b="0" i="0">
                <a:solidFill>
                  <a:srgbClr val="333333"/>
                </a:solidFill>
                <a:latin typeface="Calibri"/>
              </a:rPr>
              <a:t> Script/Decorative — Caution Headlines and display only — never body text Invitations, greeting cards, branding Can feel unprofessional if overused Avoid for any text under 14pt </a:t>
            </a:r>
          </a:p>
          <a:p>
            <a:pPr lvl="1">
              <a:spcAft>
                <a:spcPts val="1000"/>
              </a:spcAft>
            </a:pPr>
            <a:r>
              <a:rPr sz="1800" b="0" i="0">
                <a:solidFill>
                  <a:srgbClr val="333333"/>
                </a:solidFill>
                <a:latin typeface="Calibri"/>
              </a:rPr>
              <a:t>The Melbourne Chronicle</a:t>
            </a:r>
          </a:p>
          <a:p>
            <a:pPr lvl="1">
              <a:spcAft>
                <a:spcPts val="1000"/>
              </a:spcAft>
            </a:pPr>
            <a:r>
              <a:rPr sz="1800" b="0" i="0">
                <a:solidFill>
                  <a:srgbClr val="333333"/>
                </a:solidFill>
                <a:latin typeface="Calibri"/>
              </a:rPr>
              <a:t>Serif = newspaper/authoritative</a:t>
            </a:r>
          </a:p>
          <a:p>
            <a:pPr lvl="1">
              <a:spcAft>
                <a:spcPts val="1000"/>
              </a:spcAft>
            </a:pPr>
            <a:r>
              <a:rPr sz="1800" b="0" i="0">
                <a:solidFill>
                  <a:srgbClr val="333333"/>
                </a:solidFill>
                <a:latin typeface="Calibri"/>
              </a:rPr>
              <a:t>TechFlow App</a:t>
            </a:r>
          </a:p>
          <a:p>
            <a:pPr lvl="1">
              <a:spcAft>
                <a:spcPts val="1000"/>
              </a:spcAft>
            </a:pPr>
            <a:r>
              <a:rPr sz="1800" b="0" i="0">
                <a:solidFill>
                  <a:srgbClr val="333333"/>
                </a:solidFill>
                <a:latin typeface="Calibri"/>
              </a:rPr>
              <a:t>Sans-serif = modern/digital</a:t>
            </a:r>
          </a:p>
          <a:p>
            <a:pPr lvl="1">
              <a:spcAft>
                <a:spcPts val="1000"/>
              </a:spcAft>
            </a:pPr>
            <a:r>
              <a:rPr sz="1800" b="0" i="0">
                <a:solidFill>
                  <a:srgbClr val="333333"/>
                </a:solidFill>
                <a:latin typeface="Calibri"/>
              </a:rPr>
              <a:t>Wedding Invitation</a:t>
            </a:r>
          </a:p>
          <a:p>
            <a:pPr lvl="1">
              <a:spcAft>
                <a:spcPts val="1000"/>
              </a:spcAft>
            </a:pPr>
            <a:r>
              <a:rPr sz="1800" b="0" i="0">
                <a:solidFill>
                  <a:srgbClr val="333333"/>
                </a:solidFill>
                <a:latin typeface="Calibri"/>
              </a:rPr>
              <a:t>Script = personal/formal occasion</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Type and the Grid</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A typographic grid is an invisible framework of </a:t>
            </a:r>
            <a:r>
              <a:rPr sz="1800" b="1" i="0">
                <a:solidFill>
                  <a:srgbClr val="1F3A5F"/>
                </a:solidFill>
                <a:latin typeface="Calibri"/>
              </a:rPr>
              <a:t>columns, rows, and margins</a:t>
            </a:r>
            <a:r>
              <a:rPr sz="1800" b="0" i="0">
                <a:solidFill>
                  <a:srgbClr val="333333"/>
                </a:solidFill>
                <a:latin typeface="Calibri"/>
              </a:rPr>
              <a:t> that organises type and images on a page.</a:t>
            </a:r>
          </a:p>
          <a:p>
            <a:pPr lvl="1">
              <a:spcAft>
                <a:spcPts val="1000"/>
              </a:spcAft>
            </a:pPr>
            <a:r>
              <a:rPr sz="1800" b="0" i="0">
                <a:solidFill>
                  <a:srgbClr val="333333"/>
                </a:solidFill>
                <a:latin typeface="Calibri"/>
              </a:rPr>
              <a:t> Grid Components </a:t>
            </a:r>
            <a:r>
              <a:rPr sz="1800" b="1" i="0">
                <a:solidFill>
                  <a:srgbClr val="1F3A5F"/>
                </a:solidFill>
                <a:latin typeface="Calibri"/>
              </a:rPr>
              <a:t>Margins</a:t>
            </a:r>
            <a:r>
              <a:rPr sz="1800" b="0" i="0">
                <a:solidFill>
                  <a:srgbClr val="333333"/>
                </a:solidFill>
                <a:latin typeface="Calibri"/>
              </a:rPr>
              <a:t> — blank space around the page edge </a:t>
            </a:r>
            <a:r>
              <a:rPr sz="1800" b="1" i="0">
                <a:solidFill>
                  <a:srgbClr val="1F3A5F"/>
                </a:solidFill>
                <a:latin typeface="Calibri"/>
              </a:rPr>
              <a:t>Columns</a:t>
            </a:r>
            <a:r>
              <a:rPr sz="1800" b="0" i="0">
                <a:solidFill>
                  <a:srgbClr val="333333"/>
                </a:solidFill>
                <a:latin typeface="Calibri"/>
              </a:rPr>
              <a:t> — vertical divisions for text </a:t>
            </a:r>
            <a:r>
              <a:rPr sz="1800" b="1" i="0">
                <a:solidFill>
                  <a:srgbClr val="1F3A5F"/>
                </a:solidFill>
                <a:latin typeface="Calibri"/>
              </a:rPr>
              <a:t>Gutters</a:t>
            </a:r>
            <a:r>
              <a:rPr sz="1800" b="0" i="0">
                <a:solidFill>
                  <a:srgbClr val="333333"/>
                </a:solidFill>
                <a:latin typeface="Calibri"/>
              </a:rPr>
              <a:t> — space between columns </a:t>
            </a:r>
            <a:r>
              <a:rPr sz="1800" b="1" i="0">
                <a:solidFill>
                  <a:srgbClr val="1F3A5F"/>
                </a:solidFill>
                <a:latin typeface="Calibri"/>
              </a:rPr>
              <a:t>Baseline grid</a:t>
            </a:r>
            <a:r>
              <a:rPr sz="1800" b="0" i="0">
                <a:solidFill>
                  <a:srgbClr val="333333"/>
                </a:solidFill>
                <a:latin typeface="Calibri"/>
              </a:rPr>
              <a:t> — horizontal lines for text alignment </a:t>
            </a:r>
            <a:r>
              <a:rPr sz="1800" b="1" i="0">
                <a:solidFill>
                  <a:srgbClr val="1F3A5F"/>
                </a:solidFill>
                <a:latin typeface="Calibri"/>
              </a:rPr>
              <a:t>Flowlines</a:t>
            </a:r>
            <a:r>
              <a:rPr sz="1800" b="0" i="0">
                <a:solidFill>
                  <a:srgbClr val="333333"/>
                </a:solidFill>
                <a:latin typeface="Calibri"/>
              </a:rPr>
              <a:t> — horizontal alignment guides </a:t>
            </a:r>
          </a:p>
          <a:p>
            <a:pPr lvl="1">
              <a:spcAft>
                <a:spcPts val="1000"/>
              </a:spcAft>
            </a:pPr>
            <a:r>
              <a:rPr sz="1800" b="0" i="0">
                <a:solidFill>
                  <a:srgbClr val="333333"/>
                </a:solidFill>
                <a:latin typeface="Calibri"/>
              </a:rPr>
              <a:t>A 3-column grid allows a headline to span all 3 columns, while body text sits in one column and an image fills two — creating varied, dynamic layouts.</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Writing About Typography</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 Strong Response</a:t>
            </a:r>
          </a:p>
          <a:p>
            <a:pPr lvl="1">
              <a:spcAft>
                <a:spcPts val="1000"/>
              </a:spcAft>
            </a:pPr>
            <a:r>
              <a:rPr sz="1800" b="0" i="0">
                <a:solidFill>
                  <a:srgbClr val="333333"/>
                </a:solidFill>
                <a:latin typeface="Calibri"/>
              </a:rPr>
              <a:t>"The serif typeface used for the masthead communicates authority and tradition, consistent with the newspaper's long-established identity. The larger point size and bold weight create typographic hierarchy, establishing the masthead as the primary visual element. The body text in a smaller sans-serif typeface ensures legibility at smaller sizes while providing visual contrast with the heading."</a:t>
            </a:r>
          </a:p>
          <a:p>
            <a:pPr lvl="1">
              <a:spcAft>
                <a:spcPts val="1000"/>
              </a:spcAft>
            </a:pPr>
            <a:r>
              <a:rPr sz="1800" b="0" i="0">
                <a:solidFill>
                  <a:srgbClr val="333333"/>
                </a:solidFill>
                <a:latin typeface="Calibri"/>
              </a:rPr>
              <a:t> Weak Response</a:t>
            </a:r>
          </a:p>
          <a:p>
            <a:pPr lvl="1">
              <a:spcAft>
                <a:spcPts val="1000"/>
              </a:spcAft>
            </a:pPr>
            <a:r>
              <a:rPr sz="1800" b="0" i="0">
                <a:solidFill>
                  <a:srgbClr val="333333"/>
                </a:solidFill>
                <a:latin typeface="Calibri"/>
              </a:rPr>
              <a:t>"The font is big and bold. It uses a nice serif font for the title."</a:t>
            </a:r>
          </a:p>
          <a:p>
            <a:pPr lvl="1">
              <a:spcAft>
                <a:spcPts val="1000"/>
              </a:spcAft>
            </a:pPr>
            <a:r>
              <a:rPr sz="1800" b="0" i="0">
                <a:solidFill>
                  <a:srgbClr val="333333"/>
                </a:solidFill>
                <a:latin typeface="Calibri"/>
              </a:rPr>
              <a:t> Key Vocabulary Typeface / font / classification Serif / sans-serif / script / display Point size / weight / style Kerning / tracking / leading Legibility / readability Typographic hierarchy Alignment / column / margin </a:t>
            </a:r>
          </a:p>
          <a:p>
            <a:pPr lvl="1">
              <a:spcAft>
                <a:spcPts val="1000"/>
              </a:spcAft>
            </a:pPr>
            <a:r>
              <a:rPr sz="1800" b="0" i="0">
                <a:solidFill>
                  <a:srgbClr val="333333"/>
                </a:solidFill>
                <a:latin typeface="Calibri"/>
              </a:rPr>
              <a:t> Effect Phrases "...communicates [tone] to the viewer..." "...establishes visual hierarchy by..." "...ensures legibility through..." "...creates contrast between heading and body..." "...guides the viewer's eye from X to Y..." </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Typography Summary</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Anatomy</a:t>
            </a:r>
          </a:p>
          <a:p>
            <a:pPr lvl="1">
              <a:spcAft>
                <a:spcPts val="1000"/>
              </a:spcAft>
            </a:pPr>
            <a:r>
              <a:rPr sz="1800" b="0" i="0">
                <a:solidFill>
                  <a:srgbClr val="333333"/>
                </a:solidFill>
                <a:latin typeface="Calibri"/>
              </a:rPr>
              <a:t>Baseline, x-height, cap height, ascender, descender, serif, counter, stem</a:t>
            </a:r>
          </a:p>
          <a:p>
            <a:pPr lvl="1">
              <a:spcAft>
                <a:spcPts val="1000"/>
              </a:spcAft>
            </a:pPr>
            <a:r>
              <a:rPr sz="1800" b="0" i="0">
                <a:solidFill>
                  <a:srgbClr val="333333"/>
                </a:solidFill>
                <a:latin typeface="Calibri"/>
              </a:rPr>
              <a:t>Classifications</a:t>
            </a:r>
          </a:p>
          <a:p>
            <a:pPr lvl="1">
              <a:spcAft>
                <a:spcPts val="1000"/>
              </a:spcAft>
            </a:pPr>
            <a:r>
              <a:rPr sz="1800" b="0" i="0">
                <a:solidFill>
                  <a:srgbClr val="333333"/>
                </a:solidFill>
                <a:latin typeface="Calibri"/>
              </a:rPr>
              <a:t>Serif · Sans-Serif · Script/Decorative · Monospaced</a:t>
            </a:r>
          </a:p>
          <a:p>
            <a:pPr lvl="1">
              <a:spcAft>
                <a:spcPts val="1000"/>
              </a:spcAft>
            </a:pPr>
            <a:r>
              <a:rPr sz="1800" b="0" i="0">
                <a:solidFill>
                  <a:srgbClr val="333333"/>
                </a:solidFill>
                <a:latin typeface="Calibri"/>
              </a:rPr>
              <a:t>Hierarchy</a:t>
            </a:r>
          </a:p>
          <a:p>
            <a:pPr lvl="1">
              <a:spcAft>
                <a:spcPts val="1000"/>
              </a:spcAft>
            </a:pPr>
            <a:r>
              <a:rPr sz="1800" b="0" i="0">
                <a:solidFill>
                  <a:srgbClr val="333333"/>
                </a:solidFill>
                <a:latin typeface="Calibri"/>
              </a:rPr>
              <a:t>Size, weight, colour, position, typeface — signal reading order</a:t>
            </a:r>
          </a:p>
          <a:p>
            <a:pPr lvl="1">
              <a:spcAft>
                <a:spcPts val="1000"/>
              </a:spcAft>
            </a:pPr>
            <a:r>
              <a:rPr sz="1800" b="0" i="0">
                <a:solidFill>
                  <a:srgbClr val="333333"/>
                </a:solidFill>
                <a:latin typeface="Calibri"/>
              </a:rPr>
              <a:t>↔</a:t>
            </a:r>
          </a:p>
          <a:p>
            <a:pPr lvl="1">
              <a:spcAft>
                <a:spcPts val="1000"/>
              </a:spcAft>
            </a:pPr>
            <a:r>
              <a:rPr sz="1800" b="0" i="0">
                <a:solidFill>
                  <a:srgbClr val="333333"/>
                </a:solidFill>
                <a:latin typeface="Calibri"/>
              </a:rPr>
              <a:t>Spacing</a:t>
            </a:r>
          </a:p>
          <a:p>
            <a:pPr lvl="1">
              <a:spcAft>
                <a:spcPts val="1000"/>
              </a:spcAft>
            </a:pPr>
            <a:r>
              <a:rPr sz="1800" b="0" i="0">
                <a:solidFill>
                  <a:srgbClr val="333333"/>
                </a:solidFill>
                <a:latin typeface="Calibri"/>
              </a:rPr>
              <a:t>Kerning (pairs) · Tracking (range) · Leading (lines)</a:t>
            </a:r>
          </a:p>
          <a:p>
            <a:pPr>
              <a:spcAft>
                <a:spcPts val="1000"/>
              </a:spcAft>
            </a:pPr>
            <a:r>
              <a:rPr sz="2000" b="0" i="0">
                <a:solidFill>
                  <a:srgbClr val="333333"/>
                </a:solidFill>
                <a:latin typeface="Calibri"/>
              </a:rPr>
              <a:t> The 3-part analysis formula (applies to ALL VCD elements) </a:t>
            </a:r>
            <a:r>
              <a:rPr sz="2000" b="1" i="0">
                <a:solidFill>
                  <a:srgbClr val="1F3A5F"/>
                </a:solidFill>
                <a:latin typeface="Calibri"/>
              </a:rPr>
              <a:t>Name</a:t>
            </a:r>
            <a:r>
              <a:rPr sz="2000" b="0" i="0">
                <a:solidFill>
                  <a:srgbClr val="333333"/>
                </a:solidFill>
                <a:latin typeface="Calibri"/>
              </a:rPr>
              <a:t> the technique/element → </a:t>
            </a:r>
            <a:r>
              <a:rPr sz="2000" b="1" i="0">
                <a:solidFill>
                  <a:srgbClr val="1F3A5F"/>
                </a:solidFill>
                <a:latin typeface="Calibri"/>
              </a:rPr>
              <a:t>Evidence</a:t>
            </a:r>
            <a:r>
              <a:rPr sz="2000" b="0" i="0">
                <a:solidFill>
                  <a:srgbClr val="333333"/>
                </a:solidFill>
                <a:latin typeface="Calibri"/>
              </a:rPr>
              <a:t> (specific visual detail) → </a:t>
            </a:r>
            <a:r>
              <a:rPr sz="2000" b="1" i="0">
                <a:solidFill>
                  <a:srgbClr val="1F3A5F"/>
                </a:solidFill>
                <a:latin typeface="Calibri"/>
              </a:rPr>
              <a:t>Effect</a:t>
            </a:r>
            <a:r>
              <a:rPr sz="2000" b="0" i="0">
                <a:solidFill>
                  <a:srgbClr val="333333"/>
                </a:solidFill>
                <a:latin typeface="Calibri"/>
              </a:rPr>
              <a:t> on the viewer </a:t>
            </a:r>
          </a:p>
          <a:p>
            <a:pPr>
              <a:spcAft>
                <a:spcPts val="1000"/>
              </a:spcAft>
            </a:pPr>
            <a:r>
              <a:rPr sz="2000" b="0" i="0">
                <a:solidFill>
                  <a:srgbClr val="333333"/>
                </a:solidFill>
                <a:latin typeface="Calibri"/>
              </a:rPr>
              <a:t> VCAA 2024 VCE VCD — Unit 1 AOS 1 · Typography </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FFFFFF"/>
                </a:solidFill>
                <a:latin typeface="Cambria"/>
              </a:rPr>
              <a:t>The Design Process</a:t>
            </a:r>
          </a:p>
        </p:txBody>
      </p:sp>
      <p:sp>
        <p:nvSpPr>
          <p:cNvPr id="3" name="Text Placeholder 2"/>
          <p:cNvSpPr>
            <a:spLocks noGrp="1"/>
          </p:cNvSpPr>
          <p:nvPr>
            <p:ph type="body" idx="1"/>
          </p:nvPr>
        </p:nvSpPr>
        <p:spPr/>
        <p:txBody>
          <a:bodyPr/>
          <a:lstStyle/>
          <a:p>
            <a:r>
              <a:rPr sz="1800">
                <a:solidFill>
                  <a:srgbClr val="E5E5E5"/>
                </a:solidFill>
                <a:latin typeface="Calibri"/>
              </a:rPr>
              <a:t>AOS 2 · Discovering Design Thinking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What is the Design Process?</a:t>
            </a:r>
          </a:p>
        </p:txBody>
      </p:sp>
      <p:sp>
        <p:nvSpPr>
          <p:cNvPr id="3" name="Content Placeholder 2"/>
          <p:cNvSpPr>
            <a:spLocks noGrp="1"/>
          </p:cNvSpPr>
          <p:nvPr>
            <p:ph idx="1" sz="half"/>
          </p:nvPr>
        </p:nvSpPr>
        <p:spPr/>
        <p:txBody>
          <a:bodyPr wrap="square"/>
          <a:lstStyle/>
          <a:p>
            <a:pPr>
              <a:spcAft>
                <a:spcPts val="1000"/>
              </a:spcAft>
            </a:pPr>
            <a:r>
              <a:rPr sz="2000" b="0" i="0">
                <a:solidFill>
                  <a:srgbClr val="333333"/>
                </a:solidFill>
                <a:latin typeface="Calibri"/>
              </a:rPr>
              <a:t>The design process is the </a:t>
            </a:r>
            <a:r>
              <a:rPr sz="2000" b="1" i="0">
                <a:solidFill>
                  <a:srgbClr val="1F3A5F"/>
                </a:solidFill>
                <a:latin typeface="Calibri"/>
              </a:rPr>
              <a:t>sequence of stages</a:t>
            </a:r>
            <a:r>
              <a:rPr sz="2000" b="0" i="0">
                <a:solidFill>
                  <a:srgbClr val="333333"/>
                </a:solidFill>
                <a:latin typeface="Calibri"/>
              </a:rPr>
              <a:t> a designer moves through to take a problem from a client brief to a finished, resolved design.</a:t>
            </a:r>
          </a:p>
          <a:p>
            <a:pPr>
              <a:spcAft>
                <a:spcPts val="1000"/>
              </a:spcAft>
            </a:pPr>
            <a:r>
              <a:rPr sz="2000" b="0" i="0">
                <a:solidFill>
                  <a:srgbClr val="333333"/>
                </a:solidFill>
                <a:latin typeface="Calibri"/>
              </a:rPr>
              <a:t>It is not always linear — designers often loop back to earlier stages as ideas develop. But for study and folio purposes, it is broken into five key stages.</a:t>
            </a:r>
          </a:p>
          <a:p>
            <a:pPr>
              <a:spcAft>
                <a:spcPts val="1000"/>
              </a:spcAft>
            </a:pPr>
            <a:r>
              <a:rPr sz="2000" b="1" i="0">
                <a:solidFill>
                  <a:srgbClr val="1F3A5F"/>
                </a:solidFill>
                <a:latin typeface="Calibri"/>
              </a:rPr>
              <a:t>In your folio</a:t>
            </a:r>
            <a:r>
              <a:rPr sz="2000" b="0" i="0">
                <a:solidFill>
                  <a:srgbClr val="333333"/>
                </a:solidFill>
                <a:latin typeface="Calibri"/>
              </a:rPr>
              <a:t>, you must show visible evidence of thinking at every stage — not just a final picture. </a:t>
            </a:r>
          </a:p>
        </p:txBody>
      </p:sp>
      <p:sp>
        <p:nvSpPr>
          <p:cNvPr id="4" name="Content Placeholder 3"/>
          <p:cNvSpPr>
            <a:spLocks noGrp="1"/>
          </p:cNvSpPr>
          <p:nvPr>
            <p:ph idx="2" sz="half"/>
          </p:nvPr>
        </p:nvSpPr>
        <p:spPr/>
        <p:txBody>
          <a:bodyPr wrap="square"/>
          <a:lstStyle/>
          <a:p>
            <a:pPr>
              <a:spcAft>
                <a:spcPts val="1000"/>
              </a:spcAft>
            </a:pPr>
            <a:r>
              <a:rPr sz="2000" b="0" i="0">
                <a:solidFill>
                  <a:srgbClr val="333333"/>
                </a:solidFill>
                <a:latin typeface="Calibri"/>
              </a:rPr>
              <a:t>The 5 Stages</a:t>
            </a:r>
          </a:p>
          <a:p>
            <a:pPr lvl="1">
              <a:spcAft>
                <a:spcPts val="1000"/>
              </a:spcAft>
            </a:pPr>
            <a:r>
              <a:rPr sz="1800" b="0" i="0">
                <a:solidFill>
                  <a:srgbClr val="333333"/>
                </a:solidFill>
                <a:latin typeface="Calibri"/>
              </a:rPr>
              <a:t>1 Research &amp; the Brief</a:t>
            </a:r>
          </a:p>
          <a:p>
            <a:pPr lvl="1">
              <a:spcAft>
                <a:spcPts val="1000"/>
              </a:spcAft>
            </a:pPr>
            <a:r>
              <a:rPr sz="1800" b="0" i="0">
                <a:solidFill>
                  <a:srgbClr val="333333"/>
                </a:solidFill>
                <a:latin typeface="Calibri"/>
              </a:rPr>
              <a:t>2 Generation of Ideas</a:t>
            </a:r>
          </a:p>
          <a:p>
            <a:pPr lvl="1">
              <a:spcAft>
                <a:spcPts val="1000"/>
              </a:spcAft>
            </a:pPr>
            <a:r>
              <a:rPr sz="1800" b="0" i="0">
                <a:solidFill>
                  <a:srgbClr val="333333"/>
                </a:solidFill>
                <a:latin typeface="Calibri"/>
              </a:rPr>
              <a:t>3 Development &amp; Refinement</a:t>
            </a:r>
          </a:p>
          <a:p>
            <a:pPr lvl="1">
              <a:spcAft>
                <a:spcPts val="1000"/>
              </a:spcAft>
            </a:pPr>
            <a:r>
              <a:rPr sz="1800" b="0" i="0">
                <a:solidFill>
                  <a:srgbClr val="333333"/>
                </a:solidFill>
                <a:latin typeface="Calibri"/>
              </a:rPr>
              <a:t>4 Presentation</a:t>
            </a:r>
          </a:p>
          <a:p>
            <a:pPr lvl="1">
              <a:spcAft>
                <a:spcPts val="1000"/>
              </a:spcAft>
            </a:pPr>
            <a:r>
              <a:rPr sz="1800" b="0" i="0">
                <a:solidFill>
                  <a:srgbClr val="333333"/>
                </a:solidFill>
                <a:latin typeface="Calibri"/>
              </a:rPr>
              <a:t>5 Evaluation</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Research &amp; the Brief</a:t>
            </a:r>
          </a:p>
        </p:txBody>
      </p:sp>
      <p:sp>
        <p:nvSpPr>
          <p:cNvPr id="3" name="Content Placeholder 2"/>
          <p:cNvSpPr>
            <a:spLocks noGrp="1"/>
          </p:cNvSpPr>
          <p:nvPr>
            <p:ph idx="1" sz="half"/>
          </p:nvPr>
        </p:nvSpPr>
        <p:spPr/>
        <p:txBody>
          <a:bodyPr wrap="square"/>
          <a:lstStyle/>
          <a:p>
            <a:pPr>
              <a:spcAft>
                <a:spcPts val="1000"/>
              </a:spcAft>
            </a:pPr>
            <a:r>
              <a:rPr sz="2000" b="0" i="0">
                <a:solidFill>
                  <a:srgbClr val="333333"/>
                </a:solidFill>
                <a:latin typeface="Calibri"/>
              </a:rPr>
              <a:t>Every design task starts with a </a:t>
            </a:r>
            <a:r>
              <a:rPr sz="2000" b="1" i="0">
                <a:solidFill>
                  <a:srgbClr val="1F3A5F"/>
                </a:solidFill>
                <a:latin typeface="Calibri"/>
              </a:rPr>
              <a:t>design brief</a:t>
            </a:r>
            <a:r>
              <a:rPr sz="2000" b="0" i="0">
                <a:solidFill>
                  <a:srgbClr val="333333"/>
                </a:solidFill>
                <a:latin typeface="Calibri"/>
              </a:rPr>
              <a:t> — a written statement from the client outlining the problem, purpose and requirements. Before generating ideas, a designer researches the context around the brief.</a:t>
            </a:r>
          </a:p>
          <a:p>
            <a:pPr lvl="1">
              <a:spcAft>
                <a:spcPts val="1000"/>
              </a:spcAft>
            </a:pPr>
            <a:r>
              <a:rPr sz="1800" b="0" i="0">
                <a:solidFill>
                  <a:srgbClr val="333333"/>
                </a:solidFill>
                <a:latin typeface="Calibri"/>
              </a:rPr>
              <a:t>The Brief Must Identify</a:t>
            </a:r>
          </a:p>
          <a:p>
            <a:pPr lvl="1">
              <a:spcAft>
                <a:spcPts val="1000"/>
              </a:spcAft>
            </a:pPr>
            <a:r>
              <a:rPr sz="1800" b="1" i="0">
                <a:solidFill>
                  <a:srgbClr val="1F3A5F"/>
                </a:solidFill>
                <a:latin typeface="Calibri"/>
              </a:rPr>
              <a:t>Client</a:t>
            </a:r>
            <a:r>
              <a:rPr sz="1800" b="0" i="0">
                <a:solidFill>
                  <a:srgbClr val="333333"/>
                </a:solidFill>
                <a:latin typeface="Calibri"/>
              </a:rPr>
              <a:t> — who is commissioning the design</a:t>
            </a:r>
          </a:p>
          <a:p>
            <a:pPr lvl="1">
              <a:spcAft>
                <a:spcPts val="1000"/>
              </a:spcAft>
            </a:pPr>
            <a:r>
              <a:rPr sz="1800" b="1" i="0">
                <a:solidFill>
                  <a:srgbClr val="1F3A5F"/>
                </a:solidFill>
                <a:latin typeface="Calibri"/>
              </a:rPr>
              <a:t>Target audience</a:t>
            </a:r>
            <a:r>
              <a:rPr sz="1800" b="0" i="0">
                <a:solidFill>
                  <a:srgbClr val="333333"/>
                </a:solidFill>
                <a:latin typeface="Calibri"/>
              </a:rPr>
              <a:t> — who will use/view it</a:t>
            </a:r>
          </a:p>
          <a:p>
            <a:pPr lvl="1">
              <a:spcAft>
                <a:spcPts val="1000"/>
              </a:spcAft>
            </a:pPr>
            <a:r>
              <a:rPr sz="1800" b="1" i="0">
                <a:solidFill>
                  <a:srgbClr val="1F3A5F"/>
                </a:solidFill>
                <a:latin typeface="Calibri"/>
              </a:rPr>
              <a:t>Purpose</a:t>
            </a:r>
            <a:r>
              <a:rPr sz="1800" b="0" i="0">
                <a:solidFill>
                  <a:srgbClr val="333333"/>
                </a:solidFill>
                <a:latin typeface="Calibri"/>
              </a:rPr>
              <a:t> — what the design needs to achieve</a:t>
            </a:r>
          </a:p>
          <a:p>
            <a:pPr lvl="1">
              <a:spcAft>
                <a:spcPts val="1000"/>
              </a:spcAft>
            </a:pPr>
            <a:r>
              <a:rPr sz="1800" b="1" i="0">
                <a:solidFill>
                  <a:srgbClr val="1F3A5F"/>
                </a:solidFill>
                <a:latin typeface="Calibri"/>
              </a:rPr>
              <a:t>Constraints</a:t>
            </a:r>
            <a:r>
              <a:rPr sz="1800" b="0" i="0">
                <a:solidFill>
                  <a:srgbClr val="333333"/>
                </a:solidFill>
                <a:latin typeface="Calibri"/>
              </a:rPr>
              <a:t> — budget, timeline, materials, size</a:t>
            </a:r>
          </a:p>
          <a:p>
            <a:pPr>
              <a:spcAft>
                <a:spcPts val="1000"/>
              </a:spcAft>
            </a:pPr>
            <a:r>
              <a:rPr sz="1800" b="1" i="1">
                <a:solidFill>
                  <a:srgbClr val="1F3A5F"/>
                </a:solidFill>
                <a:latin typeface="Calibri"/>
              </a:rPr>
              <a:t>Exam vocab:</a:t>
            </a:r>
            <a:r>
              <a:rPr sz="1800" b="0" i="1">
                <a:solidFill>
                  <a:srgbClr val="333333"/>
                </a:solidFill>
                <a:latin typeface="Calibri"/>
              </a:rPr>
              <a:t> brief, client, target audience, purpose, constraints, parameters, primary research, secondary research</a:t>
            </a:r>
          </a:p>
        </p:txBody>
      </p:sp>
      <p:sp>
        <p:nvSpPr>
          <p:cNvPr id="4" name="Content Placeholder 3"/>
          <p:cNvSpPr>
            <a:spLocks noGrp="1"/>
          </p:cNvSpPr>
          <p:nvPr>
            <p:ph idx="2" sz="half"/>
          </p:nvPr>
        </p:nvSpPr>
        <p:spPr/>
        <p:txBody>
          <a:bodyPr wrap="square"/>
          <a:lstStyle/>
          <a:p>
            <a:pPr>
              <a:spcAft>
                <a:spcPts val="1000"/>
              </a:spcAft>
            </a:pPr>
            <a:r>
              <a:rPr sz="2000" b="0" i="0">
                <a:solidFill>
                  <a:srgbClr val="333333"/>
                </a:solidFill>
                <a:latin typeface="Calibri"/>
              </a:rPr>
              <a:t>Two Types of Research</a:t>
            </a:r>
          </a:p>
          <a:p>
            <a:pPr lvl="1">
              <a:spcAft>
                <a:spcPts val="1000"/>
              </a:spcAft>
            </a:pPr>
            <a:r>
              <a:rPr sz="1800" b="0" i="0">
                <a:solidFill>
                  <a:srgbClr val="333333"/>
                </a:solidFill>
                <a:latin typeface="Calibri"/>
              </a:rPr>
              <a:t>Primary research</a:t>
            </a:r>
          </a:p>
          <a:p>
            <a:pPr lvl="1">
              <a:spcAft>
                <a:spcPts val="1000"/>
              </a:spcAft>
            </a:pPr>
            <a:r>
              <a:rPr sz="1800" b="0" i="0">
                <a:solidFill>
                  <a:srgbClr val="333333"/>
                </a:solidFill>
                <a:latin typeface="Calibri"/>
              </a:rPr>
              <a:t>Information gathered first-hand — surveys, interviews, observation, site visits, photography.</a:t>
            </a:r>
          </a:p>
          <a:p>
            <a:pPr lvl="1">
              <a:spcAft>
                <a:spcPts val="1000"/>
              </a:spcAft>
            </a:pPr>
            <a:r>
              <a:rPr sz="1800" b="0" i="0">
                <a:solidFill>
                  <a:srgbClr val="333333"/>
                </a:solidFill>
                <a:latin typeface="Calibri"/>
              </a:rPr>
              <a:t>Secondary research</a:t>
            </a:r>
          </a:p>
          <a:p>
            <a:pPr lvl="1">
              <a:spcAft>
                <a:spcPts val="1000"/>
              </a:spcAft>
            </a:pPr>
            <a:r>
              <a:rPr sz="1800" b="0" i="0">
                <a:solidFill>
                  <a:srgbClr val="333333"/>
                </a:solidFill>
                <a:latin typeface="Calibri"/>
              </a:rPr>
              <a:t>Information gathered from existing sources — competitor designs, articles, market trends, mood boards.</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Generation of Ideas</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Once the brief is understood, the designer generates a wide range of possible solutions. Quantity over quality at this stage — the goal is to explore as many directions as possible.</a:t>
            </a:r>
          </a:p>
          <a:p>
            <a:pPr lvl="1">
              <a:spcAft>
                <a:spcPts val="1000"/>
              </a:spcAft>
            </a:pPr>
            <a:r>
              <a:rPr sz="1800" b="0" i="0">
                <a:solidFill>
                  <a:srgbClr val="333333"/>
                </a:solidFill>
                <a:latin typeface="Calibri"/>
              </a:rPr>
              <a:t>Ideation Methods</a:t>
            </a:r>
          </a:p>
          <a:p>
            <a:pPr lvl="1">
              <a:spcAft>
                <a:spcPts val="1000"/>
              </a:spcAft>
            </a:pPr>
            <a:r>
              <a:rPr sz="1800" b="1" i="0">
                <a:solidFill>
                  <a:srgbClr val="1F3A5F"/>
                </a:solidFill>
                <a:latin typeface="Calibri"/>
              </a:rPr>
              <a:t>Brainstorming</a:t>
            </a:r>
            <a:r>
              <a:rPr sz="1800" b="0" i="0">
                <a:solidFill>
                  <a:srgbClr val="333333"/>
                </a:solidFill>
                <a:latin typeface="Calibri"/>
              </a:rPr>
              <a:t> — free listing of words/concepts related to the brief</a:t>
            </a:r>
          </a:p>
          <a:p>
            <a:pPr lvl="1">
              <a:spcAft>
                <a:spcPts val="1000"/>
              </a:spcAft>
            </a:pPr>
            <a:r>
              <a:rPr sz="1800" b="1" i="0">
                <a:solidFill>
                  <a:srgbClr val="1F3A5F"/>
                </a:solidFill>
                <a:latin typeface="Calibri"/>
              </a:rPr>
              <a:t>Mind mapping</a:t>
            </a:r>
            <a:r>
              <a:rPr sz="1800" b="0" i="0">
                <a:solidFill>
                  <a:srgbClr val="333333"/>
                </a:solidFill>
                <a:latin typeface="Calibri"/>
              </a:rPr>
              <a:t> — branching diagram connecting related ideas</a:t>
            </a:r>
          </a:p>
          <a:p>
            <a:pPr lvl="1">
              <a:spcAft>
                <a:spcPts val="1000"/>
              </a:spcAft>
            </a:pPr>
            <a:r>
              <a:rPr sz="1800" b="1" i="0">
                <a:solidFill>
                  <a:srgbClr val="1F3A5F"/>
                </a:solidFill>
                <a:latin typeface="Calibri"/>
              </a:rPr>
              <a:t>Thumbnail sketches</a:t>
            </a:r>
            <a:r>
              <a:rPr sz="1800" b="0" i="0">
                <a:solidFill>
                  <a:srgbClr val="333333"/>
                </a:solidFill>
                <a:latin typeface="Calibri"/>
              </a:rPr>
              <a:t> — small, quick, rough drawings exploring layout/form</a:t>
            </a:r>
          </a:p>
          <a:p>
            <a:pPr lvl="1">
              <a:spcAft>
                <a:spcPts val="1000"/>
              </a:spcAft>
            </a:pPr>
            <a:r>
              <a:rPr sz="1800" b="1" i="0">
                <a:solidFill>
                  <a:srgbClr val="1F3A5F"/>
                </a:solidFill>
                <a:latin typeface="Calibri"/>
              </a:rPr>
              <a:t>SCAMPER / lateral thinking</a:t>
            </a:r>
            <a:r>
              <a:rPr sz="1800" b="0" i="0">
                <a:solidFill>
                  <a:srgbClr val="333333"/>
                </a:solidFill>
                <a:latin typeface="Calibri"/>
              </a:rPr>
              <a:t> — Substitute, Combine, Adapt, Modify, Put to other use, Eliminate, Reverse</a:t>
            </a:r>
          </a:p>
          <a:p>
            <a:pPr lvl="1">
              <a:spcAft>
                <a:spcPts val="1000"/>
              </a:spcAft>
            </a:pPr>
            <a:r>
              <a:rPr sz="1600" b="1" i="1">
                <a:solidFill>
                  <a:srgbClr val="1F3A5F"/>
                </a:solidFill>
                <a:latin typeface="Calibri"/>
              </a:rPr>
              <a:t>Exam vocab:</a:t>
            </a:r>
            <a:r>
              <a:rPr sz="1600" b="0" i="1">
                <a:solidFill>
                  <a:srgbClr val="333333"/>
                </a:solidFill>
                <a:latin typeface="Calibri"/>
              </a:rPr>
              <a:t> ideation, thumbnail sketches, brainstorm, mind map, divergent thinking, concept</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Development &amp; Refinement</a:t>
            </a:r>
          </a:p>
        </p:txBody>
      </p:sp>
      <p:sp>
        <p:nvSpPr>
          <p:cNvPr id="3" name="Content Placeholder 2"/>
          <p:cNvSpPr>
            <a:spLocks noGrp="1"/>
          </p:cNvSpPr>
          <p:nvPr>
            <p:ph idx="1" sz="half"/>
          </p:nvPr>
        </p:nvSpPr>
        <p:spPr/>
        <p:txBody>
          <a:bodyPr wrap="square"/>
          <a:lstStyle/>
          <a:p>
            <a:pPr>
              <a:spcAft>
                <a:spcPts val="1000"/>
              </a:spcAft>
            </a:pPr>
            <a:r>
              <a:rPr sz="2000" b="0" i="0">
                <a:solidFill>
                  <a:srgbClr val="333333"/>
                </a:solidFill>
                <a:latin typeface="Calibri"/>
              </a:rPr>
              <a:t>The strongest ideas from generation are selected and developed further — testing them against the brief, adding detail, and refining elements and principles until the concept is resolved.</a:t>
            </a:r>
          </a:p>
          <a:p>
            <a:pPr>
              <a:spcAft>
                <a:spcPts val="1000"/>
              </a:spcAft>
            </a:pPr>
            <a:r>
              <a:rPr sz="2000" b="0" i="0">
                <a:solidFill>
                  <a:srgbClr val="333333"/>
                </a:solidFill>
                <a:latin typeface="Calibri"/>
              </a:rPr>
              <a:t>What Happens at This Stage</a:t>
            </a:r>
          </a:p>
          <a:p>
            <a:pPr lvl="1">
              <a:spcAft>
                <a:spcPts val="1000"/>
              </a:spcAft>
            </a:pPr>
            <a:r>
              <a:rPr sz="1800" b="1" i="0">
                <a:solidFill>
                  <a:srgbClr val="1F3A5F"/>
                </a:solidFill>
                <a:latin typeface="Calibri"/>
              </a:rPr>
              <a:t>Annotated drawings</a:t>
            </a:r>
            <a:r>
              <a:rPr sz="1800" b="0" i="0">
                <a:solidFill>
                  <a:srgbClr val="333333"/>
                </a:solidFill>
                <a:latin typeface="Calibri"/>
              </a:rPr>
              <a:t> — sketches with written notes explaining decisions</a:t>
            </a:r>
          </a:p>
          <a:p>
            <a:pPr lvl="1">
              <a:spcAft>
                <a:spcPts val="1000"/>
              </a:spcAft>
            </a:pPr>
            <a:r>
              <a:rPr sz="1800" b="1" i="0">
                <a:solidFill>
                  <a:srgbClr val="1F3A5F"/>
                </a:solidFill>
                <a:latin typeface="Calibri"/>
              </a:rPr>
              <a:t>Visualisation drawing</a:t>
            </a:r>
            <a:r>
              <a:rPr sz="1800" b="0" i="0">
                <a:solidFill>
                  <a:srgbClr val="333333"/>
                </a:solidFill>
                <a:latin typeface="Calibri"/>
              </a:rPr>
              <a:t> — freehand, tonal renders exploring colour/material</a:t>
            </a:r>
          </a:p>
          <a:p>
            <a:pPr lvl="1">
              <a:spcAft>
                <a:spcPts val="1000"/>
              </a:spcAft>
            </a:pPr>
            <a:r>
              <a:rPr sz="1800" b="1" i="0">
                <a:solidFill>
                  <a:srgbClr val="1F3A5F"/>
                </a:solidFill>
                <a:latin typeface="Calibri"/>
              </a:rPr>
              <a:t>Testing against the brief</a:t>
            </a:r>
            <a:r>
              <a:rPr sz="1800" b="0" i="0">
                <a:solidFill>
                  <a:srgbClr val="333333"/>
                </a:solidFill>
                <a:latin typeface="Calibri"/>
              </a:rPr>
              <a:t> — does it meet the purpose and audience?</a:t>
            </a:r>
          </a:p>
          <a:p>
            <a:pPr lvl="1">
              <a:spcAft>
                <a:spcPts val="1000"/>
              </a:spcAft>
            </a:pPr>
            <a:r>
              <a:rPr sz="1800" b="1" i="0">
                <a:solidFill>
                  <a:srgbClr val="1F3A5F"/>
                </a:solidFill>
                <a:latin typeface="Calibri"/>
              </a:rPr>
              <a:t>Feedback</a:t>
            </a:r>
            <a:r>
              <a:rPr sz="1800" b="0" i="0">
                <a:solidFill>
                  <a:srgbClr val="333333"/>
                </a:solidFill>
                <a:latin typeface="Calibri"/>
              </a:rPr>
              <a:t> — peer or client feedback shapes further refinement</a:t>
            </a:r>
          </a:p>
          <a:p>
            <a:pPr>
              <a:spcAft>
                <a:spcPts val="1000"/>
              </a:spcAft>
            </a:pPr>
            <a:r>
              <a:rPr sz="1800" b="1" i="1">
                <a:solidFill>
                  <a:srgbClr val="1F3A5F"/>
                </a:solidFill>
                <a:latin typeface="Calibri"/>
              </a:rPr>
              <a:t>Exam vocab:</a:t>
            </a:r>
            <a:r>
              <a:rPr sz="1800" b="0" i="1">
                <a:solidFill>
                  <a:srgbClr val="333333"/>
                </a:solidFill>
                <a:latin typeface="Calibri"/>
              </a:rPr>
              <a:t> refine, annotate, resolve, convergent thinking, iterate, visualisation drawing</a:t>
            </a:r>
          </a:p>
        </p:txBody>
      </p:sp>
      <p:sp>
        <p:nvSpPr>
          <p:cNvPr id="4" name="Content Placeholder 3"/>
          <p:cNvSpPr>
            <a:spLocks noGrp="1"/>
          </p:cNvSpPr>
          <p:nvPr>
            <p:ph idx="2" sz="half"/>
          </p:nvPr>
        </p:nvSpPr>
        <p:spPr/>
        <p:txBody>
          <a:bodyPr wrap="square"/>
          <a:lstStyle/>
          <a:p>
            <a:pPr>
              <a:spcAft>
                <a:spcPts val="1000"/>
              </a:spcAft>
            </a:pPr>
            <a:r>
              <a:rPr sz="2000" b="1" i="0">
                <a:solidFill>
                  <a:srgbClr val="1F3A5F"/>
                </a:solidFill>
                <a:latin typeface="Calibri"/>
              </a:rPr>
              <a:t>Generation vs Development</a:t>
            </a:r>
          </a:p>
          <a:p>
            <a:pPr lvl="1">
              <a:spcAft>
                <a:spcPts val="1000"/>
              </a:spcAft>
            </a:pPr>
            <a:r>
              <a:rPr sz="1800" b="0" i="0">
                <a:solidFill>
                  <a:srgbClr val="333333"/>
                </a:solidFill>
                <a:latin typeface="Calibri"/>
              </a:rPr>
              <a:t>Generation</a:t>
            </a:r>
          </a:p>
          <a:p>
            <a:pPr lvl="1">
              <a:spcAft>
                <a:spcPts val="1000"/>
              </a:spcAft>
            </a:pPr>
            <a:r>
              <a:rPr sz="1800" b="0" i="0">
                <a:solidFill>
                  <a:srgbClr val="333333"/>
                </a:solidFill>
                <a:latin typeface="Calibri"/>
              </a:rPr>
              <a:t>Many ideas · rough · fast · divergent</a:t>
            </a:r>
          </a:p>
          <a:p>
            <a:pPr lvl="1">
              <a:spcAft>
                <a:spcPts val="1000"/>
              </a:spcAft>
            </a:pPr>
            <a:r>
              <a:rPr sz="1800" b="0" i="0">
                <a:solidFill>
                  <a:srgbClr val="333333"/>
                </a:solidFill>
                <a:latin typeface="Calibri"/>
              </a:rPr>
              <a:t>Development</a:t>
            </a:r>
          </a:p>
          <a:p>
            <a:pPr lvl="1">
              <a:spcAft>
                <a:spcPts val="1000"/>
              </a:spcAft>
            </a:pPr>
            <a:r>
              <a:rPr sz="1800" b="0" i="0">
                <a:solidFill>
                  <a:srgbClr val="333333"/>
                </a:solidFill>
                <a:latin typeface="Calibri"/>
              </a:rPr>
              <a:t>Fewer ideas · detailed · slower · convergent</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Presentation</a:t>
            </a:r>
          </a:p>
        </p:txBody>
      </p:sp>
      <p:sp>
        <p:nvSpPr>
          <p:cNvPr id="3" name="Content Placeholder 2"/>
          <p:cNvSpPr>
            <a:spLocks noGrp="1"/>
          </p:cNvSpPr>
          <p:nvPr>
            <p:ph idx="1" sz="half"/>
          </p:nvPr>
        </p:nvSpPr>
        <p:spPr/>
        <p:txBody>
          <a:bodyPr wrap="square"/>
          <a:lstStyle/>
          <a:p>
            <a:pPr>
              <a:spcAft>
                <a:spcPts val="1000"/>
              </a:spcAft>
            </a:pPr>
            <a:r>
              <a:rPr sz="2000" b="0" i="0">
                <a:solidFill>
                  <a:srgbClr val="333333"/>
                </a:solidFill>
                <a:latin typeface="Calibri"/>
              </a:rPr>
              <a:t>The final, resolved design is communicated clearly and professionally using presentation (technical) drawing methods so a client or manufacturer can understand it exactly.</a:t>
            </a:r>
          </a:p>
          <a:p>
            <a:pPr>
              <a:spcAft>
                <a:spcPts val="1000"/>
              </a:spcAft>
            </a:pPr>
            <a:r>
              <a:rPr sz="2000" b="0" i="0">
                <a:solidFill>
                  <a:srgbClr val="333333"/>
                </a:solidFill>
                <a:latin typeface="Calibri"/>
              </a:rPr>
              <a:t>Presentation Drawing Methods</a:t>
            </a:r>
          </a:p>
          <a:p>
            <a:pPr lvl="1">
              <a:spcAft>
                <a:spcPts val="1000"/>
              </a:spcAft>
            </a:pPr>
            <a:r>
              <a:rPr sz="1800" b="1" i="0">
                <a:solidFill>
                  <a:srgbClr val="1F3A5F"/>
                </a:solidFill>
                <a:latin typeface="Calibri"/>
              </a:rPr>
              <a:t>Orthogonal drawing</a:t>
            </a:r>
            <a:r>
              <a:rPr sz="1800" b="0" i="0">
                <a:solidFill>
                  <a:srgbClr val="333333"/>
                </a:solidFill>
                <a:latin typeface="Calibri"/>
              </a:rPr>
              <a:t> — accurate 2D views (plan, elevation)</a:t>
            </a:r>
          </a:p>
          <a:p>
            <a:pPr lvl="1">
              <a:spcAft>
                <a:spcPts val="1000"/>
              </a:spcAft>
            </a:pPr>
            <a:r>
              <a:rPr sz="1800" b="1" i="0">
                <a:solidFill>
                  <a:srgbClr val="1F3A5F"/>
                </a:solidFill>
                <a:latin typeface="Calibri"/>
              </a:rPr>
              <a:t>Isometric drawing</a:t>
            </a:r>
            <a:r>
              <a:rPr sz="1800" b="0" i="0">
                <a:solidFill>
                  <a:srgbClr val="333333"/>
                </a:solidFill>
                <a:latin typeface="Calibri"/>
              </a:rPr>
              <a:t> — 3D at fixed 30° angles, no perspective distortion</a:t>
            </a:r>
          </a:p>
          <a:p>
            <a:pPr lvl="1">
              <a:spcAft>
                <a:spcPts val="1000"/>
              </a:spcAft>
            </a:pPr>
            <a:r>
              <a:rPr sz="1800" b="1" i="0">
                <a:solidFill>
                  <a:srgbClr val="1F3A5F"/>
                </a:solidFill>
                <a:latin typeface="Calibri"/>
              </a:rPr>
              <a:t>1-point &amp; 2-point perspective</a:t>
            </a:r>
            <a:r>
              <a:rPr sz="1800" b="0" i="0">
                <a:solidFill>
                  <a:srgbClr val="333333"/>
                </a:solidFill>
                <a:latin typeface="Calibri"/>
              </a:rPr>
              <a:t> — realistic 3D with vanishing points</a:t>
            </a:r>
          </a:p>
          <a:p>
            <a:pPr lvl="1">
              <a:spcAft>
                <a:spcPts val="1000"/>
              </a:spcAft>
            </a:pPr>
            <a:r>
              <a:rPr sz="1800" b="1" i="0">
                <a:solidFill>
                  <a:srgbClr val="1F3A5F"/>
                </a:solidFill>
                <a:latin typeface="Calibri"/>
              </a:rPr>
              <a:t>Digital rendering</a:t>
            </a:r>
            <a:r>
              <a:rPr sz="1800" b="0" i="0">
                <a:solidFill>
                  <a:srgbClr val="333333"/>
                </a:solidFill>
                <a:latin typeface="Calibri"/>
              </a:rPr>
              <a:t> — computer-generated final visuals</a:t>
            </a:r>
          </a:p>
          <a:p>
            <a:pPr>
              <a:spcAft>
                <a:spcPts val="1000"/>
              </a:spcAft>
            </a:pPr>
            <a:r>
              <a:rPr sz="2000" b="0" i="0">
                <a:solidFill>
                  <a:srgbClr val="333333"/>
                </a:solidFill>
                <a:latin typeface="Calibri"/>
              </a:rPr>
              <a:t>See the </a:t>
            </a:r>
            <a:r>
              <a:rPr sz="2000" b="1" i="0">
                <a:solidFill>
                  <a:srgbClr val="1F3A5F"/>
                </a:solidFill>
                <a:latin typeface="Calibri"/>
              </a:rPr>
              <a:t>Technical Drawing handout</a:t>
            </a:r>
            <a:r>
              <a:rPr sz="2000" b="0" i="0">
                <a:solidFill>
                  <a:srgbClr val="333333"/>
                </a:solidFill>
                <a:latin typeface="Calibri"/>
              </a:rPr>
              <a:t> for detailed diagrams of each method.</a:t>
            </a:r>
          </a:p>
        </p:txBody>
      </p:sp>
      <p:sp>
        <p:nvSpPr>
          <p:cNvPr id="4" name="Content Placeholder 3"/>
          <p:cNvSpPr>
            <a:spLocks noGrp="1"/>
          </p:cNvSpPr>
          <p:nvPr>
            <p:ph idx="2" sz="half"/>
          </p:nvPr>
        </p:nvSpPr>
        <p:spPr/>
        <p:txBody>
          <a:bodyPr wrap="square"/>
          <a:lstStyle/>
          <a:p>
            <a:pPr>
              <a:spcAft>
                <a:spcPts val="1000"/>
              </a:spcAft>
            </a:pPr>
            <a:r>
              <a:rPr sz="2000" b="0" i="0">
                <a:solidFill>
                  <a:srgbClr val="333333"/>
                </a:solidFill>
                <a:latin typeface="Calibri"/>
              </a:rPr>
              <a:t>Presentation vs Visualisation Drawing</a:t>
            </a:r>
          </a:p>
          <a:p>
            <a:pPr>
              <a:spcAft>
                <a:spcPts val="1000"/>
              </a:spcAft>
            </a:pPr>
            <a:r>
              <a:rPr sz="2000" b="1" i="0">
                <a:solidFill>
                  <a:srgbClr val="1F3A5F"/>
                </a:solidFill>
                <a:latin typeface="Calibri"/>
              </a:rPr>
              <a:t>Visualisation</a:t>
            </a:r>
            <a:r>
              <a:rPr sz="2000" b="0" i="0">
                <a:solidFill>
                  <a:srgbClr val="333333"/>
                </a:solidFill>
                <a:latin typeface="Calibri"/>
              </a:rPr>
              <a:t> — quick, freehand, used during the process to explore ideas. </a:t>
            </a:r>
            <a:r>
              <a:rPr sz="2000" b="1" i="0">
                <a:solidFill>
                  <a:srgbClr val="1F3A5F"/>
                </a:solidFill>
                <a:latin typeface="Calibri"/>
              </a:rPr>
              <a:t>Presentation</a:t>
            </a:r>
            <a:r>
              <a:rPr sz="2000" b="0" i="0">
                <a:solidFill>
                  <a:srgbClr val="333333"/>
                </a:solidFill>
                <a:latin typeface="Calibri"/>
              </a:rPr>
              <a:t> — accurate, measured/rendered, used at the end to communicate the final design. </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Evaluation</a:t>
            </a:r>
          </a:p>
        </p:txBody>
      </p:sp>
      <p:sp>
        <p:nvSpPr>
          <p:cNvPr id="3" name="Content Placeholder 2"/>
          <p:cNvSpPr>
            <a:spLocks noGrp="1"/>
          </p:cNvSpPr>
          <p:nvPr>
            <p:ph idx="1" sz="half"/>
          </p:nvPr>
        </p:nvSpPr>
        <p:spPr/>
        <p:txBody>
          <a:bodyPr wrap="square"/>
          <a:lstStyle/>
          <a:p>
            <a:pPr>
              <a:spcAft>
                <a:spcPts val="1000"/>
              </a:spcAft>
            </a:pPr>
            <a:r>
              <a:rPr sz="2000" b="0" i="0">
                <a:solidFill>
                  <a:srgbClr val="333333"/>
                </a:solidFill>
                <a:latin typeface="Calibri"/>
              </a:rPr>
              <a:t>The final design is assessed against the original brief to determine whether it successfully solves the design problem for its intended audience and purpose.</a:t>
            </a:r>
          </a:p>
          <a:p>
            <a:pPr>
              <a:spcAft>
                <a:spcPts val="1000"/>
              </a:spcAft>
            </a:pPr>
            <a:r>
              <a:rPr sz="2000" b="0" i="0">
                <a:solidFill>
                  <a:srgbClr val="333333"/>
                </a:solidFill>
                <a:latin typeface="Calibri"/>
              </a:rPr>
              <a:t>Questions to Ask</a:t>
            </a:r>
          </a:p>
          <a:p>
            <a:pPr lvl="1">
              <a:spcAft>
                <a:spcPts val="1000"/>
              </a:spcAft>
            </a:pPr>
            <a:r>
              <a:rPr sz="1800" b="0" i="0">
                <a:solidFill>
                  <a:srgbClr val="333333"/>
                </a:solidFill>
                <a:latin typeface="Calibri"/>
              </a:rPr>
              <a:t>Does it meet the </a:t>
            </a:r>
            <a:r>
              <a:rPr sz="1800" b="1" i="0">
                <a:solidFill>
                  <a:srgbClr val="1F3A5F"/>
                </a:solidFill>
                <a:latin typeface="Calibri"/>
              </a:rPr>
              <a:t>purpose</a:t>
            </a:r>
            <a:r>
              <a:rPr sz="1800" b="0" i="0">
                <a:solidFill>
                  <a:srgbClr val="333333"/>
                </a:solidFill>
                <a:latin typeface="Calibri"/>
              </a:rPr>
              <a:t> stated in the brief?</a:t>
            </a:r>
          </a:p>
          <a:p>
            <a:pPr lvl="1">
              <a:spcAft>
                <a:spcPts val="1000"/>
              </a:spcAft>
            </a:pPr>
            <a:r>
              <a:rPr sz="1800" b="0" i="0">
                <a:solidFill>
                  <a:srgbClr val="333333"/>
                </a:solidFill>
                <a:latin typeface="Calibri"/>
              </a:rPr>
              <a:t>Is it appropriate for the </a:t>
            </a:r>
            <a:r>
              <a:rPr sz="1800" b="1" i="0">
                <a:solidFill>
                  <a:srgbClr val="1F3A5F"/>
                </a:solidFill>
                <a:latin typeface="Calibri"/>
              </a:rPr>
              <a:t>target audience</a:t>
            </a:r>
            <a:r>
              <a:rPr sz="1800" b="0" i="0">
                <a:solidFill>
                  <a:srgbClr val="333333"/>
                </a:solidFill>
                <a:latin typeface="Calibri"/>
              </a:rPr>
              <a:t>?</a:t>
            </a:r>
          </a:p>
          <a:p>
            <a:pPr lvl="1">
              <a:spcAft>
                <a:spcPts val="1000"/>
              </a:spcAft>
            </a:pPr>
            <a:r>
              <a:rPr sz="1800" b="0" i="0">
                <a:solidFill>
                  <a:srgbClr val="333333"/>
                </a:solidFill>
                <a:latin typeface="Calibri"/>
              </a:rPr>
              <a:t>Were the </a:t>
            </a:r>
            <a:r>
              <a:rPr sz="1800" b="1" i="0">
                <a:solidFill>
                  <a:srgbClr val="1F3A5F"/>
                </a:solidFill>
                <a:latin typeface="Calibri"/>
              </a:rPr>
              <a:t>constraints</a:t>
            </a:r>
            <a:r>
              <a:rPr sz="1800" b="0" i="0">
                <a:solidFill>
                  <a:srgbClr val="333333"/>
                </a:solidFill>
                <a:latin typeface="Calibri"/>
              </a:rPr>
              <a:t> (budget, materials, size) respected?</a:t>
            </a:r>
          </a:p>
          <a:p>
            <a:pPr lvl="1">
              <a:spcAft>
                <a:spcPts val="1000"/>
              </a:spcAft>
            </a:pPr>
            <a:r>
              <a:rPr sz="1800" b="0" i="0">
                <a:solidFill>
                  <a:srgbClr val="333333"/>
                </a:solidFill>
                <a:latin typeface="Calibri"/>
              </a:rPr>
              <a:t>What would you </a:t>
            </a:r>
            <a:r>
              <a:rPr sz="1800" b="1" i="0">
                <a:solidFill>
                  <a:srgbClr val="1F3A5F"/>
                </a:solidFill>
                <a:latin typeface="Calibri"/>
              </a:rPr>
              <a:t>improve</a:t>
            </a:r>
            <a:r>
              <a:rPr sz="1800" b="0" i="0">
                <a:solidFill>
                  <a:srgbClr val="333333"/>
                </a:solidFill>
                <a:latin typeface="Calibri"/>
              </a:rPr>
              <a:t> if given more time?</a:t>
            </a:r>
          </a:p>
          <a:p>
            <a:pPr>
              <a:spcAft>
                <a:spcPts val="1000"/>
              </a:spcAft>
            </a:pPr>
            <a:r>
              <a:rPr sz="1800" b="1" i="1">
                <a:solidFill>
                  <a:srgbClr val="1F3A5F"/>
                </a:solidFill>
                <a:latin typeface="Calibri"/>
              </a:rPr>
              <a:t>Exam vocab:</a:t>
            </a:r>
            <a:r>
              <a:rPr sz="1800" b="0" i="1">
                <a:solidFill>
                  <a:srgbClr val="333333"/>
                </a:solidFill>
                <a:latin typeface="Calibri"/>
              </a:rPr>
              <a:t> evaluate, effective/ineffective, criteria, justify, refine further, meets the brief</a:t>
            </a:r>
          </a:p>
        </p:txBody>
      </p:sp>
      <p:sp>
        <p:nvSpPr>
          <p:cNvPr id="4" name="Content Placeholder 3"/>
          <p:cNvSpPr>
            <a:spLocks noGrp="1"/>
          </p:cNvSpPr>
          <p:nvPr>
            <p:ph idx="2" sz="half"/>
          </p:nvPr>
        </p:nvSpPr>
        <p:spPr/>
        <p:txBody>
          <a:bodyPr wrap="square"/>
          <a:lstStyle/>
          <a:p>
            <a:pPr>
              <a:spcAft>
                <a:spcPts val="1000"/>
              </a:spcAft>
            </a:pPr>
            <a:r>
              <a:rPr sz="2000" b="1" i="0">
                <a:solidFill>
                  <a:srgbClr val="1F3A5F"/>
                </a:solidFill>
                <a:latin typeface="Calibri"/>
              </a:rPr>
              <a:t>The process is cyclical</a:t>
            </a:r>
          </a:p>
          <a:p>
            <a:pPr>
              <a:spcAft>
                <a:spcPts val="1000"/>
              </a:spcAft>
            </a:pPr>
            <a:r>
              <a:rPr sz="2000" b="0" i="0">
                <a:solidFill>
                  <a:srgbClr val="333333"/>
                </a:solidFill>
                <a:latin typeface="Calibri"/>
              </a:rPr>
              <a:t>Evaluation often leads back to further development or even new research — real design work loops back on itself rather than running in one straight line.</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The Process as a Cycle</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1</a:t>
            </a:r>
          </a:p>
          <a:p>
            <a:pPr lvl="1">
              <a:spcAft>
                <a:spcPts val="1000"/>
              </a:spcAft>
            </a:pPr>
            <a:r>
              <a:rPr sz="1800" b="0" i="0">
                <a:solidFill>
                  <a:srgbClr val="333333"/>
                </a:solidFill>
                <a:latin typeface="Calibri"/>
              </a:rPr>
              <a:t>Research &amp; Brief</a:t>
            </a:r>
          </a:p>
          <a:p>
            <a:pPr lvl="1">
              <a:spcAft>
                <a:spcPts val="1000"/>
              </a:spcAft>
            </a:pPr>
            <a:r>
              <a:rPr sz="1800" b="0" i="0">
                <a:solidFill>
                  <a:srgbClr val="333333"/>
                </a:solidFill>
                <a:latin typeface="Calibri"/>
              </a:rPr>
              <a:t>Understand the problem</a:t>
            </a:r>
          </a:p>
          <a:p>
            <a:pPr lvl="1">
              <a:spcAft>
                <a:spcPts val="1000"/>
              </a:spcAft>
            </a:pPr>
            <a:r>
              <a:rPr sz="1800" b="0" i="0">
                <a:solidFill>
                  <a:srgbClr val="333333"/>
                </a:solidFill>
                <a:latin typeface="Calibri"/>
              </a:rPr>
              <a:t>2</a:t>
            </a:r>
          </a:p>
          <a:p>
            <a:pPr lvl="1">
              <a:spcAft>
                <a:spcPts val="1000"/>
              </a:spcAft>
            </a:pPr>
            <a:r>
              <a:rPr sz="1800" b="0" i="0">
                <a:solidFill>
                  <a:srgbClr val="333333"/>
                </a:solidFill>
                <a:latin typeface="Calibri"/>
              </a:rPr>
              <a:t>Generation</a:t>
            </a:r>
          </a:p>
          <a:p>
            <a:pPr lvl="1">
              <a:spcAft>
                <a:spcPts val="1000"/>
              </a:spcAft>
            </a:pPr>
            <a:r>
              <a:rPr sz="1800" b="0" i="0">
                <a:solidFill>
                  <a:srgbClr val="333333"/>
                </a:solidFill>
                <a:latin typeface="Calibri"/>
              </a:rPr>
              <a:t>Many rough ideas</a:t>
            </a:r>
          </a:p>
          <a:p>
            <a:pPr lvl="1">
              <a:spcAft>
                <a:spcPts val="1000"/>
              </a:spcAft>
            </a:pPr>
            <a:r>
              <a:rPr sz="1800" b="0" i="0">
                <a:solidFill>
                  <a:srgbClr val="333333"/>
                </a:solidFill>
                <a:latin typeface="Calibri"/>
              </a:rPr>
              <a:t>3</a:t>
            </a:r>
          </a:p>
          <a:p>
            <a:pPr lvl="1">
              <a:spcAft>
                <a:spcPts val="1000"/>
              </a:spcAft>
            </a:pPr>
            <a:r>
              <a:rPr sz="1800" b="0" i="0">
                <a:solidFill>
                  <a:srgbClr val="333333"/>
                </a:solidFill>
                <a:latin typeface="Calibri"/>
              </a:rPr>
              <a:t>Development</a:t>
            </a:r>
          </a:p>
          <a:p>
            <a:pPr lvl="1">
              <a:spcAft>
                <a:spcPts val="1000"/>
              </a:spcAft>
            </a:pPr>
            <a:r>
              <a:rPr sz="1800" b="0" i="0">
                <a:solidFill>
                  <a:srgbClr val="333333"/>
                </a:solidFill>
                <a:latin typeface="Calibri"/>
              </a:rPr>
              <a:t>Refine &amp; test ideas</a:t>
            </a:r>
          </a:p>
          <a:p>
            <a:pPr lvl="1">
              <a:spcAft>
                <a:spcPts val="1000"/>
              </a:spcAft>
            </a:pPr>
            <a:r>
              <a:rPr sz="1800" b="0" i="0">
                <a:solidFill>
                  <a:srgbClr val="333333"/>
                </a:solidFill>
                <a:latin typeface="Calibri"/>
              </a:rPr>
              <a:t>4</a:t>
            </a:r>
          </a:p>
          <a:p>
            <a:pPr lvl="1">
              <a:spcAft>
                <a:spcPts val="1000"/>
              </a:spcAft>
            </a:pPr>
            <a:r>
              <a:rPr sz="1800" b="0" i="0">
                <a:solidFill>
                  <a:srgbClr val="333333"/>
                </a:solidFill>
                <a:latin typeface="Calibri"/>
              </a:rPr>
              <a:t>Presentation</a:t>
            </a:r>
          </a:p>
          <a:p>
            <a:pPr lvl="1">
              <a:spcAft>
                <a:spcPts val="1000"/>
              </a:spcAft>
            </a:pPr>
            <a:r>
              <a:rPr sz="1800" b="0" i="0">
                <a:solidFill>
                  <a:srgbClr val="333333"/>
                </a:solidFill>
                <a:latin typeface="Calibri"/>
              </a:rPr>
              <a:t>Final resolved design</a:t>
            </a:r>
          </a:p>
          <a:p>
            <a:pPr lvl="1">
              <a:spcAft>
                <a:spcPts val="1000"/>
              </a:spcAft>
            </a:pPr>
            <a:r>
              <a:rPr sz="1800" b="0" i="0">
                <a:solidFill>
                  <a:srgbClr val="333333"/>
                </a:solidFill>
                <a:latin typeface="Calibri"/>
              </a:rPr>
              <a:t>5</a:t>
            </a:r>
          </a:p>
          <a:p>
            <a:pPr lvl="1">
              <a:spcAft>
                <a:spcPts val="1000"/>
              </a:spcAft>
            </a:pPr>
            <a:r>
              <a:rPr sz="1800" b="0" i="0">
                <a:solidFill>
                  <a:srgbClr val="333333"/>
                </a:solidFill>
                <a:latin typeface="Calibri"/>
              </a:rPr>
              <a:t>Evaluation</a:t>
            </a:r>
          </a:p>
          <a:p>
            <a:pPr lvl="1">
              <a:spcAft>
                <a:spcPts val="1000"/>
              </a:spcAft>
            </a:pPr>
            <a:r>
              <a:rPr sz="1800" b="0" i="0">
                <a:solidFill>
                  <a:srgbClr val="333333"/>
                </a:solidFill>
                <a:latin typeface="Calibri"/>
              </a:rPr>
              <a:t>Assess against brief</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Answering Design Process Questions</a:t>
            </a:r>
          </a:p>
        </p:txBody>
      </p:sp>
      <p:sp>
        <p:nvSpPr>
          <p:cNvPr id="3" name="Content Placeholder 2"/>
          <p:cNvSpPr>
            <a:spLocks noGrp="1"/>
          </p:cNvSpPr>
          <p:nvPr>
            <p:ph idx="1" sz="half"/>
          </p:nvPr>
        </p:nvSpPr>
        <p:spPr/>
        <p:txBody>
          <a:bodyPr wrap="square"/>
          <a:lstStyle/>
          <a:p>
            <a:pPr lvl="1">
              <a:spcAft>
                <a:spcPts val="1000"/>
              </a:spcAft>
            </a:pPr>
            <a:r>
              <a:rPr sz="1800" b="0" i="0">
                <a:solidFill>
                  <a:srgbClr val="333333"/>
                </a:solidFill>
                <a:latin typeface="Calibri"/>
              </a:rPr>
              <a:t>Stage → Purpose → Evidence</a:t>
            </a:r>
          </a:p>
          <a:p>
            <a:pPr lvl="1">
              <a:spcAft>
                <a:spcPts val="1000"/>
              </a:spcAft>
            </a:pPr>
            <a:r>
              <a:rPr sz="1800" b="0" i="0">
                <a:solidFill>
                  <a:srgbClr val="333333"/>
                </a:solidFill>
                <a:latin typeface="Calibri"/>
              </a:rPr>
              <a:t>1. Name the stage of the process</a:t>
            </a:r>
          </a:p>
          <a:p>
            <a:pPr lvl="1">
              <a:spcAft>
                <a:spcPts val="1000"/>
              </a:spcAft>
            </a:pPr>
            <a:r>
              <a:rPr sz="1800" b="0" i="0">
                <a:solidFill>
                  <a:srgbClr val="333333"/>
                </a:solidFill>
                <a:latin typeface="Calibri"/>
              </a:rPr>
              <a:t>2. Explain its purpose in that stage</a:t>
            </a:r>
          </a:p>
          <a:p>
            <a:pPr lvl="1">
              <a:spcAft>
                <a:spcPts val="1000"/>
              </a:spcAft>
            </a:pPr>
            <a:r>
              <a:rPr sz="1800" b="0" i="0">
                <a:solidFill>
                  <a:srgbClr val="333333"/>
                </a:solidFill>
                <a:latin typeface="Calibri"/>
              </a:rPr>
              <a:t>3. Link to specific folio evidence (sketches, brief, feedback)</a:t>
            </a:r>
          </a:p>
          <a:p>
            <a:pPr lvl="1">
              <a:spcAft>
                <a:spcPts val="1000"/>
              </a:spcAft>
            </a:pPr>
            <a:r>
              <a:rPr sz="1800" b="0" i="0">
                <a:solidFill>
                  <a:srgbClr val="333333"/>
                </a:solidFill>
                <a:latin typeface="Calibri"/>
              </a:rPr>
              <a:t> Do NOT write:</a:t>
            </a:r>
          </a:p>
          <a:p>
            <a:pPr lvl="1">
              <a:spcAft>
                <a:spcPts val="1000"/>
              </a:spcAft>
            </a:pPr>
            <a:r>
              <a:rPr sz="1800" b="0" i="0">
                <a:solidFill>
                  <a:srgbClr val="333333"/>
                </a:solidFill>
                <a:latin typeface="Calibri"/>
              </a:rPr>
              <a:t>"First I did research then I did some drawings."</a:t>
            </a:r>
          </a:p>
          <a:p>
            <a:pPr lvl="1">
              <a:spcAft>
                <a:spcPts val="1000"/>
              </a:spcAft>
            </a:pPr>
            <a:r>
              <a:rPr sz="1800" b="0" i="0">
                <a:solidFill>
                  <a:srgbClr val="333333"/>
                </a:solidFill>
                <a:latin typeface="Calibri"/>
              </a:rPr>
              <a:t> Write this instead:</a:t>
            </a:r>
          </a:p>
          <a:p>
            <a:pPr lvl="1">
              <a:spcAft>
                <a:spcPts val="1000"/>
              </a:spcAft>
            </a:pPr>
            <a:r>
              <a:rPr sz="1800" b="0" i="0">
                <a:solidFill>
                  <a:srgbClr val="333333"/>
                </a:solidFill>
                <a:latin typeface="Calibri"/>
              </a:rPr>
              <a:t>"During the generation of ideas stage, thumbnail sketches were used to explore a wide range of layout options quickly, allowing divergent thinking before selecting a direction to develop further."</a:t>
            </a:r>
          </a:p>
        </p:txBody>
      </p:sp>
      <p:sp>
        <p:nvSpPr>
          <p:cNvPr id="4" name="Content Placeholder 3"/>
          <p:cNvSpPr>
            <a:spLocks noGrp="1"/>
          </p:cNvSpPr>
          <p:nvPr>
            <p:ph idx="2" sz="half"/>
          </p:nvPr>
        </p:nvSpPr>
        <p:spPr/>
        <p:txBody>
          <a:bodyPr wrap="square"/>
          <a:lstStyle/>
          <a:p>
            <a:pPr>
              <a:spcAft>
                <a:spcPts val="1000"/>
              </a:spcAft>
            </a:pPr>
            <a:r>
              <a:rPr sz="1800" b="0" i="1">
                <a:solidFill>
                  <a:srgbClr val="333333"/>
                </a:solidFill>
                <a:latin typeface="Calibri"/>
              </a:rPr>
              <a:t>Sentence Starters</a:t>
            </a:r>
          </a:p>
          <a:p>
            <a:pPr lvl="1">
              <a:spcAft>
                <a:spcPts val="1000"/>
              </a:spcAft>
            </a:pPr>
            <a:r>
              <a:rPr sz="1800" b="0" i="0">
                <a:solidFill>
                  <a:srgbClr val="333333"/>
                </a:solidFill>
                <a:latin typeface="Calibri"/>
              </a:rPr>
              <a:t>"The design brief specified..."</a:t>
            </a:r>
          </a:p>
          <a:p>
            <a:pPr lvl="1">
              <a:spcAft>
                <a:spcPts val="1000"/>
              </a:spcAft>
            </a:pPr>
            <a:r>
              <a:rPr sz="1800" b="0" i="0">
                <a:solidFill>
                  <a:srgbClr val="333333"/>
                </a:solidFill>
                <a:latin typeface="Calibri"/>
              </a:rPr>
              <a:t>"During generation, [technique] was used to..."</a:t>
            </a:r>
          </a:p>
          <a:p>
            <a:pPr lvl="1">
              <a:spcAft>
                <a:spcPts val="1000"/>
              </a:spcAft>
            </a:pPr>
            <a:r>
              <a:rPr sz="1800" b="0" i="0">
                <a:solidFill>
                  <a:srgbClr val="333333"/>
                </a:solidFill>
                <a:latin typeface="Calibri"/>
              </a:rPr>
              <a:t>"The idea was refined by..."</a:t>
            </a:r>
          </a:p>
          <a:p>
            <a:pPr lvl="1">
              <a:spcAft>
                <a:spcPts val="1000"/>
              </a:spcAft>
            </a:pPr>
            <a:r>
              <a:rPr sz="1800" b="0" i="0">
                <a:solidFill>
                  <a:srgbClr val="333333"/>
                </a:solidFill>
                <a:latin typeface="Calibri"/>
              </a:rPr>
              <a:t>" Presentation drawing was used to communicate..."</a:t>
            </a:r>
          </a:p>
          <a:p>
            <a:pPr lvl="1">
              <a:spcAft>
                <a:spcPts val="1000"/>
              </a:spcAft>
            </a:pPr>
            <a:r>
              <a:rPr sz="1800" b="0" i="0">
                <a:solidFill>
                  <a:srgbClr val="333333"/>
                </a:solidFill>
                <a:latin typeface="Calibri"/>
              </a:rPr>
              <a:t>"When evaluated against the brief, the design..."</a:t>
            </a:r>
          </a:p>
        </p:txBody>
      </p:sp>
      <p:sp>
        <p:nvSpPr>
          <p:cNvPr id="5" name="Rectangle 4"/>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200" b="1">
                <a:solidFill>
                  <a:srgbClr val="1F3A5F"/>
                </a:solidFill>
                <a:latin typeface="Cambria"/>
              </a:rPr>
              <a:t>The Design Process — Quick Reference</a:t>
            </a:r>
          </a:p>
        </p:txBody>
      </p:sp>
      <p:sp>
        <p:nvSpPr>
          <p:cNvPr id="3" name="Content Placeholder 2"/>
          <p:cNvSpPr>
            <a:spLocks noGrp="1"/>
          </p:cNvSpPr>
          <p:nvPr>
            <p:ph idx="1"/>
          </p:nvPr>
        </p:nvSpPr>
        <p:spPr/>
        <p:txBody>
          <a:bodyPr wrap="square"/>
          <a:lstStyle/>
          <a:p>
            <a:pPr lvl="1">
              <a:spcAft>
                <a:spcPts val="1000"/>
              </a:spcAft>
            </a:pPr>
            <a:r>
              <a:rPr sz="1800" b="0" i="0">
                <a:solidFill>
                  <a:srgbClr val="333333"/>
                </a:solidFill>
                <a:latin typeface="Calibri"/>
              </a:rPr>
              <a:t>1. Research</a:t>
            </a:r>
          </a:p>
          <a:p>
            <a:pPr lvl="1">
              <a:spcAft>
                <a:spcPts val="1000"/>
              </a:spcAft>
            </a:pPr>
            <a:r>
              <a:rPr sz="1800" b="0" i="0">
                <a:solidFill>
                  <a:srgbClr val="333333"/>
                </a:solidFill>
                <a:latin typeface="Calibri"/>
              </a:rPr>
              <a:t>Brief, client, audience, primary + secondary research.</a:t>
            </a:r>
          </a:p>
          <a:p>
            <a:pPr lvl="1">
              <a:spcAft>
                <a:spcPts val="1000"/>
              </a:spcAft>
            </a:pPr>
            <a:r>
              <a:rPr sz="1800" b="0" i="0">
                <a:solidFill>
                  <a:srgbClr val="333333"/>
                </a:solidFill>
                <a:latin typeface="Calibri"/>
              </a:rPr>
              <a:t>2. Generation</a:t>
            </a:r>
          </a:p>
          <a:p>
            <a:pPr lvl="1">
              <a:spcAft>
                <a:spcPts val="1000"/>
              </a:spcAft>
            </a:pPr>
            <a:r>
              <a:rPr sz="1800" b="0" i="0">
                <a:solidFill>
                  <a:srgbClr val="333333"/>
                </a:solidFill>
                <a:latin typeface="Calibri"/>
              </a:rPr>
              <a:t>Brainstorm, mind map, thumbnails. Quantity over quality.</a:t>
            </a:r>
          </a:p>
          <a:p>
            <a:pPr lvl="1">
              <a:spcAft>
                <a:spcPts val="1000"/>
              </a:spcAft>
            </a:pPr>
            <a:r>
              <a:rPr sz="1800" b="0" i="0">
                <a:solidFill>
                  <a:srgbClr val="333333"/>
                </a:solidFill>
                <a:latin typeface="Calibri"/>
              </a:rPr>
              <a:t>3. Development</a:t>
            </a:r>
          </a:p>
          <a:p>
            <a:pPr lvl="1">
              <a:spcAft>
                <a:spcPts val="1000"/>
              </a:spcAft>
            </a:pPr>
            <a:r>
              <a:rPr sz="1800" b="0" i="0">
                <a:solidFill>
                  <a:srgbClr val="333333"/>
                </a:solidFill>
                <a:latin typeface="Calibri"/>
              </a:rPr>
              <a:t>Annotate, visualise, test against the brief.</a:t>
            </a:r>
          </a:p>
          <a:p>
            <a:pPr lvl="1">
              <a:spcAft>
                <a:spcPts val="1000"/>
              </a:spcAft>
            </a:pPr>
            <a:r>
              <a:rPr sz="1800" b="0" i="0">
                <a:solidFill>
                  <a:srgbClr val="333333"/>
                </a:solidFill>
                <a:latin typeface="Calibri"/>
              </a:rPr>
              <a:t>4. Presentation</a:t>
            </a:r>
          </a:p>
          <a:p>
            <a:pPr lvl="1">
              <a:spcAft>
                <a:spcPts val="1000"/>
              </a:spcAft>
            </a:pPr>
            <a:r>
              <a:rPr sz="1800" b="0" i="0">
                <a:solidFill>
                  <a:srgbClr val="333333"/>
                </a:solidFill>
                <a:latin typeface="Calibri"/>
              </a:rPr>
              <a:t>Orthogonal, isometric, perspective, final render.</a:t>
            </a:r>
          </a:p>
          <a:p>
            <a:pPr lvl="1">
              <a:spcAft>
                <a:spcPts val="1000"/>
              </a:spcAft>
            </a:pPr>
            <a:r>
              <a:rPr sz="1800" b="0" i="0">
                <a:solidFill>
                  <a:srgbClr val="333333"/>
                </a:solidFill>
                <a:latin typeface="Calibri"/>
              </a:rPr>
              <a:t>5. Evaluation</a:t>
            </a:r>
          </a:p>
          <a:p>
            <a:pPr lvl="1">
              <a:spcAft>
                <a:spcPts val="1000"/>
              </a:spcAft>
            </a:pPr>
            <a:r>
              <a:rPr sz="1800" b="0" i="0">
                <a:solidFill>
                  <a:srgbClr val="333333"/>
                </a:solidFill>
                <a:latin typeface="Calibri"/>
              </a:rPr>
              <a:t>Assess against brief, audience, purpose, constraints.</a:t>
            </a:r>
          </a:p>
          <a:p>
            <a:pPr>
              <a:spcAft>
                <a:spcPts val="1000"/>
              </a:spcAft>
            </a:pPr>
            <a:r>
              <a:rPr sz="2000" b="0" i="0">
                <a:solidFill>
                  <a:srgbClr val="333333"/>
                </a:solidFill>
                <a:latin typeface="Calibri"/>
              </a:rPr>
              <a:t> Reminder: the process is </a:t>
            </a:r>
            <a:r>
              <a:rPr sz="2000" b="1" i="0">
                <a:solidFill>
                  <a:srgbClr val="1F3A5F"/>
                </a:solidFill>
                <a:latin typeface="Calibri"/>
              </a:rPr>
              <a:t>cyclical, not strictly linear</a:t>
            </a:r>
            <a:r>
              <a:rPr sz="2000" b="0" i="0">
                <a:solidFill>
                  <a:srgbClr val="333333"/>
                </a:solidFill>
                <a:latin typeface="Calibri"/>
              </a:rPr>
              <a:t> — evaluation can send you back to any earlier stage. </a:t>
            </a:r>
          </a:p>
        </p:txBody>
      </p:sp>
      <p:sp>
        <p:nvSpPr>
          <p:cNvPr id="4" name="Rectangle 3"/>
          <p:cNvSpPr/>
          <p:nvPr/>
        </p:nvSpPr>
        <p:spPr>
          <a:xfrm>
            <a:off x="548640" y="1234440"/>
            <a:ext cx="1463040"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