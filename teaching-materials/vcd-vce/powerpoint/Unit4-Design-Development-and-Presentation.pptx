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420000">
            <a:off x="-1188720" y="-1005840"/>
            <a:ext cx="7863840" cy="6766560"/>
          </a:xfrm>
          <a:prstGeom prst="roundRect">
            <a:avLst>
              <a:gd name="adj" fmla="val 32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640080"/>
            <a:ext cx="2194560" cy="219456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623560"/>
            <a:ext cx="1371600" cy="1371600"/>
          </a:xfrm>
          <a:prstGeom prst="ellipse">
            <a:avLst/>
          </a:prstGeom>
          <a:solidFill>
            <a:srgbClr val="C9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3566160"/>
            <a:ext cx="3291840" cy="3108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0" b="1" i="0">
                <a:solidFill>
                  <a:srgbClr val="D8D8DE"/>
                </a:solidFill>
                <a:latin typeface="Cambria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50" b="1">
                <a:solidFill>
                  <a:srgbClr val="2B2A4A"/>
                </a:solidFill>
                <a:latin typeface="Calibri"/>
              </a:rPr>
              <a:t>VCE VISUAL COMMUNICATION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669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Unit 4: Design, Development and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9E9EC"/>
                </a:solidFill>
                <a:latin typeface="Calibri"/>
              </a:rPr>
              <a:t>VCE Visual Communication Design — Year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4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BE9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BE9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AD8334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B88B37"/>
                </a:solidFill>
                <a:latin typeface="Cambria"/>
              </a:rPr>
              <a:t>Development &amp;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AOS 1 - Development and Resolution of Designs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DEVELOPMENT &amp;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Developing Your Two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In Unit 4, you take the </a:t>
            </a:r>
            <a:r>
              <a:rPr sz="1400" b="1" i="0">
                <a:solidFill>
                  <a:srgbClr val="24233E"/>
                </a:solidFill>
                <a:latin typeface="Calibri"/>
              </a:rPr>
              <a:t>two distinct concepts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generated in Unit 3 and develop each one further through testing, refinement and feedback.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One concept is ultimately selected and resolved into a final presentation — but both must show visible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Development Shows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Testing of options (type, colour, material)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Annotated decision-making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Response to feedback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Progress toward a resolved final design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DEVELOPMENT &amp;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Methods of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Type Trials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Testing typefaces, weights and sizes for the strongest hierarchy and tone.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8334"/>
                </a:solidFill>
                <a:latin typeface="Calibri"/>
              </a:rPr>
              <a:t>Colour Trials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Testing palettes for mood, contrast and audience appropriateness.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627E"/>
                </a:solidFill>
                <a:latin typeface="Calibri"/>
              </a:rPr>
              <a:t>Material/Scale Trials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Testing physical materials, surface finishes or scale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Layout Trials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Testing composition, grid structure and hierarchy arrangements.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9A441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01F33"/>
                </a:solidFill>
                <a:latin typeface="Calibri"/>
              </a:rPr>
              <a:t> Every trial should be </a:t>
            </a:r>
            <a:r>
              <a:rPr sz="1200" b="1" i="0">
                <a:solidFill>
                  <a:srgbClr val="B88B37"/>
                </a:solidFill>
                <a:latin typeface="Calibri"/>
              </a:rPr>
              <a:t>annotated</a:t>
            </a:r>
            <a:r>
              <a:rPr sz="1200" b="0" i="0">
                <a:solidFill>
                  <a:srgbClr val="201F33"/>
                </a:solidFill>
                <a:latin typeface="Calibri"/>
              </a:rPr>
              <a:t> — explain why an option was chosen or rejected, referencing the brief.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DEVELOPMENT &amp;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Feedback &amp; Testing Against the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Development is not just personal preference — it is an iterative process of testing ideas against the brief and gathering feedback.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Peer feedback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classmates critique clarity and effectiveness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Teacher feedback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checks against assessment criteria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Self-testing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does it meet the audience, purpose and constraints?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Exam Tip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When describing development, always show the </a:t>
            </a:r>
            <a:r>
              <a:rPr sz="1400" b="1" i="0">
                <a:solidFill>
                  <a:srgbClr val="AA6886"/>
                </a:solidFill>
                <a:latin typeface="Calibri"/>
              </a:rPr>
              <a:t>before → feedback/testing → after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sequence, not just the final result.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DEVELOPMENT &amp;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Selecting a Direction to Resolve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After development, one concept is chosen to be resolved into the final design. This decision must be justified against the brief.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Which concept best meets the </a:t>
            </a:r>
            <a:r>
              <a:rPr sz="1250" b="1" i="0">
                <a:solidFill>
                  <a:srgbClr val="24233E"/>
                </a:solidFill>
                <a:latin typeface="Calibri"/>
              </a:rPr>
              <a:t>audience &amp; purpose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?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Which received the strongest </a:t>
            </a:r>
            <a:r>
              <a:rPr sz="1250" b="1" i="0">
                <a:solidFill>
                  <a:srgbClr val="24233E"/>
                </a:solidFill>
                <a:latin typeface="Calibri"/>
              </a:rPr>
              <a:t>feedback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?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Which is most </a:t>
            </a:r>
            <a:r>
              <a:rPr sz="1250" b="1" i="0">
                <a:solidFill>
                  <a:srgbClr val="24233E"/>
                </a:solidFill>
                <a:latin typeface="Calibri"/>
              </a:rPr>
              <a:t>achievable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within constraints (time, materials)?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The rejected concept is not wasted — it still demonstrates </a:t>
            </a:r>
            <a:r>
              <a:rPr sz="1400" b="1" i="0">
                <a:solidFill>
                  <a:srgbClr val="AA6886"/>
                </a:solidFill>
                <a:latin typeface="Calibri"/>
              </a:rPr>
              <a:t>breadth of development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and is assessed as part of your folio.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DEVELOPMENT &amp;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Answering Development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Method → Change → Justification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1. Name the development method used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2. Describe what changed between versions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3. Justify the change against the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>
              <a:spcAft>
                <a:spcPts val="900"/>
              </a:spcAft>
              <a:buNone/>
            </a:pPr>
            <a:r>
              <a:rPr sz="1250" b="0" i="1">
                <a:solidFill>
                  <a:srgbClr val="201F33"/>
                </a:solidFill>
                <a:latin typeface="Calibri"/>
              </a:rPr>
              <a:t>Sentence Starters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"A colour trial was conducted to test..."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"Following feedback, the [feature] was changed to..."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"This concept was selected for resolution because..."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DEVELOPMENT &amp;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Development &amp; Resolution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Type Trials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Test typeface, weight, hierarchy.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8334"/>
                </a:solidFill>
                <a:latin typeface="Calibri"/>
              </a:rPr>
              <a:t>Colour Trials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Test palette for mood &amp; audience.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627E"/>
                </a:solidFill>
                <a:latin typeface="Calibri"/>
              </a:rPr>
              <a:t>Feedback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Peer, teacher, self-testing against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Selection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Justify the chosen concept against the brief.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9A441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01F33"/>
                </a:solidFill>
                <a:latin typeface="Calibri"/>
              </a:rPr>
              <a:t> Reminder: the resolved concept moves into </a:t>
            </a:r>
            <a:r>
              <a:rPr sz="1200" b="1" i="0">
                <a:solidFill>
                  <a:srgbClr val="B88B37"/>
                </a:solidFill>
                <a:latin typeface="Calibri"/>
              </a:rPr>
              <a:t>Unit 4 AOS 2</a:t>
            </a:r>
            <a:r>
              <a:rPr sz="1200" b="0" i="0">
                <a:solidFill>
                  <a:srgbClr val="201F33"/>
                </a:solidFill>
                <a:latin typeface="Calibri"/>
              </a:rPr>
              <a:t> for final presentation and evaluation.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25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25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22213B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4233E"/>
                </a:solidFill>
                <a:latin typeface="Cambria"/>
              </a:rPr>
              <a:t>Evaluation &amp;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AOS 2 - Evaluation, Refinement and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From Resolution to Final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Once a concept is resolved, it undergoes </a:t>
            </a:r>
            <a:r>
              <a:rPr sz="1400" b="1" i="0">
                <a:solidFill>
                  <a:srgbClr val="24233E"/>
                </a:solidFill>
                <a:latin typeface="Calibri"/>
              </a:rPr>
              <a:t>final refinement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— small, precise adjustments — before being presented to a professional standard.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The finished design is then </a:t>
            </a:r>
            <a:r>
              <a:rPr sz="1400" b="1" i="0">
                <a:solidFill>
                  <a:srgbClr val="24233E"/>
                </a:solidFill>
                <a:latin typeface="Calibri"/>
              </a:rPr>
              <a:t>evaluated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against the original brief to determine its success.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This AOS Covers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Final refinement techniques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Presentation drawing standards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Folio layout and clarity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Evaluating against the brief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Presentation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The final design must be presented using an appropriate method to a professional standard, clearly communicating the resolved concept.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Accuracy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correct use of orthogonal, isometric or perspective methods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Rendering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colour, tone and material communicated clearly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Context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mockups or environment shown where relevant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Craftsmanship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clean linework, consistent scale, legible annotation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See the </a:t>
            </a:r>
            <a:r>
              <a:rPr sz="1400" b="1" i="0">
                <a:solidFill>
                  <a:srgbClr val="AA6886"/>
                </a:solidFill>
                <a:latin typeface="Calibri"/>
              </a:rPr>
              <a:t>Technical Drawing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AA6886"/>
                </a:solidFill>
                <a:latin typeface="Calibri"/>
              </a:rPr>
              <a:t>Visualisation Drawing</a:t>
            </a:r>
            <a:r>
              <a:rPr sz="1400" b="0" i="0">
                <a:solidFill>
                  <a:srgbClr val="201F33"/>
                </a:solidFill>
                <a:latin typeface="Calibri"/>
              </a:rPr>
              <a:t> handouts (Unit 1 AOS 2) for a full recap of drawing methods.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Evaluating Against the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Purpose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Does the design achieve its communication objective?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8334"/>
                </a:solidFill>
                <a:latin typeface="Calibri"/>
              </a:rPr>
              <a:t>Audience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Is it appropriate and effective for the target audience?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627E"/>
                </a:solidFill>
                <a:latin typeface="Calibri"/>
              </a:rPr>
              <a:t>Constraints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Were the stated constraints respected (materials, time, format)?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Obligatory Fields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Were all required design outcomes delivered?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9A441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01F33"/>
                </a:solidFill>
                <a:latin typeface="Calibri"/>
              </a:rPr>
              <a:t> A strong evaluation is </a:t>
            </a:r>
            <a:r>
              <a:rPr sz="1200" b="1" i="0">
                <a:solidFill>
                  <a:srgbClr val="B88B37"/>
                </a:solidFill>
                <a:latin typeface="Calibri"/>
              </a:rPr>
              <a:t>specific and balanced</a:t>
            </a:r>
            <a:r>
              <a:rPr sz="1200" b="0" i="0">
                <a:solidFill>
                  <a:srgbClr val="201F33"/>
                </a:solidFill>
                <a:latin typeface="Calibri"/>
              </a:rPr>
              <a:t> — identify genuine strengths and any limitations, not just praise.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Folio Layout &amp; Clarity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How your folio is organised affects how clearly your design thinking can be assessed.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Sequence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brief → research → generation → development → resolution → evaluation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Labelling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clearly label the brief, each concept, and final design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4233E"/>
                </a:solidFill>
                <a:latin typeface="Calibri"/>
              </a:rPr>
              <a:t>Consistency</a:t>
            </a:r>
            <a:r>
              <a:rPr sz="1250" b="0" i="0">
                <a:solidFill>
                  <a:srgbClr val="201F33"/>
                </a:solidFill>
                <a:latin typeface="Calibri"/>
              </a:rPr>
              <a:t> — consistent visual presentation across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Exam Tip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1F33"/>
                </a:solidFill>
                <a:latin typeface="Calibri"/>
              </a:rPr>
              <a:t>Exam questions may show a folio excerpt and ask you to identify which stage of the process it represents — know the full sequence well.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Writing an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5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Criterion → Evidence → Judgement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1. State the brief criterion being evaluated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2. Give evidence from the final design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3. Judge whether it succeeds, with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F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>
              <a:spcAft>
                <a:spcPts val="900"/>
              </a:spcAft>
              <a:buNone/>
            </a:pPr>
            <a:r>
              <a:rPr sz="1250" b="0" i="1">
                <a:solidFill>
                  <a:srgbClr val="201F33"/>
                </a:solidFill>
                <a:latin typeface="Calibri"/>
              </a:rPr>
              <a:t>Sentence Starters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"The brief required [X]; the final design achieves this by..."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"This effectively meets the needs of [audience] because..."</a:t>
            </a:r>
          </a:p>
          <a:p>
            <a:pPr indent="-203200" marL="203200">
              <a:spcAft>
                <a:spcPts val="900"/>
              </a:spcAft>
              <a:buClr>
                <a:srgbClr val="C97B9E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1F33"/>
                </a:solidFill>
                <a:latin typeface="Calibri"/>
              </a:rPr>
              <a:t>"One limitation of the final design is..."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Evaluation &amp; Presentation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Refinement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Small, precise final adjustments.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D8334"/>
                </a:solidFill>
                <a:latin typeface="Calibri"/>
              </a:rPr>
              <a:t>Presentation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Accurate, rendered, professional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627E"/>
                </a:solidFill>
                <a:latin typeface="Calibri"/>
              </a:rPr>
              <a:t>Evaluation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Purpose, audience, constraints, obligatory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2213B"/>
                </a:solidFill>
                <a:latin typeface="Calibri"/>
              </a:rPr>
              <a:t>Folio Layout</a:t>
            </a:r>
          </a:p>
          <a:p>
            <a:r>
              <a:rPr sz="1050">
                <a:solidFill>
                  <a:srgbClr val="201F33"/>
                </a:solidFill>
                <a:latin typeface="Calibri"/>
              </a:rPr>
              <a:t>Clear sequence and consistent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9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D9A441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01F33"/>
                </a:solidFill>
                <a:latin typeface="Calibri"/>
              </a:rPr>
              <a:t> Reminder: a strong evaluation is </a:t>
            </a:r>
            <a:r>
              <a:rPr sz="1200" b="1" i="0">
                <a:solidFill>
                  <a:srgbClr val="B88B37"/>
                </a:solidFill>
                <a:latin typeface="Calibri"/>
              </a:rPr>
              <a:t>specific and balanced</a:t>
            </a:r>
            <a:r>
              <a:rPr sz="1200" b="0" i="0">
                <a:solidFill>
                  <a:srgbClr val="201F33"/>
                </a:solidFill>
                <a:latin typeface="Calibri"/>
              </a:rPr>
              <a:t> — not just "the design looks good."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4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BE9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BE9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AD8334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B88B37"/>
                </a:solidFill>
                <a:latin typeface="Cambria"/>
              </a:rPr>
              <a:t>Extended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Beyond the study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Materials and Manufacturing Processes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Common processes worth knowing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Injection moulding — mass production of plastic products via molten plastic injected into a mould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Offset vs digital printing — offset suits large runs at low unit cost; digital suits short runs and personalisation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Laser cutting — precise cutting/engraving of sheet materials, common in packaging prototyping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3D printing / additive manufacturing — building objects layer by layer from a digital model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Sustainable material choices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Recycled and recyclable substrates, biodegradable plastics, FSC-certified paper stock, and designing for minimal material use are all increasingly expected in professional practice and make for strong evaluation discussion points.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Advanced Rendering and Presentation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Manual rendering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Layering marker strokes from light to dark builds convincing tone and form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A consistent light source direction across a rendering keeps shading believable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Photorealistic vs stylised rendering — choose the approach that best suits the brief and audience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Digital rendering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Basic familiarity with digital mockup techniques (placing a design onto a photographed product/environment) can significantly lift the perceived professionalism of a final presentation.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Folio and Portfolio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Beyond the VCE folio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Presentation boards — large-format physical boards used for exhibitions and client pitches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Digital portfolios — platforms such as Behance or a personal website for showcasing work beyond school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Consistent visual presentation (typography, layout, colour) across folio pages signals professionalism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Evaluation Frameworks Beyond VCAA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Methods used in industry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Heuristic evaluation — assessing a design against established usability principles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A/B testing — comparing two versions of a design with real users to see which performs better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'I like / I wish / What if' — a simple, structured feedback framework for peer critique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Career Pathways in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Where VCD can lead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University pathways — Bachelor of Design/Communication Design/Industrial Design programs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TAFE and apprenticeship pathways into trades connected to design (signage, cabinetmaking, print)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Industry roles — graphic designer, UX/UI designer, industrial designer, exhibition designer, art director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Tertiary folio requirements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Many design degrees require a submitted folio as part of entry — the analytical and process-documentation habits built in VCE VCD directly prepare students for this.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Exam Preparation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Revising effectively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Revisit the command word glossary (identify, describe, explain, analyse, discuss, evaluate)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Practise full past exam papers under timed conditions, not just isolated questions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Review Unit 3 &amp; 4 key knowledge systematically rather than only re-reading notes passively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Time-box each exam question during practice so pacing becomes automatic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25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25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22213B"/>
                </a:solidFill>
                <a:latin typeface="Calibr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4233E"/>
                </a:solidFill>
                <a:latin typeface="Cambria"/>
              </a:rPr>
              <a:t>SAC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Draft — confirm against your school’s SAC schedule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Outcome 1 (AOS 1) — Development and Resolution of Designs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Task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Using the two concepts generated in Unit 3, further develop each through relevant trials (type, colour, material, layout) and feedback, then select and justify ONE concept to resolve into a presentation-ready final design.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Conditions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Completed over approximately 5-6 weeks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Folio submission (development pages and the resolved design)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Individual work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Assessment Criteria (/70)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Breadth and quality of development across both concepts — 25 marks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Use of feedback to refine ideas — 10 marks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Justification of the selected direction — 10 marks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Quality and accuracy of the resolved design — 20 marks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Folio documentation — 5 marks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1F33"/>
                </a:solidFill>
                <a:latin typeface="Cambria"/>
              </a:rPr>
              <a:t>Outcome 2 (AOS 2) — Evaluation, Refinement and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9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Task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Refine your resolved design to a professional presentation standard using appropriate methods. Write an evaluation of approximately 600-800 words assessing the final design against your original brief (purpose, audience, constraints, obligatory fields).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Conditions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Completed over approximately 3-4 weeks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Folio and written evaluation submission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Individual work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4233E"/>
                </a:solidFill>
                <a:latin typeface="Calibri"/>
              </a:rPr>
              <a:t>Assessment Criteria (/50)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Presentation standard: accuracy, rendering, craftsmanship — 20 marks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Quality and balance of the written evaluation — 20 marks</a:t>
            </a:r>
          </a:p>
          <a:p>
            <a:pPr indent="-203200" marL="203200">
              <a:spcAft>
                <a:spcPts val="900"/>
              </a:spcAft>
              <a:buClr>
                <a:srgbClr val="2B2A4A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1F33"/>
                </a:solidFill>
                <a:latin typeface="Calibri"/>
              </a:rPr>
              <a:t>Specific reference to brief criteria — 10 marks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E6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4114800"/>
            <a:ext cx="3108960" cy="3108960"/>
          </a:xfrm>
          <a:prstGeom prst="ellipse">
            <a:avLst/>
          </a:prstGeom>
          <a:solidFill>
            <a:srgbClr val="25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188720"/>
            <a:ext cx="2743200" cy="27432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20240" y="2286000"/>
            <a:ext cx="8321040" cy="23774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2B2A4A"/>
                </a:solidFill>
                <a:latin typeface="Cambria"/>
              </a:rPr>
              <a:t>End of Unit 4</a:t>
            </a:r>
          </a:p>
          <a:p>
            <a:pPr algn="ctr"/>
            <a:r>
              <a:rPr sz="1400">
                <a:solidFill>
                  <a:srgbClr val="595959"/>
                </a:solidFill>
              </a:rPr>
              <a:t>Review the matching workbook to consolidate what you have learnt.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