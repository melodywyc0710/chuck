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D4BF"/>
                </a:solidFill>
              </a:rPr>
              <a:t>VCAA-VCD-TREND1 · UNIT 2 AOS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Trends in Design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Visual Communication Design · Year 11 VCE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Use ← → arrow keys to navigate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D4BF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What is a Design Trend?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 design trend is a  </a:t>
            </a:r>
            <a:r>
              <a:rPr sz="1500" b="1">
                <a:solidFill>
                  <a:srgbClr val="2DD4BF"/>
                </a:solidFill>
              </a:rPr>
              <a:t>general direction </a:t>
            </a:r>
            <a:r>
              <a:rPr sz="1500" b="0">
                <a:solidFill>
                  <a:srgbClr val="FFFFFF"/>
                </a:solidFill>
              </a:rPr>
              <a:t> in which design styles, materials or ideas are developing at a particular time.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Trends emerge across  </a:t>
            </a:r>
            <a:r>
              <a:rPr sz="1500" b="1">
                <a:solidFill>
                  <a:srgbClr val="2DD4BF"/>
                </a:solidFill>
              </a:rPr>
              <a:t>all four design fields </a:t>
            </a:r>
            <a:r>
              <a:rPr sz="1500" b="0">
                <a:solidFill>
                  <a:srgbClr val="FFFFFF"/>
                </a:solidFill>
              </a:rPr>
              <a:t> — communication, environmental, industrial and interaction design — often at the same time, driven by shared cultural forces.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1">
                <a:solidFill>
                  <a:srgbClr val="2DD4BF"/>
                </a:solidFill>
              </a:rPr>
              <a:t>Trend vs Fad </a:t>
            </a:r>
            <a:r>
              <a:rPr sz="1500" b="0">
                <a:solidFill>
                  <a:srgbClr val="FFFFFF"/>
                </a:solidFill>
              </a:rPr>
              <a:t> — a trend develops over a longer period and reflects deeper shifts; a fad is short-lived and often stylistic only.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Why Study Trends?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Understand the  </a:t>
            </a:r>
            <a:r>
              <a:rPr sz="1400" b="1">
                <a:solidFill>
                  <a:srgbClr val="2DD4BF"/>
                </a:solidFill>
              </a:rPr>
              <a:t>context </a:t>
            </a:r>
            <a:r>
              <a:rPr sz="1400" b="0">
                <a:solidFill>
                  <a:srgbClr val="FFFFFF"/>
                </a:solidFill>
              </a:rPr>
              <a:t> a design was created in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Predict future  </a:t>
            </a:r>
            <a:r>
              <a:rPr sz="1400" b="1">
                <a:solidFill>
                  <a:srgbClr val="2DD4BF"/>
                </a:solidFill>
              </a:rPr>
              <a:t>audience expectations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Position your own folio work within current practice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Analyse  </a:t>
            </a:r>
            <a:r>
              <a:rPr sz="1400" b="1">
                <a:solidFill>
                  <a:srgbClr val="2DD4BF"/>
                </a:solidFill>
              </a:rPr>
              <a:t>why </a:t>
            </a:r>
            <a:r>
              <a:rPr sz="1400" b="0">
                <a:solidFill>
                  <a:srgbClr val="FFFFFF"/>
                </a:solidFill>
              </a:rPr>
              <a:t> a design looks the way it does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D4BF"/>
                </a:solidFill>
              </a:rPr>
              <a:t>KEY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Factors that Drive Trends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DD4BF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Trends don't appear from nowhere — they are shaped by broader forces acting on society. When analysing a trend, always link it back to one or more of these factors.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👥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🎭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💰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💻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🌱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1">
                <a:solidFill>
                  <a:srgbClr val="2DD4BF"/>
                </a:solidFill>
              </a:rPr>
              <a:t>Social </a:t>
            </a:r>
            <a:r>
              <a:rPr sz="1400" b="0">
                <a:solidFill>
                  <a:srgbClr val="FFFFFF"/>
                </a:solidFill>
              </a:rPr>
              <a:t> — changing lifestyles, values, demographics (e.g. remote work reshaping office design)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1">
                <a:solidFill>
                  <a:srgbClr val="2DD4BF"/>
                </a:solidFill>
              </a:rPr>
              <a:t>Cultural </a:t>
            </a:r>
            <a:r>
              <a:rPr sz="1400" b="0">
                <a:solidFill>
                  <a:srgbClr val="FFFFFF"/>
                </a:solidFill>
              </a:rPr>
              <a:t> — shifting attitudes, identity, heritage, globalisation of style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1">
                <a:solidFill>
                  <a:srgbClr val="2DD4BF"/>
                </a:solidFill>
              </a:rPr>
              <a:t>Economic </a:t>
            </a:r>
            <a:r>
              <a:rPr sz="1400" b="0">
                <a:solidFill>
                  <a:srgbClr val="FFFFFF"/>
                </a:solidFill>
              </a:rPr>
              <a:t> — cost of materials, market demand, recession vs growth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1">
                <a:solidFill>
                  <a:srgbClr val="2DD4BF"/>
                </a:solidFill>
              </a:rPr>
              <a:t>Technological </a:t>
            </a:r>
            <a:r>
              <a:rPr sz="1400" b="0">
                <a:solidFill>
                  <a:srgbClr val="FFFFFF"/>
                </a:solidFill>
              </a:rPr>
              <a:t> — new tools, materials and manufacturing methods (3D printing, AI, AR/VR)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1">
                <a:solidFill>
                  <a:srgbClr val="2DD4BF"/>
                </a:solidFill>
              </a:rPr>
              <a:t>Environmental </a:t>
            </a:r>
            <a:r>
              <a:rPr sz="1400" b="0">
                <a:solidFill>
                  <a:srgbClr val="FFFFFF"/>
                </a:solidFill>
              </a:rPr>
              <a:t> — sustainability pressures, climate concern, resource scarcity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D4BF"/>
                </a:solidFill>
              </a:rPr>
              <a:t>EXAMPLE TREND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Sustainability &amp; Eco-Design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 shift toward materials, processes and forms that minimise environmental impact — driven largely by  </a:t>
            </a:r>
            <a:r>
              <a:rPr sz="1500" b="1">
                <a:solidFill>
                  <a:srgbClr val="2DD4BF"/>
                </a:solidFill>
              </a:rPr>
              <a:t>environmental </a:t>
            </a:r>
            <a:r>
              <a:rPr sz="1500" b="0">
                <a:solidFill>
                  <a:srgbClr val="FFFFFF"/>
                </a:solidFill>
              </a:rPr>
              <a:t> and  </a:t>
            </a:r>
            <a:r>
              <a:rPr sz="1500" b="1">
                <a:solidFill>
                  <a:srgbClr val="2DD4BF"/>
                </a:solidFill>
              </a:rPr>
              <a:t>social </a:t>
            </a:r>
            <a:r>
              <a:rPr sz="1500" b="0">
                <a:solidFill>
                  <a:srgbClr val="FFFFFF"/>
                </a:solidFill>
              </a:rPr>
              <a:t> factors.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Across the 4 Fields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1">
                <a:solidFill>
                  <a:srgbClr val="2DD4BF"/>
                </a:solidFill>
              </a:rPr>
              <a:t>Communication </a:t>
            </a:r>
            <a:r>
              <a:rPr sz="1400" b="0">
                <a:solidFill>
                  <a:srgbClr val="FFFFFF"/>
                </a:solidFill>
              </a:rPr>
              <a:t> — recycled paper stock, reduced ink use, digital-first campaigns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1">
                <a:solidFill>
                  <a:srgbClr val="2DD4BF"/>
                </a:solidFill>
              </a:rPr>
              <a:t>Environmental </a:t>
            </a:r>
            <a:r>
              <a:rPr sz="1400" b="0">
                <a:solidFill>
                  <a:srgbClr val="FFFFFF"/>
                </a:solidFill>
              </a:rPr>
              <a:t> — passive solar buildings, green roofs, reclaimed materials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1">
                <a:solidFill>
                  <a:srgbClr val="2DD4BF"/>
                </a:solidFill>
              </a:rPr>
              <a:t>Industrial </a:t>
            </a:r>
            <a:r>
              <a:rPr sz="1400" b="0">
                <a:solidFill>
                  <a:srgbClr val="FFFFFF"/>
                </a:solidFill>
              </a:rPr>
              <a:t> — biodegradable packaging, modular/repairable products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1">
                <a:solidFill>
                  <a:srgbClr val="2DD4BF"/>
                </a:solidFill>
              </a:rPr>
              <a:t>Interaction </a:t>
            </a:r>
            <a:r>
              <a:rPr sz="1400" b="0">
                <a:solidFill>
                  <a:srgbClr val="FFFFFF"/>
                </a:solidFill>
              </a:rPr>
              <a:t> — dark-mode UI to reduce energy use, low-carbon web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D4BF"/>
                </a:solidFill>
              </a:rPr>
              <a:t>EXAMPLE TREND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Digital &amp; AI-Driven Design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The rise of AI tools, generative design and immersive technology — driven by  </a:t>
            </a:r>
            <a:r>
              <a:rPr sz="1500" b="1">
                <a:solidFill>
                  <a:srgbClr val="2DD4BF"/>
                </a:solidFill>
              </a:rPr>
              <a:t>technological </a:t>
            </a:r>
            <a:r>
              <a:rPr sz="1500" b="0">
                <a:solidFill>
                  <a:srgbClr val="FFFFFF"/>
                </a:solidFill>
              </a:rPr>
              <a:t> factors and shifting audience expectations.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Across the 4 Fields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1">
                <a:solidFill>
                  <a:srgbClr val="2DD4BF"/>
                </a:solidFill>
              </a:rPr>
              <a:t>Communication </a:t>
            </a:r>
            <a:r>
              <a:rPr sz="1400" b="0">
                <a:solidFill>
                  <a:srgbClr val="FFFFFF"/>
                </a:solidFill>
              </a:rPr>
              <a:t> — AI-generated imagery, motion graphics, personalised content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1">
                <a:solidFill>
                  <a:srgbClr val="2DD4BF"/>
                </a:solidFill>
              </a:rPr>
              <a:t>Environmental </a:t>
            </a:r>
            <a:r>
              <a:rPr sz="1400" b="0">
                <a:solidFill>
                  <a:srgbClr val="FFFFFF"/>
                </a:solidFill>
              </a:rPr>
              <a:t> — parametric/generative architectural forms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1">
                <a:solidFill>
                  <a:srgbClr val="2DD4BF"/>
                </a:solidFill>
              </a:rPr>
              <a:t>Industrial </a:t>
            </a:r>
            <a:r>
              <a:rPr sz="1400" b="0">
                <a:solidFill>
                  <a:srgbClr val="FFFFFF"/>
                </a:solidFill>
              </a:rPr>
              <a:t> — generative product design optimised by software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1">
                <a:solidFill>
                  <a:srgbClr val="2DD4BF"/>
                </a:solidFill>
              </a:rPr>
              <a:t>Interaction </a:t>
            </a:r>
            <a:r>
              <a:rPr sz="1400" b="0">
                <a:solidFill>
                  <a:srgbClr val="FFFFFF"/>
                </a:solidFill>
              </a:rPr>
              <a:t> — AR/VR interfaces, voice UI, adaptive apps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Analysis Tip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When discussing this trend in the exam, name the  </a:t>
            </a:r>
            <a:r>
              <a:rPr sz="1500" b="1">
                <a:solidFill>
                  <a:srgbClr val="2DD4BF"/>
                </a:solidFill>
              </a:rPr>
              <a:t>specific technology </a:t>
            </a:r>
            <a:r>
              <a:rPr sz="1500" b="0">
                <a:solidFill>
                  <a:srgbClr val="FFFFFF"/>
                </a:solidFill>
              </a:rPr>
              <a:t> (e.g. generative AI, parametric modelling) rather than saying "modern design" — vague language earns fewer marks.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D4BF"/>
                </a:solidFill>
              </a:rPr>
              <a:t>EXAMPLE TREND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Nostalgia &amp; Retro Revival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 return to visual styles from past decades — driven by  </a:t>
            </a:r>
            <a:r>
              <a:rPr sz="1500" b="1">
                <a:solidFill>
                  <a:srgbClr val="2DD4BF"/>
                </a:solidFill>
              </a:rPr>
              <a:t>cultural </a:t>
            </a:r>
            <a:r>
              <a:rPr sz="1500" b="0">
                <a:solidFill>
                  <a:srgbClr val="FFFFFF"/>
                </a:solidFill>
              </a:rPr>
              <a:t> and  </a:t>
            </a:r>
            <a:r>
              <a:rPr sz="1500" b="1">
                <a:solidFill>
                  <a:srgbClr val="2DD4BF"/>
                </a:solidFill>
              </a:rPr>
              <a:t>social </a:t>
            </a:r>
            <a:r>
              <a:rPr sz="1500" b="0">
                <a:solidFill>
                  <a:srgbClr val="FFFFFF"/>
                </a:solidFill>
              </a:rPr>
              <a:t> factors such as comfort-seeking during uncertain times.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Across the 4 Fields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1">
                <a:solidFill>
                  <a:srgbClr val="2DD4BF"/>
                </a:solidFill>
              </a:rPr>
              <a:t>Communication </a:t>
            </a:r>
            <a:r>
              <a:rPr sz="1400" b="0">
                <a:solidFill>
                  <a:srgbClr val="FFFFFF"/>
                </a:solidFill>
              </a:rPr>
              <a:t> — 90s/Y2K typography and colour palettes returning in branding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1">
                <a:solidFill>
                  <a:srgbClr val="2DD4BF"/>
                </a:solidFill>
              </a:rPr>
              <a:t>Environmental </a:t>
            </a:r>
            <a:r>
              <a:rPr sz="1400" b="0">
                <a:solidFill>
                  <a:srgbClr val="FFFFFF"/>
                </a:solidFill>
              </a:rPr>
              <a:t> — mid-century modern interiors revived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1">
                <a:solidFill>
                  <a:srgbClr val="2DD4BF"/>
                </a:solidFill>
              </a:rPr>
              <a:t>Industrial </a:t>
            </a:r>
            <a:r>
              <a:rPr sz="1400" b="0">
                <a:solidFill>
                  <a:srgbClr val="FFFFFF"/>
                </a:solidFill>
              </a:rPr>
              <a:t> — retro-styled appliances and vehicles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1">
                <a:solidFill>
                  <a:srgbClr val="2DD4BF"/>
                </a:solidFill>
              </a:rPr>
              <a:t>Interaction </a:t>
            </a:r>
            <a:r>
              <a:rPr sz="1400" b="0">
                <a:solidFill>
                  <a:srgbClr val="FFFFFF"/>
                </a:solidFill>
              </a:rPr>
              <a:t> — skeuomorphic UI elements referencing physical objects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Trend Cycles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Trends are often  </a:t>
            </a:r>
            <a:r>
              <a:rPr sz="1500" b="1">
                <a:solidFill>
                  <a:srgbClr val="2DD4BF"/>
                </a:solidFill>
              </a:rPr>
              <a:t>cyclical </a:t>
            </a:r>
            <a:r>
              <a:rPr sz="1500" b="0">
                <a:solidFill>
                  <a:srgbClr val="FFFFFF"/>
                </a:solidFill>
              </a:rPr>
              <a:t> — styles from 20–30 years ago frequently resurface, reinterpreted with current technology and values.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D4BF"/>
                </a:solidFill>
              </a:rPr>
              <a:t>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Analysing a Trend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Trend → Factor(s) → Field Examples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2DD4BF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1. Name the trend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2DD4BF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2. Identify the driving factor(s)</a:t>
            </a:r>
          </a:p>
          <a:p>
            <a:pPr lvl="3">
              <a:spcAft>
                <a:spcPts val="800"/>
              </a:spcAft>
            </a:pPr>
            <a:r>
              <a:rPr sz="1300">
                <a:solidFill>
                  <a:srgbClr val="2DD4BF"/>
                </a:solidFill>
              </a:rPr>
              <a:t>- </a:t>
            </a:r>
            <a:r>
              <a:rPr sz="1300" b="0">
                <a:solidFill>
                  <a:srgbClr val="FFFFFF"/>
                </a:solidFill>
              </a:rPr>
              <a:t>3. Give evidence from at least two design fields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1">
                <a:solidFill>
                  <a:srgbClr val="2DD4BF"/>
                </a:solidFill>
              </a:rPr>
              <a:t>Exam vocab: </a:t>
            </a:r>
            <a:r>
              <a:rPr sz="1500" b="0">
                <a:solidFill>
                  <a:srgbClr val="FFFFFF"/>
                </a:solidFill>
              </a:rPr>
              <a:t> emerging, established, resurgence, driven by, reflects, in response to, across fields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Sentence Starters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"This trend is driven primarily by [factor] because..."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"In communication design, this trend manifests as..."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"Compared to [past trend], this reflects a shift toward..."</a:t>
            </a:r>
          </a:p>
          <a:p>
            <a:pPr lvl="2">
              <a:spcAft>
                <a:spcPts val="800"/>
              </a:spcAft>
            </a:pPr>
            <a:r>
              <a:rPr sz="1400">
                <a:solidFill>
                  <a:srgbClr val="2DD4BF"/>
                </a:solidFill>
              </a:rPr>
              <a:t>– </a:t>
            </a:r>
            <a:r>
              <a:rPr sz="1400" b="0">
                <a:solidFill>
                  <a:srgbClr val="FFFFFF"/>
                </a:solidFill>
              </a:rPr>
              <a:t>"This trend is likely to continue/fade because..."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9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DD4BF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Trends in Design — Quick Reference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1106424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Social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Lifestyle &amp; demographic shifts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Cultural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Values, identity, heritage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Economic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Cost, demand, market conditions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Technological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New tools, materials, methods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Environmental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2DD4BF"/>
                </a:solidFill>
              </a:rPr>
              <a:t>‣ </a:t>
            </a:r>
            <a:r>
              <a:rPr sz="1500" b="0">
                <a:solidFill>
                  <a:srgbClr val="FFFFFF"/>
                </a:solidFill>
              </a:rPr>
              <a:t>Sustainability, resource pressure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DD4BF"/>
                </a:solidFill>
              </a:rPr>
              <a:t>● </a:t>
            </a:r>
            <a:r>
              <a:rPr sz="1600" b="0">
                <a:solidFill>
                  <a:srgbClr val="FFFFFF"/>
                </a:solidFill>
              </a:rPr>
              <a:t> 💡 Reminder: always link a trend to  </a:t>
            </a:r>
            <a:r>
              <a:rPr sz="1600" b="1">
                <a:solidFill>
                  <a:srgbClr val="2DD4BF"/>
                </a:solidFill>
              </a:rPr>
              <a:t>at least two design fields </a:t>
            </a:r>
            <a:r>
              <a:rPr sz="1600" b="0">
                <a:solidFill>
                  <a:srgbClr val="FFFFFF"/>
                </a:solidFill>
              </a:rPr>
              <a:t> and name the  </a:t>
            </a:r>
            <a:r>
              <a:rPr sz="1600" b="1">
                <a:solidFill>
                  <a:srgbClr val="2DD4BF"/>
                </a:solidFill>
              </a:rPr>
              <a:t>driving factor </a:t>
            </a:r>
            <a:r>
              <a:rPr sz="1600" b="0">
                <a:solidFill>
                  <a:srgbClr val="FFFFFF"/>
                </a:solidFill>
              </a:rPr>
              <a:t> in exam responses.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