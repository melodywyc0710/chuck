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923C"/>
                </a:solidFill>
              </a:rPr>
              <a:t>VCAA-VCD-PROC1 · UNIT 1 AOS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The Design Process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Visual Communication Design · Year 11 VCE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Use ← → arrow keys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923C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What is the Design Process?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design process is the  </a:t>
            </a:r>
            <a:r>
              <a:rPr sz="1500" b="1">
                <a:solidFill>
                  <a:srgbClr val="FB923C"/>
                </a:solidFill>
              </a:rPr>
              <a:t>sequence of stages </a:t>
            </a:r>
            <a:r>
              <a:rPr sz="1500" b="0">
                <a:solidFill>
                  <a:srgbClr val="FFFFFF"/>
                </a:solidFill>
              </a:rPr>
              <a:t> a designer moves through to take a problem from a client brief to a finished, resolved design.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It is not always linear — designers often loop back to earlier stages as ideas develop. But for study and folio purposes, it is broken into five key stages.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1">
                <a:solidFill>
                  <a:srgbClr val="FB923C"/>
                </a:solidFill>
              </a:rPr>
              <a:t>In your folio </a:t>
            </a:r>
            <a:r>
              <a:rPr sz="1500" b="0">
                <a:solidFill>
                  <a:srgbClr val="FFFFFF"/>
                </a:solidFill>
              </a:rPr>
              <a:t>, you must show visible evidence of thinking at every stage — not just a final picture.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5 Stages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1Research &amp; the Brief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2Generation of Ideas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3Development &amp; Refinement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4Presentation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5Evaluation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923C"/>
                </a:solidFill>
              </a:rPr>
              <a:t>STAGE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Research &amp; the Brief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Every design task starts with a  </a:t>
            </a:r>
            <a:r>
              <a:rPr sz="1500" b="1">
                <a:solidFill>
                  <a:srgbClr val="FB923C"/>
                </a:solidFill>
              </a:rPr>
              <a:t>design brief </a:t>
            </a:r>
            <a:r>
              <a:rPr sz="1500" b="0">
                <a:solidFill>
                  <a:srgbClr val="FFFFFF"/>
                </a:solidFill>
              </a:rPr>
              <a:t> — a written statement from the client outlining the problem, purpose and requirements. Before generating ideas, a designer researches the context around the brief.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The Brief Must Identify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923C"/>
                </a:solidFill>
              </a:rPr>
              <a:t>- </a:t>
            </a:r>
            <a:r>
              <a:rPr sz="1300" b="1">
                <a:solidFill>
                  <a:srgbClr val="FB923C"/>
                </a:solidFill>
              </a:rPr>
              <a:t>Client </a:t>
            </a:r>
            <a:r>
              <a:rPr sz="1300" b="0">
                <a:solidFill>
                  <a:srgbClr val="FFFFFF"/>
                </a:solidFill>
              </a:rPr>
              <a:t> — who is commissioning the design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923C"/>
                </a:solidFill>
              </a:rPr>
              <a:t>- </a:t>
            </a:r>
            <a:r>
              <a:rPr sz="1300" b="1">
                <a:solidFill>
                  <a:srgbClr val="FB923C"/>
                </a:solidFill>
              </a:rPr>
              <a:t>Target audience </a:t>
            </a:r>
            <a:r>
              <a:rPr sz="1300" b="0">
                <a:solidFill>
                  <a:srgbClr val="FFFFFF"/>
                </a:solidFill>
              </a:rPr>
              <a:t> — who will use/view it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923C"/>
                </a:solidFill>
              </a:rPr>
              <a:t>- </a:t>
            </a:r>
            <a:r>
              <a:rPr sz="1300" b="1">
                <a:solidFill>
                  <a:srgbClr val="FB923C"/>
                </a:solidFill>
              </a:rPr>
              <a:t>Purpose </a:t>
            </a:r>
            <a:r>
              <a:rPr sz="1300" b="0">
                <a:solidFill>
                  <a:srgbClr val="FFFFFF"/>
                </a:solidFill>
              </a:rPr>
              <a:t> — what the design needs to achieve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923C"/>
                </a:solidFill>
              </a:rPr>
              <a:t>- </a:t>
            </a:r>
            <a:r>
              <a:rPr sz="1300" b="1">
                <a:solidFill>
                  <a:srgbClr val="FB923C"/>
                </a:solidFill>
              </a:rPr>
              <a:t>Constraints </a:t>
            </a:r>
            <a:r>
              <a:rPr sz="1300" b="0">
                <a:solidFill>
                  <a:srgbClr val="FFFFFF"/>
                </a:solidFill>
              </a:rPr>
              <a:t> — budget, timeline, materials, size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1">
                <a:solidFill>
                  <a:srgbClr val="FB923C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brief, client, target audience, purpose, constraints, parameters, primary research, secondary research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Two Types of Research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Primary research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Information gathered first-hand — surveys, interviews, observation, site visits, photography.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Secondary research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Information gathered from existing sources — competitor designs, articles, market trends, mood 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923C"/>
                </a:solidFill>
              </a:rPr>
              <a:t>STAGE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Generation of Ideas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Once the brief is understood, the designer generates a wide range of possible solutions. Quantity over quality at this stage — the goal is to explore as many directions as possible.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Ideation Methods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1">
                <a:solidFill>
                  <a:srgbClr val="FB923C"/>
                </a:solidFill>
              </a:rPr>
              <a:t>Brainstorming </a:t>
            </a:r>
            <a:r>
              <a:rPr sz="1400" b="0">
                <a:solidFill>
                  <a:srgbClr val="FFFFFF"/>
                </a:solidFill>
              </a:rPr>
              <a:t> — free listing of words/concepts related to the brief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1">
                <a:solidFill>
                  <a:srgbClr val="FB923C"/>
                </a:solidFill>
              </a:rPr>
              <a:t>Mind mapping </a:t>
            </a:r>
            <a:r>
              <a:rPr sz="1400" b="0">
                <a:solidFill>
                  <a:srgbClr val="FFFFFF"/>
                </a:solidFill>
              </a:rPr>
              <a:t> — branching diagram connecting related ideas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1">
                <a:solidFill>
                  <a:srgbClr val="FB923C"/>
                </a:solidFill>
              </a:rPr>
              <a:t>Thumbnail sketches </a:t>
            </a:r>
            <a:r>
              <a:rPr sz="1400" b="0">
                <a:solidFill>
                  <a:srgbClr val="FFFFFF"/>
                </a:solidFill>
              </a:rPr>
              <a:t> — small, quick, rough drawings exploring layout/form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1">
                <a:solidFill>
                  <a:srgbClr val="FB923C"/>
                </a:solidFill>
              </a:rPr>
              <a:t>SCAMPER / lateral thinking </a:t>
            </a:r>
            <a:r>
              <a:rPr sz="1400" b="0">
                <a:solidFill>
                  <a:srgbClr val="FFFFFF"/>
                </a:solidFill>
              </a:rPr>
              <a:t> — Substitute, Combine, Adapt, Modify, Put to other use, Eliminate, Reverse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1">
                <a:solidFill>
                  <a:srgbClr val="FB923C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ideation, thumbnail sketches, brainstorm, mind map, divergent thinking, concept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923C"/>
                </a:solidFill>
              </a:rPr>
              <a:t>STAGE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Development &amp; Refinement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strongest ideas from generation are selected and developed further — testing them against the brief, adding detail, and refining elements and principles until the concept is resolved.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What Happens at This Stage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1">
                <a:solidFill>
                  <a:srgbClr val="FB923C"/>
                </a:solidFill>
              </a:rPr>
              <a:t>Annotated drawings </a:t>
            </a:r>
            <a:r>
              <a:rPr sz="1400" b="0">
                <a:solidFill>
                  <a:srgbClr val="FFFFFF"/>
                </a:solidFill>
              </a:rPr>
              <a:t> — sketches with written notes explaining decisions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1">
                <a:solidFill>
                  <a:srgbClr val="FB923C"/>
                </a:solidFill>
              </a:rPr>
              <a:t>Visualisation drawing </a:t>
            </a:r>
            <a:r>
              <a:rPr sz="1400" b="0">
                <a:solidFill>
                  <a:srgbClr val="FFFFFF"/>
                </a:solidFill>
              </a:rPr>
              <a:t> — freehand, tonal renders exploring colour/material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1">
                <a:solidFill>
                  <a:srgbClr val="FB923C"/>
                </a:solidFill>
              </a:rPr>
              <a:t>Testing against the brief </a:t>
            </a:r>
            <a:r>
              <a:rPr sz="1400" b="0">
                <a:solidFill>
                  <a:srgbClr val="FFFFFF"/>
                </a:solidFill>
              </a:rPr>
              <a:t> — does it meet the purpose and audience?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1">
                <a:solidFill>
                  <a:srgbClr val="FB923C"/>
                </a:solidFill>
              </a:rPr>
              <a:t>Feedback </a:t>
            </a:r>
            <a:r>
              <a:rPr sz="1400" b="0">
                <a:solidFill>
                  <a:srgbClr val="FFFFFF"/>
                </a:solidFill>
              </a:rPr>
              <a:t> — peer or client feedback shapes further refinement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1">
                <a:solidFill>
                  <a:srgbClr val="FB923C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refine, annotate, resolve, convergent thinking, iterate, visualisation drawing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1">
                <a:solidFill>
                  <a:srgbClr val="FB923C"/>
                </a:solidFill>
              </a:rPr>
              <a:t>Generation vs Development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923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Generation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923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Many ideas · rough · fast · divergent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923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Development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923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Fewer ideas · detailed · slower · convergent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923C"/>
                </a:solidFill>
              </a:rPr>
              <a:t>STAGE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Presentation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final, resolved design is communicated clearly and professionally using presentation (technical) drawing methods so a client or manufacturer can understand it exactly.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Presentation Drawing Methods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1">
                <a:solidFill>
                  <a:srgbClr val="FB923C"/>
                </a:solidFill>
              </a:rPr>
              <a:t>Orthogonal drawing </a:t>
            </a:r>
            <a:r>
              <a:rPr sz="1400" b="0">
                <a:solidFill>
                  <a:srgbClr val="FFFFFF"/>
                </a:solidFill>
              </a:rPr>
              <a:t> — accurate 2D views (plan, elevation)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1">
                <a:solidFill>
                  <a:srgbClr val="FB923C"/>
                </a:solidFill>
              </a:rPr>
              <a:t>Isometric drawing </a:t>
            </a:r>
            <a:r>
              <a:rPr sz="1400" b="0">
                <a:solidFill>
                  <a:srgbClr val="FFFFFF"/>
                </a:solidFill>
              </a:rPr>
              <a:t> — 3D at fixed 30° angles, no perspective distortion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1">
                <a:solidFill>
                  <a:srgbClr val="FB923C"/>
                </a:solidFill>
              </a:rPr>
              <a:t>1-point &amp; 2-point perspective </a:t>
            </a:r>
            <a:r>
              <a:rPr sz="1400" b="0">
                <a:solidFill>
                  <a:srgbClr val="FFFFFF"/>
                </a:solidFill>
              </a:rPr>
              <a:t> — realistic 3D with vanishing points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1">
                <a:solidFill>
                  <a:srgbClr val="FB923C"/>
                </a:solidFill>
              </a:rPr>
              <a:t>Digital rendering </a:t>
            </a:r>
            <a:r>
              <a:rPr sz="1400" b="0">
                <a:solidFill>
                  <a:srgbClr val="FFFFFF"/>
                </a:solidFill>
              </a:rPr>
              <a:t> — computer-generated final visuals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See the  </a:t>
            </a:r>
            <a:r>
              <a:rPr sz="1500" b="1">
                <a:solidFill>
                  <a:srgbClr val="FB923C"/>
                </a:solidFill>
              </a:rPr>
              <a:t>Technical Drawing handout </a:t>
            </a:r>
            <a:r>
              <a:rPr sz="1500" b="0">
                <a:solidFill>
                  <a:srgbClr val="FFFFFF"/>
                </a:solidFill>
              </a:rPr>
              <a:t> for detailed diagrams of each method.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Presentation vs Visualisation Drawing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1">
                <a:solidFill>
                  <a:srgbClr val="FB923C"/>
                </a:solidFill>
              </a:rPr>
              <a:t>Visualisation </a:t>
            </a:r>
            <a:r>
              <a:rPr sz="1500" b="0">
                <a:solidFill>
                  <a:srgbClr val="FFFFFF"/>
                </a:solidFill>
              </a:rPr>
              <a:t> — quick, freehand, used during the process to explore ideas.   </a:t>
            </a:r>
            <a:r>
              <a:rPr sz="1500" b="1">
                <a:solidFill>
                  <a:srgbClr val="FB923C"/>
                </a:solidFill>
              </a:rPr>
              <a:t>Presentation </a:t>
            </a:r>
            <a:r>
              <a:rPr sz="1500" b="0">
                <a:solidFill>
                  <a:srgbClr val="FFFFFF"/>
                </a:solidFill>
              </a:rPr>
              <a:t> — accurate, measured/rendered, used at the end to communicate the final design.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923C"/>
                </a:solidFill>
              </a:rPr>
              <a:t>STAGE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Evaluation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final design is assessed against the original brief to determine whether it successfully solves the design problem for its intended audience and purpose.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Questions to Ask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Does it meet the  </a:t>
            </a:r>
            <a:r>
              <a:rPr sz="1400" b="1">
                <a:solidFill>
                  <a:srgbClr val="FB923C"/>
                </a:solidFill>
              </a:rPr>
              <a:t>purpose </a:t>
            </a:r>
            <a:r>
              <a:rPr sz="1400" b="0">
                <a:solidFill>
                  <a:srgbClr val="FFFFFF"/>
                </a:solidFill>
              </a:rPr>
              <a:t> stated in the brief?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Is it appropriate for the  </a:t>
            </a:r>
            <a:r>
              <a:rPr sz="1400" b="1">
                <a:solidFill>
                  <a:srgbClr val="FB923C"/>
                </a:solidFill>
              </a:rPr>
              <a:t>target audience </a:t>
            </a:r>
            <a:r>
              <a:rPr sz="1400" b="0">
                <a:solidFill>
                  <a:srgbClr val="FFFFFF"/>
                </a:solidFill>
              </a:rPr>
              <a:t>?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Were the  </a:t>
            </a:r>
            <a:r>
              <a:rPr sz="1400" b="1">
                <a:solidFill>
                  <a:srgbClr val="FB923C"/>
                </a:solidFill>
              </a:rPr>
              <a:t>constraints </a:t>
            </a:r>
            <a:r>
              <a:rPr sz="1400" b="0">
                <a:solidFill>
                  <a:srgbClr val="FFFFFF"/>
                </a:solidFill>
              </a:rPr>
              <a:t> (budget, materials, size) respected?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What would you  </a:t>
            </a:r>
            <a:r>
              <a:rPr sz="1400" b="1">
                <a:solidFill>
                  <a:srgbClr val="FB923C"/>
                </a:solidFill>
              </a:rPr>
              <a:t>improve </a:t>
            </a:r>
            <a:r>
              <a:rPr sz="1400" b="0">
                <a:solidFill>
                  <a:srgbClr val="FFFFFF"/>
                </a:solidFill>
              </a:rPr>
              <a:t> if given more time?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1">
                <a:solidFill>
                  <a:srgbClr val="FB923C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evaluate, effective/ineffective, criteria, justify, refine further, meets the brief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1">
                <a:solidFill>
                  <a:srgbClr val="FB923C"/>
                </a:solidFill>
              </a:rPr>
              <a:t>The process is cyclical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Evaluation often leads back to further development or even new research — real design work loops back on itself rather than running in one straight 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923C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The Process as a Cycle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1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Research &amp; Brief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Understand the problem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2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Generation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Many rough ideas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3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Development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Refine &amp; test ideas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4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Presentation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Final resolved design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5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Evaluation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Assess against brief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923C"/>
                </a:solidFill>
              </a:rPr>
              <a:t>EXAM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Answering Design Process Questions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Stage → Purpose → Evidence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923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1. Name the stage of the process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923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2. Explain its purpose in that stage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923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3. Link to specific folio evidence (sketches, brief, feedback)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❌ Do NOT write: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"First I did research then I did some drawings."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✓ Write this instead: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"During the generation of ideas stage, thumbnail sketches were used to explore a wide range of layout options quickly, allowing divergent thinking before selecting a direction to develop further."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Sentence Starters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design brief specified..."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"During generation, [technique] was used to..."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idea was refined by..."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"Presentation drawing was used to communicate..."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923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"When evaluated against the brief, the design..."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923C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The Design Process — Quick Reference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1. Research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Brief, client, audience, primary + secondary research.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2. Generation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Brainstorm, mind map, thumbnails. Quantity over quality.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3. Development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Annotate, visualise, test against the brief.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4. Presentation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Orthogonal, isometric, perspective, final render.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5. Evaluation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923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Assess against brief, audience, purpose, constraints.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B923C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 💡 Reminder: the process is  </a:t>
            </a:r>
            <a:r>
              <a:rPr sz="1600" b="1">
                <a:solidFill>
                  <a:srgbClr val="FB923C"/>
                </a:solidFill>
              </a:rPr>
              <a:t>cyclical, not strictly linear </a:t>
            </a:r>
            <a:r>
              <a:rPr sz="1600" b="0">
                <a:solidFill>
                  <a:srgbClr val="FFFFFF"/>
                </a:solidFill>
              </a:rPr>
              <a:t> — evaluation can send you back to any earlier stage.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